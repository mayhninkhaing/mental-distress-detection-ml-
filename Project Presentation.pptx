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54" r:id="rId1"/>
  </p:sldMasterIdLst>
  <p:notesMasterIdLst>
    <p:notesMasterId r:id="rId16"/>
  </p:notesMasterIdLst>
  <p:sldIdLst>
    <p:sldId id="256" r:id="rId2"/>
    <p:sldId id="294" r:id="rId3"/>
    <p:sldId id="259" r:id="rId4"/>
    <p:sldId id="302" r:id="rId5"/>
    <p:sldId id="276" r:id="rId6"/>
    <p:sldId id="303" r:id="rId7"/>
    <p:sldId id="296" r:id="rId8"/>
    <p:sldId id="299" r:id="rId9"/>
    <p:sldId id="304" r:id="rId10"/>
    <p:sldId id="262" r:id="rId11"/>
    <p:sldId id="263" r:id="rId12"/>
    <p:sldId id="257" r:id="rId13"/>
    <p:sldId id="265" r:id="rId14"/>
    <p:sldId id="305" r:id="rId15"/>
  </p:sldIdLst>
  <p:sldSz cx="9144000" cy="5143500" type="screen16x9"/>
  <p:notesSz cx="51435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854" autoAdjust="0"/>
    <p:restoredTop sz="94610"/>
  </p:normalViewPr>
  <p:slideViewPr>
    <p:cSldViewPr snapToGrid="0" snapToObjects="1">
      <p:cViewPr varScale="1">
        <p:scale>
          <a:sx n="96" d="100"/>
          <a:sy n="96" d="100"/>
        </p:scale>
        <p:origin x="256"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20508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B9E2CA0-DC48-407E-BDF6-3F347A97AB70}" type="datetimeFigureOut">
              <a:rPr lang="en-US" smtClean="0"/>
              <a:t>7/24/2026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F27AE9-7224-4B73-911E-1194244E505A}" type="slidenum">
              <a:rPr lang="en-US" smtClean="0"/>
              <a:t>‹#›</a:t>
            </a:fld>
            <a:endParaRPr lang="en-US"/>
          </a:p>
        </p:txBody>
      </p:sp>
    </p:spTree>
    <p:extLst>
      <p:ext uri="{BB962C8B-B14F-4D97-AF65-F5344CB8AC3E}">
        <p14:creationId xmlns:p14="http://schemas.microsoft.com/office/powerpoint/2010/main" val="1104441856"/>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B9E2CA0-DC48-407E-BDF6-3F347A97AB70}" type="datetimeFigureOut">
              <a:rPr lang="en-US" smtClean="0"/>
              <a:t>7/24/2026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F27AE9-7224-4B73-911E-1194244E505A}" type="slidenum">
              <a:rPr lang="en-US" smtClean="0"/>
              <a:t>‹#›</a:t>
            </a:fld>
            <a:endParaRPr lang="en-US"/>
          </a:p>
        </p:txBody>
      </p:sp>
    </p:spTree>
    <p:extLst>
      <p:ext uri="{BB962C8B-B14F-4D97-AF65-F5344CB8AC3E}">
        <p14:creationId xmlns:p14="http://schemas.microsoft.com/office/powerpoint/2010/main" val="2190509056"/>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B9E2CA0-DC48-407E-BDF6-3F347A97AB70}" type="datetimeFigureOut">
              <a:rPr lang="en-US" smtClean="0"/>
              <a:t>7/24/2026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F27AE9-7224-4B73-911E-1194244E505A}" type="slidenum">
              <a:rPr lang="en-US" smtClean="0"/>
              <a:t>‹#›</a:t>
            </a:fld>
            <a:endParaRPr lang="en-US"/>
          </a:p>
        </p:txBody>
      </p:sp>
    </p:spTree>
    <p:extLst>
      <p:ext uri="{BB962C8B-B14F-4D97-AF65-F5344CB8AC3E}">
        <p14:creationId xmlns:p14="http://schemas.microsoft.com/office/powerpoint/2010/main" val="264194773"/>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B9E2CA0-DC48-407E-BDF6-3F347A97AB70}" type="datetimeFigureOut">
              <a:rPr lang="en-US" smtClean="0"/>
              <a:t>7/24/2026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FF27AE9-7224-4B73-911E-1194244E505A}" type="slidenum">
              <a:rPr lang="en-US" smtClean="0"/>
              <a:t>‹#›</a:t>
            </a:fld>
            <a:endParaRPr lang="en-US"/>
          </a:p>
        </p:txBody>
      </p:sp>
    </p:spTree>
    <p:extLst>
      <p:ext uri="{BB962C8B-B14F-4D97-AF65-F5344CB8AC3E}">
        <p14:creationId xmlns:p14="http://schemas.microsoft.com/office/powerpoint/2010/main" val="2339843736"/>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B9E2CA0-DC48-407E-BDF6-3F347A97AB70}" type="datetimeFigureOut">
              <a:rPr lang="en-US" smtClean="0"/>
              <a:t>7/24/2026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FF27AE9-7224-4B73-911E-1194244E505A}" type="slidenum">
              <a:rPr lang="en-US" smtClean="0"/>
              <a:t>‹#›</a:t>
            </a:fld>
            <a:endParaRPr lang="en-US"/>
          </a:p>
        </p:txBody>
      </p:sp>
    </p:spTree>
    <p:extLst>
      <p:ext uri="{BB962C8B-B14F-4D97-AF65-F5344CB8AC3E}">
        <p14:creationId xmlns:p14="http://schemas.microsoft.com/office/powerpoint/2010/main" val="3612685229"/>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B9E2CA0-DC48-407E-BDF6-3F347A97AB70}" type="datetimeFigureOut">
              <a:rPr lang="en-US" smtClean="0"/>
              <a:t>7/24/2026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FF27AE9-7224-4B73-911E-1194244E505A}" type="slidenum">
              <a:rPr lang="en-US" smtClean="0"/>
              <a:t>‹#›</a:t>
            </a:fld>
            <a:endParaRPr lang="en-US"/>
          </a:p>
        </p:txBody>
      </p:sp>
    </p:spTree>
    <p:extLst>
      <p:ext uri="{BB962C8B-B14F-4D97-AF65-F5344CB8AC3E}">
        <p14:creationId xmlns:p14="http://schemas.microsoft.com/office/powerpoint/2010/main" val="1379106599"/>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B9E2CA0-DC48-407E-BDF6-3F347A97AB70}" type="datetimeFigureOut">
              <a:rPr lang="en-US" smtClean="0"/>
              <a:t>7/24/2026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FF27AE9-7224-4B73-911E-1194244E505A}" type="slidenum">
              <a:rPr lang="en-US" smtClean="0"/>
              <a:t>‹#›</a:t>
            </a:fld>
            <a:endParaRPr lang="en-US"/>
          </a:p>
        </p:txBody>
      </p:sp>
    </p:spTree>
    <p:extLst>
      <p:ext uri="{BB962C8B-B14F-4D97-AF65-F5344CB8AC3E}">
        <p14:creationId xmlns:p14="http://schemas.microsoft.com/office/powerpoint/2010/main" val="1572702771"/>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B9E2CA0-DC48-407E-BDF6-3F347A97AB70}" type="datetimeFigureOut">
              <a:rPr lang="en-US" smtClean="0"/>
              <a:t>7/24/2026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FF27AE9-7224-4B73-911E-1194244E505A}" type="slidenum">
              <a:rPr lang="en-US" smtClean="0"/>
              <a:t>‹#›</a:t>
            </a:fld>
            <a:endParaRPr lang="en-US"/>
          </a:p>
        </p:txBody>
      </p:sp>
    </p:spTree>
    <p:extLst>
      <p:ext uri="{BB962C8B-B14F-4D97-AF65-F5344CB8AC3E}">
        <p14:creationId xmlns:p14="http://schemas.microsoft.com/office/powerpoint/2010/main" val="2342690177"/>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740569"/>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B9E2CA0-DC48-407E-BDF6-3F347A97AB70}" type="datetimeFigureOut">
              <a:rPr lang="en-US" smtClean="0"/>
              <a:t>7/24/2026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FF27AE9-7224-4B73-911E-1194244E505A}" type="slidenum">
              <a:rPr lang="en-US" smtClean="0"/>
              <a:t>‹#›</a:t>
            </a:fld>
            <a:endParaRPr lang="en-US"/>
          </a:p>
        </p:txBody>
      </p:sp>
    </p:spTree>
    <p:extLst>
      <p:ext uri="{BB962C8B-B14F-4D97-AF65-F5344CB8AC3E}">
        <p14:creationId xmlns:p14="http://schemas.microsoft.com/office/powerpoint/2010/main" val="1483990308"/>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B9E2CA0-DC48-407E-BDF6-3F347A97AB70}" type="datetimeFigureOut">
              <a:rPr lang="en-US" smtClean="0"/>
              <a:t>7/24/2026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F27AE9-7224-4B73-911E-1194244E505A}" type="slidenum">
              <a:rPr lang="en-US" smtClean="0"/>
              <a:t>‹#›</a:t>
            </a:fld>
            <a:endParaRPr lang="en-US"/>
          </a:p>
        </p:txBody>
      </p:sp>
    </p:spTree>
    <p:extLst>
      <p:ext uri="{BB962C8B-B14F-4D97-AF65-F5344CB8AC3E}">
        <p14:creationId xmlns:p14="http://schemas.microsoft.com/office/powerpoint/2010/main" val="3813262847"/>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B9E2CA0-DC48-407E-BDF6-3F347A97AB70}" type="datetimeFigureOut">
              <a:rPr lang="en-US" smtClean="0"/>
              <a:t>7/24/2026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F27AE9-7224-4B73-911E-1194244E505A}" type="slidenum">
              <a:rPr lang="en-US" smtClean="0"/>
              <a:t>‹#›</a:t>
            </a:fld>
            <a:endParaRPr lang="en-US"/>
          </a:p>
        </p:txBody>
      </p:sp>
    </p:spTree>
    <p:extLst>
      <p:ext uri="{BB962C8B-B14F-4D97-AF65-F5344CB8AC3E}">
        <p14:creationId xmlns:p14="http://schemas.microsoft.com/office/powerpoint/2010/main" val="1210100698"/>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spTree>
      <p:nvGrpSpPr>
        <p:cNvPr id="1" name=""/>
        <p:cNvGrpSpPr/>
        <p:nvPr/>
      </p:nvGrpSpPr>
      <p:grpSpPr>
        <a:xfrm>
          <a:off x="0" y="0"/>
          <a:ext cx="0" cy="0"/>
          <a:chOff x="0" y="0"/>
          <a:chExt cx="0" cy="0"/>
        </a:xfrm>
      </p:grpSpPr>
    </p:spTree>
    <p:extLst>
      <p:ext uri="{BB962C8B-B14F-4D97-AF65-F5344CB8AC3E}">
        <p14:creationId xmlns:p14="http://schemas.microsoft.com/office/powerpoint/2010/main" val="36156672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BB9E2CA0-DC48-407E-BDF6-3F347A97AB70}" type="datetimeFigureOut">
              <a:rPr lang="en-US" smtClean="0"/>
              <a:t>7/24/2026</a:t>
            </a:fld>
            <a:endParaRPr lang="en-US"/>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FFF27AE9-7224-4B73-911E-1194244E505A}" type="slidenum">
              <a:rPr lang="en-US" smtClean="0"/>
              <a:t>‹#›</a:t>
            </a:fld>
            <a:endParaRPr lang="en-US"/>
          </a:p>
        </p:txBody>
      </p:sp>
    </p:spTree>
    <p:extLst>
      <p:ext uri="{BB962C8B-B14F-4D97-AF65-F5344CB8AC3E}">
        <p14:creationId xmlns:p14="http://schemas.microsoft.com/office/powerpoint/2010/main" val="794723562"/>
      </p:ext>
    </p:extLst>
  </p:cSld>
  <p:clrMap bg1="lt1" tx1="dk1" bg2="lt2" tx2="dk2" accent1="accent1" accent2="accent2" accent3="accent3" accent4="accent4" accent5="accent5" accent6="accent6" hlink="hlink" folHlink="folHlink"/>
  <p:sldLayoutIdLst>
    <p:sldLayoutId id="2147483755" r:id="rId1"/>
    <p:sldLayoutId id="2147483756" r:id="rId2"/>
    <p:sldLayoutId id="2147483757" r:id="rId3"/>
    <p:sldLayoutId id="2147483758" r:id="rId4"/>
    <p:sldLayoutId id="2147483759" r:id="rId5"/>
    <p:sldLayoutId id="2147483760" r:id="rId6"/>
    <p:sldLayoutId id="2147483761" r:id="rId7"/>
    <p:sldLayoutId id="2147483762" r:id="rId8"/>
    <p:sldLayoutId id="2147483763" r:id="rId9"/>
    <p:sldLayoutId id="2147483764" r:id="rId10"/>
    <p:sldLayoutId id="2147483765" r:id="rId11"/>
    <p:sldLayoutId id="2147483766" r:id="rId12"/>
  </p:sldLayoutIdLst>
  <p:hf sldNum="0"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2.png"/><Relationship Id="rId7"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image" Target="../media/image15.png"/><Relationship Id="rId11" Type="http://schemas.openxmlformats.org/officeDocument/2006/relationships/image" Target="../media/image19.svg"/><Relationship Id="rId5" Type="http://schemas.openxmlformats.org/officeDocument/2006/relationships/image" Target="../media/image14.png"/><Relationship Id="rId10" Type="http://schemas.openxmlformats.org/officeDocument/2006/relationships/image" Target="../media/image18.png"/><Relationship Id="rId4" Type="http://schemas.openxmlformats.org/officeDocument/2006/relationships/image" Target="../media/image13.png"/><Relationship Id="rId9" Type="http://schemas.openxmlformats.org/officeDocument/2006/relationships/image" Target="../media/image1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chemeClr val="accent4">
            <a:lumMod val="50000"/>
          </a:schemeClr>
        </a:solidFill>
        <a:effectLst/>
      </p:bgPr>
    </p:bg>
    <p:spTree>
      <p:nvGrpSpPr>
        <p:cNvPr id="1" name=""/>
        <p:cNvGrpSpPr/>
        <p:nvPr/>
      </p:nvGrpSpPr>
      <p:grpSpPr>
        <a:xfrm>
          <a:off x="0" y="0"/>
          <a:ext cx="0" cy="0"/>
          <a:chOff x="0" y="0"/>
          <a:chExt cx="0" cy="0"/>
        </a:xfrm>
      </p:grpSpPr>
      <p:sp>
        <p:nvSpPr>
          <p:cNvPr id="3" name="Text 1"/>
          <p:cNvSpPr/>
          <p:nvPr/>
        </p:nvSpPr>
        <p:spPr>
          <a:xfrm>
            <a:off x="457200" y="274320"/>
            <a:ext cx="8229600" cy="365760"/>
          </a:xfrm>
          <a:prstGeom prst="rect">
            <a:avLst/>
          </a:prstGeom>
          <a:noFill/>
          <a:ln/>
        </p:spPr>
        <p:txBody>
          <a:bodyPr wrap="square" rtlCol="0" anchor="ctr"/>
          <a:lstStyle/>
          <a:p>
            <a:pPr marL="0" indent="0" algn="ctr">
              <a:buNone/>
            </a:pPr>
            <a:r>
              <a:rPr lang="en-US" sz="1100" dirty="0">
                <a:solidFill>
                  <a:srgbClr val="7EB3D8"/>
                </a:solidFill>
                <a:latin typeface="Calibri" pitchFamily="34" charset="0"/>
                <a:ea typeface="Calibri" pitchFamily="34" charset="-122"/>
                <a:cs typeface="Calibri" pitchFamily="34" charset="-120"/>
              </a:rPr>
              <a:t>Dublin Business School — HDip in Data Analytics</a:t>
            </a:r>
            <a:endParaRPr lang="en-US" sz="1100" dirty="0"/>
          </a:p>
        </p:txBody>
      </p:sp>
      <p:sp>
        <p:nvSpPr>
          <p:cNvPr id="4" name="Text 2"/>
          <p:cNvSpPr/>
          <p:nvPr/>
        </p:nvSpPr>
        <p:spPr>
          <a:xfrm>
            <a:off x="457200" y="1005840"/>
            <a:ext cx="8229600" cy="914400"/>
          </a:xfrm>
          <a:prstGeom prst="rect">
            <a:avLst/>
          </a:prstGeom>
          <a:noFill/>
          <a:ln/>
        </p:spPr>
        <p:txBody>
          <a:bodyPr wrap="square" rtlCol="0" anchor="ctr"/>
          <a:lstStyle/>
          <a:p>
            <a:pPr algn="ctr"/>
            <a:r>
              <a:rPr lang="en-US" sz="2600" b="1" dirty="0">
                <a:solidFill>
                  <a:srgbClr val="7EB3D8"/>
                </a:solidFill>
                <a:latin typeface="Cambria" pitchFamily="34" charset="0"/>
                <a:ea typeface="Cambria" pitchFamily="34" charset="-122"/>
              </a:rPr>
              <a:t>Detecting Mental Distress in Social Media Posts</a:t>
            </a:r>
          </a:p>
        </p:txBody>
      </p:sp>
      <p:sp>
        <p:nvSpPr>
          <p:cNvPr id="5" name="Text 3"/>
          <p:cNvSpPr/>
          <p:nvPr/>
        </p:nvSpPr>
        <p:spPr>
          <a:xfrm>
            <a:off x="548640" y="1813941"/>
            <a:ext cx="8229600" cy="640080"/>
          </a:xfrm>
          <a:prstGeom prst="rect">
            <a:avLst/>
          </a:prstGeom>
          <a:noFill/>
          <a:ln/>
        </p:spPr>
        <p:txBody>
          <a:bodyPr wrap="square" rtlCol="0" anchor="ctr"/>
          <a:lstStyle/>
          <a:p>
            <a:pPr marL="0" indent="0" algn="ctr">
              <a:buNone/>
            </a:pPr>
            <a:r>
              <a:rPr lang="en-US" sz="2600" b="1" dirty="0">
                <a:solidFill>
                  <a:srgbClr val="7EB3D8"/>
                </a:solidFill>
                <a:latin typeface="Cambria" pitchFamily="34" charset="0"/>
                <a:ea typeface="Cambria" pitchFamily="34" charset="-122"/>
                <a:cs typeface="Cambria" pitchFamily="34" charset="-120"/>
              </a:rPr>
              <a:t>Using Machine Learning</a:t>
            </a:r>
            <a:endParaRPr lang="en-US" sz="2600" dirty="0"/>
          </a:p>
        </p:txBody>
      </p:sp>
      <p:sp>
        <p:nvSpPr>
          <p:cNvPr id="6" name="Shape 4"/>
          <p:cNvSpPr/>
          <p:nvPr/>
        </p:nvSpPr>
        <p:spPr>
          <a:xfrm>
            <a:off x="3200400" y="2538603"/>
            <a:ext cx="2743200" cy="45720"/>
          </a:xfrm>
          <a:prstGeom prst="rect">
            <a:avLst/>
          </a:prstGeom>
          <a:solidFill>
            <a:srgbClr val="028090"/>
          </a:solidFill>
          <a:ln w="12700">
            <a:solidFill>
              <a:srgbClr val="028090"/>
            </a:solidFill>
            <a:prstDash val="solid"/>
          </a:ln>
        </p:spPr>
        <p:txBody>
          <a:bodyPr/>
          <a:lstStyle/>
          <a:p>
            <a:endParaRPr lang="en-US"/>
          </a:p>
        </p:txBody>
      </p:sp>
      <p:sp>
        <p:nvSpPr>
          <p:cNvPr id="17" name="Text 15"/>
          <p:cNvSpPr/>
          <p:nvPr/>
        </p:nvSpPr>
        <p:spPr>
          <a:xfrm>
            <a:off x="457200" y="4480560"/>
            <a:ext cx="8229600" cy="365760"/>
          </a:xfrm>
          <a:prstGeom prst="rect">
            <a:avLst/>
          </a:prstGeom>
          <a:noFill/>
          <a:ln/>
        </p:spPr>
        <p:txBody>
          <a:bodyPr wrap="square" rtlCol="0" anchor="ctr"/>
          <a:lstStyle/>
          <a:p>
            <a:pPr marL="0" indent="0" algn="ctr">
              <a:buNone/>
            </a:pPr>
            <a:r>
              <a:rPr lang="en-US" sz="1100" dirty="0">
                <a:solidFill>
                  <a:srgbClr val="7EB3D8"/>
                </a:solidFill>
                <a:latin typeface="Calibri" pitchFamily="34" charset="0"/>
                <a:ea typeface="Calibri" pitchFamily="34" charset="-122"/>
                <a:cs typeface="Calibri" pitchFamily="34" charset="-120"/>
              </a:rPr>
              <a:t>Final Project  |  Supervisor: Nitya Govindaraju  |  July 2026</a:t>
            </a:r>
            <a:endParaRPr lang="en-US" sz="1100" dirty="0"/>
          </a:p>
        </p:txBody>
      </p:sp>
      <p:sp>
        <p:nvSpPr>
          <p:cNvPr id="18" name="Shape 16"/>
          <p:cNvSpPr/>
          <p:nvPr/>
        </p:nvSpPr>
        <p:spPr>
          <a:xfrm>
            <a:off x="0" y="5061204"/>
            <a:ext cx="9144000" cy="82296"/>
          </a:xfrm>
          <a:prstGeom prst="rect">
            <a:avLst/>
          </a:prstGeom>
          <a:solidFill>
            <a:srgbClr val="028090"/>
          </a:solidFill>
          <a:ln w="12700">
            <a:solidFill>
              <a:srgbClr val="028090"/>
            </a:solidFill>
            <a:prstDash val="solid"/>
          </a:ln>
        </p:spPr>
        <p:txBody>
          <a:bodyPr/>
          <a:lstStyle/>
          <a:p>
            <a:endParaRPr lang="en-US"/>
          </a:p>
        </p:txBody>
      </p:sp>
      <p:sp>
        <p:nvSpPr>
          <p:cNvPr id="19" name="Text 15">
            <a:extLst>
              <a:ext uri="{FF2B5EF4-FFF2-40B4-BE49-F238E27FC236}">
                <a16:creationId xmlns:a16="http://schemas.microsoft.com/office/drawing/2014/main" id="{6B5CF6E4-74C2-E270-D4FB-43AB0AD3671E}"/>
              </a:ext>
            </a:extLst>
          </p:cNvPr>
          <p:cNvSpPr/>
          <p:nvPr/>
        </p:nvSpPr>
        <p:spPr>
          <a:xfrm>
            <a:off x="457200" y="3627882"/>
            <a:ext cx="8229600" cy="365760"/>
          </a:xfrm>
          <a:prstGeom prst="rect">
            <a:avLst/>
          </a:prstGeom>
          <a:noFill/>
          <a:ln/>
        </p:spPr>
        <p:txBody>
          <a:bodyPr wrap="square" rtlCol="0" anchor="ctr"/>
          <a:lstStyle/>
          <a:p>
            <a:pPr algn="ctr"/>
            <a:r>
              <a:rPr lang="en-US" sz="1100" dirty="0">
                <a:solidFill>
                  <a:srgbClr val="7EB3D8"/>
                </a:solidFill>
                <a:latin typeface="Calibri" pitchFamily="34" charset="0"/>
                <a:ea typeface="Calibri" pitchFamily="34" charset="-122"/>
                <a:cs typeface="Calibri" pitchFamily="34" charset="-120"/>
              </a:rPr>
              <a:t>Presented By:</a:t>
            </a:r>
          </a:p>
          <a:p>
            <a:pPr algn="ctr"/>
            <a:r>
              <a:rPr lang="en-US" sz="1100" dirty="0">
                <a:solidFill>
                  <a:srgbClr val="7EB3D8"/>
                </a:solidFill>
                <a:latin typeface="Calibri" pitchFamily="34" charset="0"/>
                <a:ea typeface="Calibri" pitchFamily="34" charset="-122"/>
                <a:cs typeface="Calibri" pitchFamily="34" charset="-120"/>
              </a:rPr>
              <a:t>Student Name: May Hnin Khaing</a:t>
            </a:r>
          </a:p>
          <a:p>
            <a:pPr algn="ctr"/>
            <a:r>
              <a:rPr lang="en-US" sz="1100" dirty="0">
                <a:solidFill>
                  <a:srgbClr val="7EB3D8"/>
                </a:solidFill>
                <a:latin typeface="Calibri" pitchFamily="34" charset="0"/>
                <a:ea typeface="Calibri" pitchFamily="34" charset="-122"/>
                <a:cs typeface="Calibri" pitchFamily="34" charset="-120"/>
              </a:rPr>
              <a:t>Student Number: 20083323</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926580" y="-1097280"/>
            <a:ext cx="3154680" cy="3154680"/>
          </a:xfrm>
          <a:prstGeom prst="ellipse">
            <a:avLst/>
          </a:prstGeom>
          <a:solidFill>
            <a:srgbClr val="E4F1F3"/>
          </a:solidFill>
          <a:ln/>
        </p:spPr>
      </p:sp>
      <p:sp>
        <p:nvSpPr>
          <p:cNvPr id="3" name="Shape 1"/>
          <p:cNvSpPr/>
          <p:nvPr/>
        </p:nvSpPr>
        <p:spPr>
          <a:xfrm>
            <a:off x="0" y="0"/>
            <a:ext cx="9121140" cy="109728"/>
          </a:xfrm>
          <a:prstGeom prst="rect">
            <a:avLst/>
          </a:prstGeom>
          <a:solidFill>
            <a:srgbClr val="1A7A8A"/>
          </a:solidFill>
          <a:ln/>
        </p:spPr>
      </p:sp>
      <p:sp>
        <p:nvSpPr>
          <p:cNvPr id="4" name="Shape 2"/>
          <p:cNvSpPr/>
          <p:nvPr/>
        </p:nvSpPr>
        <p:spPr>
          <a:xfrm>
            <a:off x="0" y="5033772"/>
            <a:ext cx="9121140" cy="109728"/>
          </a:xfrm>
          <a:prstGeom prst="rect">
            <a:avLst/>
          </a:prstGeom>
          <a:solidFill>
            <a:srgbClr val="1A7A8A"/>
          </a:solidFill>
          <a:ln/>
        </p:spPr>
      </p:sp>
      <p:sp>
        <p:nvSpPr>
          <p:cNvPr id="5" name="Text 3"/>
          <p:cNvSpPr/>
          <p:nvPr/>
        </p:nvSpPr>
        <p:spPr>
          <a:xfrm>
            <a:off x="480060" y="342900"/>
            <a:ext cx="5486400" cy="617220"/>
          </a:xfrm>
          <a:prstGeom prst="rect">
            <a:avLst/>
          </a:prstGeom>
          <a:noFill/>
          <a:ln/>
        </p:spPr>
        <p:txBody>
          <a:bodyPr wrap="square" lIns="0" tIns="0" rIns="0" bIns="0" rtlCol="0" anchor="ctr"/>
          <a:lstStyle/>
          <a:p>
            <a:r>
              <a:rPr lang="en-US" sz="3000" b="1" dirty="0">
                <a:solidFill>
                  <a:srgbClr val="1B3A5C"/>
                </a:solidFill>
                <a:latin typeface="Cambria" pitchFamily="34" charset="0"/>
                <a:ea typeface="Cambria" pitchFamily="34" charset="-122"/>
                <a:cs typeface="Cambria" pitchFamily="34" charset="-120"/>
              </a:rPr>
              <a:t>Introduction</a:t>
            </a:r>
            <a:endParaRPr lang="en-US" sz="3000" dirty="0"/>
          </a:p>
        </p:txBody>
      </p:sp>
      <p:sp>
        <p:nvSpPr>
          <p:cNvPr id="6" name="Text 4"/>
          <p:cNvSpPr/>
          <p:nvPr/>
        </p:nvSpPr>
        <p:spPr>
          <a:xfrm>
            <a:off x="480060" y="877824"/>
            <a:ext cx="6858000" cy="274320"/>
          </a:xfrm>
          <a:prstGeom prst="rect">
            <a:avLst/>
          </a:prstGeom>
          <a:noFill/>
          <a:ln/>
        </p:spPr>
        <p:txBody>
          <a:bodyPr wrap="square" lIns="0" tIns="0" rIns="0" bIns="0" rtlCol="0" anchor="ctr"/>
          <a:lstStyle/>
          <a:p>
            <a:r>
              <a:rPr lang="en-US" sz="1600" i="1" dirty="0">
                <a:solidFill>
                  <a:srgbClr val="5C6B77"/>
                </a:solidFill>
                <a:latin typeface="Calibri" pitchFamily="34" charset="0"/>
                <a:ea typeface="Calibri" pitchFamily="34" charset="-122"/>
                <a:cs typeface="Calibri" pitchFamily="34" charset="-120"/>
              </a:rPr>
              <a:t>Why detecting mental distress in social media text matters</a:t>
            </a:r>
            <a:endParaRPr lang="en-US" sz="1600" dirty="0"/>
          </a:p>
        </p:txBody>
      </p:sp>
      <p:sp>
        <p:nvSpPr>
          <p:cNvPr id="7" name="Shape 5"/>
          <p:cNvSpPr/>
          <p:nvPr/>
        </p:nvSpPr>
        <p:spPr>
          <a:xfrm>
            <a:off x="480060" y="1337310"/>
            <a:ext cx="493776" cy="493776"/>
          </a:xfrm>
          <a:prstGeom prst="ellipse">
            <a:avLst/>
          </a:prstGeom>
          <a:solidFill>
            <a:srgbClr val="E4F1F3"/>
          </a:solidFill>
          <a:ln/>
        </p:spPr>
      </p:sp>
      <p:pic>
        <p:nvPicPr>
          <p:cNvPr id="8" name="Image 0" descr="preencoded.png"/>
          <p:cNvPicPr>
            <a:picLocks noChangeAspect="1"/>
          </p:cNvPicPr>
          <p:nvPr/>
        </p:nvPicPr>
        <p:blipFill>
          <a:blip r:embed="rId3"/>
          <a:stretch>
            <a:fillRect/>
          </a:stretch>
        </p:blipFill>
        <p:spPr>
          <a:xfrm>
            <a:off x="555498" y="1412748"/>
            <a:ext cx="342900" cy="342900"/>
          </a:xfrm>
          <a:prstGeom prst="rect">
            <a:avLst/>
          </a:prstGeom>
        </p:spPr>
      </p:pic>
      <p:sp>
        <p:nvSpPr>
          <p:cNvPr id="9" name="Text 6"/>
          <p:cNvSpPr/>
          <p:nvPr/>
        </p:nvSpPr>
        <p:spPr>
          <a:xfrm>
            <a:off x="1179576" y="1303020"/>
            <a:ext cx="7475220" cy="192024"/>
          </a:xfrm>
          <a:prstGeom prst="rect">
            <a:avLst/>
          </a:prstGeom>
          <a:noFill/>
          <a:ln/>
        </p:spPr>
        <p:txBody>
          <a:bodyPr wrap="square" lIns="0" tIns="0" rIns="0" bIns="0" rtlCol="0" anchor="ctr"/>
          <a:lstStyle/>
          <a:p>
            <a:r>
              <a:rPr lang="en-US" sz="1200" b="1" kern="0" spc="75" dirty="0">
                <a:solidFill>
                  <a:srgbClr val="1A7A8A"/>
                </a:solidFill>
                <a:latin typeface="Calibri" pitchFamily="34" charset="0"/>
                <a:ea typeface="Calibri" pitchFamily="34" charset="-122"/>
                <a:cs typeface="Calibri" pitchFamily="34" charset="-120"/>
              </a:rPr>
              <a:t>Social signals</a:t>
            </a:r>
            <a:endParaRPr lang="en-US" sz="1200" dirty="0"/>
          </a:p>
        </p:txBody>
      </p:sp>
      <p:sp>
        <p:nvSpPr>
          <p:cNvPr id="10" name="Text 7"/>
          <p:cNvSpPr/>
          <p:nvPr/>
        </p:nvSpPr>
        <p:spPr>
          <a:xfrm>
            <a:off x="1179576" y="1474470"/>
            <a:ext cx="7475220" cy="514350"/>
          </a:xfrm>
          <a:prstGeom prst="rect">
            <a:avLst/>
          </a:prstGeom>
          <a:noFill/>
          <a:ln/>
        </p:spPr>
        <p:txBody>
          <a:bodyPr wrap="square" lIns="0" tIns="0" rIns="0" bIns="0" rtlCol="0" anchor="t"/>
          <a:lstStyle/>
          <a:p>
            <a:pPr>
              <a:lnSpc>
                <a:spcPct val="112000"/>
              </a:lnSpc>
            </a:pPr>
            <a:r>
              <a:rPr lang="en-US" sz="1125" dirty="0">
                <a:solidFill>
                  <a:srgbClr val="2A2A2A"/>
                </a:solidFill>
                <a:latin typeface="Cambria" pitchFamily="34" charset="0"/>
                <a:ea typeface="Cambria" pitchFamily="34" charset="-122"/>
                <a:cs typeface="Cambria" pitchFamily="34" charset="-120"/>
              </a:rPr>
              <a:t>Social media posts often reflect individuals’ emotional states and can contain early indicators of psychological distress. Many people express signs of anxiety, depression, and emotional struggles online before seeking professional support.</a:t>
            </a:r>
            <a:endParaRPr lang="en-US" sz="1125" dirty="0"/>
          </a:p>
          <a:p>
            <a:pPr>
              <a:lnSpc>
                <a:spcPct val="112000"/>
              </a:lnSpc>
            </a:pPr>
            <a:endParaRPr lang="en-US" sz="1125" dirty="0"/>
          </a:p>
        </p:txBody>
      </p:sp>
      <p:sp>
        <p:nvSpPr>
          <p:cNvPr id="14" name="Text 10"/>
          <p:cNvSpPr/>
          <p:nvPr/>
        </p:nvSpPr>
        <p:spPr>
          <a:xfrm>
            <a:off x="1179576" y="2270220"/>
            <a:ext cx="7475220" cy="514350"/>
          </a:xfrm>
          <a:prstGeom prst="rect">
            <a:avLst/>
          </a:prstGeom>
          <a:noFill/>
          <a:ln/>
        </p:spPr>
        <p:txBody>
          <a:bodyPr wrap="square" lIns="0" tIns="0" rIns="0" bIns="0" rtlCol="0" anchor="t"/>
          <a:lstStyle/>
          <a:p>
            <a:pPr>
              <a:lnSpc>
                <a:spcPct val="112000"/>
              </a:lnSpc>
            </a:pPr>
            <a:endParaRPr lang="en-US" sz="1125" dirty="0"/>
          </a:p>
        </p:txBody>
      </p:sp>
      <p:sp>
        <p:nvSpPr>
          <p:cNvPr id="15" name="Shape 11"/>
          <p:cNvSpPr/>
          <p:nvPr/>
        </p:nvSpPr>
        <p:spPr>
          <a:xfrm>
            <a:off x="480060" y="2083165"/>
            <a:ext cx="493776" cy="493776"/>
          </a:xfrm>
          <a:prstGeom prst="ellipse">
            <a:avLst/>
          </a:prstGeom>
          <a:solidFill>
            <a:srgbClr val="E4F1F3"/>
          </a:solidFill>
          <a:ln/>
        </p:spPr>
      </p:sp>
      <p:pic>
        <p:nvPicPr>
          <p:cNvPr id="16" name="Image 2" descr="preencoded.png"/>
          <p:cNvPicPr>
            <a:picLocks noChangeAspect="1"/>
          </p:cNvPicPr>
          <p:nvPr/>
        </p:nvPicPr>
        <p:blipFill>
          <a:blip r:embed="rId4"/>
          <a:stretch>
            <a:fillRect/>
          </a:stretch>
        </p:blipFill>
        <p:spPr>
          <a:xfrm>
            <a:off x="555498" y="2158603"/>
            <a:ext cx="342900" cy="342900"/>
          </a:xfrm>
          <a:prstGeom prst="rect">
            <a:avLst/>
          </a:prstGeom>
        </p:spPr>
      </p:pic>
      <p:sp>
        <p:nvSpPr>
          <p:cNvPr id="17" name="Text 12"/>
          <p:cNvSpPr/>
          <p:nvPr/>
        </p:nvSpPr>
        <p:spPr>
          <a:xfrm>
            <a:off x="1179576" y="2048875"/>
            <a:ext cx="7475220" cy="192024"/>
          </a:xfrm>
          <a:prstGeom prst="rect">
            <a:avLst/>
          </a:prstGeom>
          <a:noFill/>
          <a:ln/>
        </p:spPr>
        <p:txBody>
          <a:bodyPr wrap="square" lIns="0" tIns="0" rIns="0" bIns="0" rtlCol="0" anchor="ctr"/>
          <a:lstStyle/>
          <a:p>
            <a:r>
              <a:rPr lang="en-US" sz="1200" b="1" kern="0" spc="75" dirty="0">
                <a:solidFill>
                  <a:srgbClr val="1A7A8A"/>
                </a:solidFill>
                <a:latin typeface="Calibri" pitchFamily="34" charset="0"/>
                <a:ea typeface="Calibri" pitchFamily="34" charset="-122"/>
                <a:cs typeface="Calibri" pitchFamily="34" charset="-120"/>
              </a:rPr>
              <a:t>Pandemic context</a:t>
            </a:r>
            <a:endParaRPr lang="en-US" sz="1200" dirty="0"/>
          </a:p>
        </p:txBody>
      </p:sp>
      <p:sp>
        <p:nvSpPr>
          <p:cNvPr id="18" name="Text 13"/>
          <p:cNvSpPr/>
          <p:nvPr/>
        </p:nvSpPr>
        <p:spPr>
          <a:xfrm>
            <a:off x="1179576" y="2220325"/>
            <a:ext cx="7475220" cy="514350"/>
          </a:xfrm>
          <a:prstGeom prst="rect">
            <a:avLst/>
          </a:prstGeom>
          <a:noFill/>
          <a:ln/>
        </p:spPr>
        <p:txBody>
          <a:bodyPr wrap="square" lIns="0" tIns="0" rIns="0" bIns="0" rtlCol="0" anchor="t"/>
          <a:lstStyle/>
          <a:p>
            <a:pPr>
              <a:lnSpc>
                <a:spcPct val="112000"/>
              </a:lnSpc>
            </a:pPr>
            <a:r>
              <a:rPr lang="en-US" sz="1125" dirty="0">
                <a:solidFill>
                  <a:srgbClr val="2A2A2A"/>
                </a:solidFill>
                <a:latin typeface="Cambria" pitchFamily="34" charset="0"/>
                <a:ea typeface="Cambria" pitchFamily="34" charset="-122"/>
                <a:cs typeface="Cambria" pitchFamily="34" charset="-120"/>
              </a:rPr>
              <a:t>The COVID-19 pandemic increased global mental health challenges, with the </a:t>
            </a:r>
            <a:r>
              <a:rPr lang="en-US" sz="1125" b="1" dirty="0">
                <a:solidFill>
                  <a:srgbClr val="2A2A2A"/>
                </a:solidFill>
                <a:latin typeface="Cambria" pitchFamily="34" charset="0"/>
                <a:ea typeface="Cambria" pitchFamily="34" charset="-122"/>
                <a:cs typeface="Cambria" pitchFamily="34" charset="-120"/>
              </a:rPr>
              <a:t>World Health Organization (WHO, 2022)</a:t>
            </a:r>
            <a:r>
              <a:rPr lang="en-US" sz="1125" dirty="0">
                <a:solidFill>
                  <a:srgbClr val="2A2A2A"/>
                </a:solidFill>
                <a:latin typeface="Cambria" pitchFamily="34" charset="0"/>
                <a:ea typeface="Cambria" pitchFamily="34" charset="-122"/>
                <a:cs typeface="Cambria" pitchFamily="34" charset="-120"/>
              </a:rPr>
              <a:t> reporting a significant rise in anxiety and depression worldwide.</a:t>
            </a:r>
            <a:endParaRPr lang="en-US" sz="1125" dirty="0"/>
          </a:p>
        </p:txBody>
      </p:sp>
      <p:sp>
        <p:nvSpPr>
          <p:cNvPr id="19" name="Shape 14"/>
          <p:cNvSpPr/>
          <p:nvPr/>
        </p:nvSpPr>
        <p:spPr>
          <a:xfrm>
            <a:off x="480060" y="2940793"/>
            <a:ext cx="493776" cy="493776"/>
          </a:xfrm>
          <a:prstGeom prst="ellipse">
            <a:avLst/>
          </a:prstGeom>
          <a:solidFill>
            <a:srgbClr val="E4F1F3"/>
          </a:solidFill>
          <a:ln/>
        </p:spPr>
      </p:sp>
      <p:pic>
        <p:nvPicPr>
          <p:cNvPr id="20" name="Image 3" descr="preencoded.png"/>
          <p:cNvPicPr>
            <a:picLocks noChangeAspect="1"/>
          </p:cNvPicPr>
          <p:nvPr/>
        </p:nvPicPr>
        <p:blipFill>
          <a:blip r:embed="rId5"/>
          <a:stretch>
            <a:fillRect/>
          </a:stretch>
        </p:blipFill>
        <p:spPr>
          <a:xfrm>
            <a:off x="555498" y="3016231"/>
            <a:ext cx="342900" cy="342900"/>
          </a:xfrm>
          <a:prstGeom prst="rect">
            <a:avLst/>
          </a:prstGeom>
        </p:spPr>
      </p:pic>
      <p:sp>
        <p:nvSpPr>
          <p:cNvPr id="21" name="Text 15"/>
          <p:cNvSpPr/>
          <p:nvPr/>
        </p:nvSpPr>
        <p:spPr>
          <a:xfrm>
            <a:off x="1179576" y="2906503"/>
            <a:ext cx="7475220" cy="192024"/>
          </a:xfrm>
          <a:prstGeom prst="rect">
            <a:avLst/>
          </a:prstGeom>
          <a:noFill/>
          <a:ln/>
        </p:spPr>
        <p:txBody>
          <a:bodyPr wrap="square" lIns="0" tIns="0" rIns="0" bIns="0" rtlCol="0" anchor="ctr"/>
          <a:lstStyle/>
          <a:p>
            <a:r>
              <a:rPr lang="en-US" sz="1200" b="1" kern="0" spc="75" dirty="0">
                <a:solidFill>
                  <a:srgbClr val="1A7A8A"/>
                </a:solidFill>
                <a:latin typeface="Calibri" pitchFamily="34" charset="0"/>
                <a:ea typeface="Calibri" pitchFamily="34" charset="-122"/>
                <a:cs typeface="Calibri" pitchFamily="34" charset="-120"/>
              </a:rPr>
              <a:t>ML approach</a:t>
            </a:r>
            <a:endParaRPr lang="en-US" sz="1200" dirty="0"/>
          </a:p>
        </p:txBody>
      </p:sp>
      <p:sp>
        <p:nvSpPr>
          <p:cNvPr id="22" name="Text 16"/>
          <p:cNvSpPr/>
          <p:nvPr/>
        </p:nvSpPr>
        <p:spPr>
          <a:xfrm>
            <a:off x="1179576" y="3077953"/>
            <a:ext cx="7475220" cy="514350"/>
          </a:xfrm>
          <a:prstGeom prst="rect">
            <a:avLst/>
          </a:prstGeom>
          <a:noFill/>
          <a:ln/>
        </p:spPr>
        <p:txBody>
          <a:bodyPr wrap="square" lIns="0" tIns="0" rIns="0" bIns="0" rtlCol="0" anchor="t"/>
          <a:lstStyle/>
          <a:p>
            <a:pPr>
              <a:lnSpc>
                <a:spcPct val="112000"/>
              </a:lnSpc>
            </a:pPr>
            <a:r>
              <a:rPr lang="en-US" sz="1125" dirty="0">
                <a:solidFill>
                  <a:srgbClr val="2A2A2A"/>
                </a:solidFill>
                <a:latin typeface="Cambria" pitchFamily="34" charset="0"/>
                <a:ea typeface="Cambria" pitchFamily="34" charset="-122"/>
                <a:cs typeface="Cambria" pitchFamily="34" charset="-120"/>
              </a:rPr>
              <a:t>This project explores whether </a:t>
            </a:r>
            <a:r>
              <a:rPr lang="en-US" sz="1125" b="1" dirty="0">
                <a:solidFill>
                  <a:srgbClr val="2A2A2A"/>
                </a:solidFill>
                <a:latin typeface="Cambria" pitchFamily="34" charset="0"/>
                <a:ea typeface="Cambria" pitchFamily="34" charset="-122"/>
                <a:cs typeface="Cambria" pitchFamily="34" charset="-120"/>
              </a:rPr>
              <a:t>machine learning-based text classification</a:t>
            </a:r>
            <a:r>
              <a:rPr lang="en-US" sz="1125" dirty="0">
                <a:solidFill>
                  <a:srgbClr val="2A2A2A"/>
                </a:solidFill>
                <a:latin typeface="Cambria" pitchFamily="34" charset="0"/>
                <a:ea typeface="Cambria" pitchFamily="34" charset="-122"/>
                <a:cs typeface="Cambria" pitchFamily="34" charset="-120"/>
              </a:rPr>
              <a:t> can identify patterns of mental distress in social media posts.</a:t>
            </a:r>
            <a:endParaRPr lang="en-US" sz="1125" dirty="0"/>
          </a:p>
        </p:txBody>
      </p:sp>
      <p:sp>
        <p:nvSpPr>
          <p:cNvPr id="23" name="Shape 17"/>
          <p:cNvSpPr/>
          <p:nvPr/>
        </p:nvSpPr>
        <p:spPr>
          <a:xfrm>
            <a:off x="480060" y="3819048"/>
            <a:ext cx="493776" cy="493776"/>
          </a:xfrm>
          <a:prstGeom prst="ellipse">
            <a:avLst/>
          </a:prstGeom>
          <a:solidFill>
            <a:srgbClr val="E4F1F3"/>
          </a:solidFill>
          <a:ln/>
        </p:spPr>
      </p:sp>
      <p:pic>
        <p:nvPicPr>
          <p:cNvPr id="24" name="Image 4" descr="preencoded.png"/>
          <p:cNvPicPr>
            <a:picLocks noChangeAspect="1"/>
          </p:cNvPicPr>
          <p:nvPr/>
        </p:nvPicPr>
        <p:blipFill>
          <a:blip r:embed="rId6"/>
          <a:stretch>
            <a:fillRect/>
          </a:stretch>
        </p:blipFill>
        <p:spPr>
          <a:xfrm>
            <a:off x="555498" y="3894486"/>
            <a:ext cx="342900" cy="342900"/>
          </a:xfrm>
          <a:prstGeom prst="rect">
            <a:avLst/>
          </a:prstGeom>
        </p:spPr>
      </p:pic>
      <p:sp>
        <p:nvSpPr>
          <p:cNvPr id="25" name="Text 18"/>
          <p:cNvSpPr/>
          <p:nvPr/>
        </p:nvSpPr>
        <p:spPr>
          <a:xfrm>
            <a:off x="1179576" y="3805383"/>
            <a:ext cx="7475220" cy="192024"/>
          </a:xfrm>
          <a:prstGeom prst="rect">
            <a:avLst/>
          </a:prstGeom>
          <a:noFill/>
          <a:ln/>
        </p:spPr>
        <p:txBody>
          <a:bodyPr wrap="square" lIns="0" tIns="0" rIns="0" bIns="0" rtlCol="0" anchor="ctr"/>
          <a:lstStyle/>
          <a:p>
            <a:r>
              <a:rPr lang="en-US" sz="1200" b="1" kern="0" spc="75" dirty="0">
                <a:solidFill>
                  <a:srgbClr val="1A7A8A"/>
                </a:solidFill>
                <a:latin typeface="Calibri" pitchFamily="34" charset="0"/>
                <a:ea typeface="Calibri" pitchFamily="34" charset="-122"/>
                <a:cs typeface="Calibri" pitchFamily="34" charset="-120"/>
              </a:rPr>
              <a:t>Project aim</a:t>
            </a:r>
            <a:endParaRPr lang="en-US" sz="1200" dirty="0"/>
          </a:p>
        </p:txBody>
      </p:sp>
      <p:sp>
        <p:nvSpPr>
          <p:cNvPr id="26" name="Text 19"/>
          <p:cNvSpPr/>
          <p:nvPr/>
        </p:nvSpPr>
        <p:spPr>
          <a:xfrm>
            <a:off x="1179576" y="3997458"/>
            <a:ext cx="7475220" cy="514350"/>
          </a:xfrm>
          <a:prstGeom prst="rect">
            <a:avLst/>
          </a:prstGeom>
          <a:noFill/>
          <a:ln/>
        </p:spPr>
        <p:txBody>
          <a:bodyPr wrap="square" lIns="0" tIns="0" rIns="0" bIns="0" rtlCol="0" anchor="t"/>
          <a:lstStyle/>
          <a:p>
            <a:pPr>
              <a:lnSpc>
                <a:spcPct val="112000"/>
              </a:lnSpc>
            </a:pPr>
            <a:r>
              <a:rPr lang="en-US" sz="1125" dirty="0">
                <a:solidFill>
                  <a:srgbClr val="2A2A2A"/>
                </a:solidFill>
                <a:latin typeface="Cambria" pitchFamily="34" charset="0"/>
                <a:ea typeface="Cambria" pitchFamily="34" charset="-122"/>
                <a:cs typeface="Cambria" pitchFamily="34" charset="-120"/>
              </a:rPr>
              <a:t>The aim is to support </a:t>
            </a:r>
            <a:r>
              <a:rPr lang="en-US" sz="1125" b="1" dirty="0">
                <a:solidFill>
                  <a:srgbClr val="2A2A2A"/>
                </a:solidFill>
                <a:latin typeface="Cambria" pitchFamily="34" charset="0"/>
                <a:ea typeface="Cambria" pitchFamily="34" charset="-122"/>
                <a:cs typeface="Cambria" pitchFamily="34" charset="-120"/>
              </a:rPr>
              <a:t>early awareness, monitoring, and potential intervention</a:t>
            </a:r>
            <a:r>
              <a:rPr lang="en-US" sz="1125" dirty="0">
                <a:solidFill>
                  <a:srgbClr val="2A2A2A"/>
                </a:solidFill>
                <a:latin typeface="Cambria" pitchFamily="34" charset="0"/>
                <a:ea typeface="Cambria" pitchFamily="34" charset="-122"/>
                <a:cs typeface="Cambria" pitchFamily="34" charset="-120"/>
              </a:rPr>
              <a:t> through automated text analysis.</a:t>
            </a:r>
            <a:endParaRPr lang="en-US" sz="112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8090"/>
          </a:solidFill>
          <a:ln w="12700">
            <a:solidFill>
              <a:srgbClr val="028090"/>
            </a:solidFill>
            <a:prstDash val="solid"/>
          </a:ln>
        </p:spPr>
        <p:txBody>
          <a:bodyPr/>
          <a:lstStyle/>
          <a:p>
            <a:endParaRPr lang="en-US"/>
          </a:p>
        </p:txBody>
      </p:sp>
      <p:sp>
        <p:nvSpPr>
          <p:cNvPr id="3" name="Text 1"/>
          <p:cNvSpPr/>
          <p:nvPr/>
        </p:nvSpPr>
        <p:spPr>
          <a:xfrm>
            <a:off x="457200" y="182880"/>
            <a:ext cx="8229600" cy="548640"/>
          </a:xfrm>
          <a:prstGeom prst="rect">
            <a:avLst/>
          </a:prstGeom>
          <a:noFill/>
          <a:ln/>
        </p:spPr>
        <p:txBody>
          <a:bodyPr wrap="square" rtlCol="0" anchor="ctr"/>
          <a:lstStyle/>
          <a:p>
            <a:pPr marL="0" indent="0">
              <a:buNone/>
            </a:pPr>
            <a:r>
              <a:rPr lang="en-US" sz="2600" b="1" dirty="0">
                <a:solidFill>
                  <a:srgbClr val="1B2A4A"/>
                </a:solidFill>
                <a:latin typeface="Cambria" pitchFamily="34" charset="0"/>
                <a:ea typeface="Cambria" pitchFamily="34" charset="-122"/>
                <a:cs typeface="Cambria" pitchFamily="34" charset="-120"/>
              </a:rPr>
              <a:t>Literature Review</a:t>
            </a:r>
            <a:endParaRPr lang="en-US" sz="2600" dirty="0"/>
          </a:p>
        </p:txBody>
      </p:sp>
      <p:sp>
        <p:nvSpPr>
          <p:cNvPr id="4" name="Shape 2"/>
          <p:cNvSpPr/>
          <p:nvPr/>
        </p:nvSpPr>
        <p:spPr>
          <a:xfrm>
            <a:off x="0" y="5061204"/>
            <a:ext cx="9144000" cy="82296"/>
          </a:xfrm>
          <a:prstGeom prst="rect">
            <a:avLst/>
          </a:prstGeom>
          <a:solidFill>
            <a:srgbClr val="028090"/>
          </a:solidFill>
          <a:ln w="12700">
            <a:solidFill>
              <a:srgbClr val="028090"/>
            </a:solidFill>
            <a:prstDash val="solid"/>
          </a:ln>
        </p:spPr>
        <p:txBody>
          <a:bodyPr/>
          <a:lstStyle/>
          <a:p>
            <a:endParaRPr lang="en-US"/>
          </a:p>
        </p:txBody>
      </p:sp>
      <p:sp>
        <p:nvSpPr>
          <p:cNvPr id="5" name="Shape 3"/>
          <p:cNvSpPr/>
          <p:nvPr/>
        </p:nvSpPr>
        <p:spPr>
          <a:xfrm>
            <a:off x="365760" y="868680"/>
            <a:ext cx="2651760" cy="1783080"/>
          </a:xfrm>
          <a:prstGeom prst="roundRect">
            <a:avLst>
              <a:gd name="adj" fmla="val 5128"/>
            </a:avLst>
          </a:prstGeom>
          <a:solidFill>
            <a:srgbClr val="FFFFFF"/>
          </a:solidFill>
          <a:ln w="12700">
            <a:solidFill>
              <a:srgbClr val="E2E8F0"/>
            </a:solidFill>
            <a:prstDash val="solid"/>
          </a:ln>
          <a:effectLst>
            <a:outerShdw blurRad="101600" dist="25400" dir="2700000" algn="bl" rotWithShape="0">
              <a:srgbClr val="000000">
                <a:alpha val="10000"/>
              </a:srgbClr>
            </a:outerShdw>
          </a:effectLst>
        </p:spPr>
        <p:txBody>
          <a:bodyPr/>
          <a:lstStyle/>
          <a:p>
            <a:endParaRPr lang="en-US"/>
          </a:p>
        </p:txBody>
      </p:sp>
      <p:sp>
        <p:nvSpPr>
          <p:cNvPr id="6" name="Shape 4"/>
          <p:cNvSpPr/>
          <p:nvPr/>
        </p:nvSpPr>
        <p:spPr>
          <a:xfrm>
            <a:off x="365760" y="868680"/>
            <a:ext cx="2651760" cy="347472"/>
          </a:xfrm>
          <a:prstGeom prst="roundRect">
            <a:avLst>
              <a:gd name="adj" fmla="val 26316"/>
            </a:avLst>
          </a:prstGeom>
          <a:solidFill>
            <a:srgbClr val="7EB3D8"/>
          </a:solidFill>
          <a:ln w="12700">
            <a:solidFill>
              <a:srgbClr val="7EB3D8"/>
            </a:solidFill>
            <a:prstDash val="solid"/>
          </a:ln>
        </p:spPr>
        <p:txBody>
          <a:bodyPr/>
          <a:lstStyle/>
          <a:p>
            <a:endParaRPr lang="en-US"/>
          </a:p>
        </p:txBody>
      </p:sp>
      <p:sp>
        <p:nvSpPr>
          <p:cNvPr id="7" name="Text 5"/>
          <p:cNvSpPr/>
          <p:nvPr/>
        </p:nvSpPr>
        <p:spPr>
          <a:xfrm>
            <a:off x="411480" y="868680"/>
            <a:ext cx="2560320"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CRISP-DM</a:t>
            </a:r>
            <a:endParaRPr lang="en-US" sz="1100" dirty="0"/>
          </a:p>
        </p:txBody>
      </p:sp>
      <p:sp>
        <p:nvSpPr>
          <p:cNvPr id="8" name="Text 6"/>
          <p:cNvSpPr/>
          <p:nvPr/>
        </p:nvSpPr>
        <p:spPr>
          <a:xfrm>
            <a:off x="457200" y="1280160"/>
            <a:ext cx="2468880" cy="1280160"/>
          </a:xfrm>
          <a:prstGeom prst="rect">
            <a:avLst/>
          </a:prstGeom>
          <a:noFill/>
          <a:ln/>
        </p:spPr>
        <p:txBody>
          <a:bodyPr wrap="square" rtlCol="0" anchor="t"/>
          <a:lstStyle/>
          <a:p>
            <a:pPr marL="0" indent="0">
              <a:buNone/>
            </a:pPr>
            <a:r>
              <a:rPr lang="en-US" sz="1100" dirty="0">
                <a:solidFill>
                  <a:srgbClr val="64748B"/>
                </a:solidFill>
                <a:latin typeface="Calibri" pitchFamily="34" charset="0"/>
                <a:ea typeface="Calibri" pitchFamily="34" charset="-122"/>
                <a:cs typeface="Calibri" pitchFamily="34" charset="-120"/>
              </a:rPr>
              <a:t>Most widely adopted ML framework, iterative structure suits noisy social media text (Chapman et al., 2000)</a:t>
            </a:r>
            <a:endParaRPr lang="en-US" sz="1100" dirty="0"/>
          </a:p>
        </p:txBody>
      </p:sp>
      <p:sp>
        <p:nvSpPr>
          <p:cNvPr id="9" name="Shape 7"/>
          <p:cNvSpPr/>
          <p:nvPr/>
        </p:nvSpPr>
        <p:spPr>
          <a:xfrm>
            <a:off x="3154680" y="868680"/>
            <a:ext cx="2651760" cy="1783080"/>
          </a:xfrm>
          <a:prstGeom prst="roundRect">
            <a:avLst>
              <a:gd name="adj" fmla="val 5128"/>
            </a:avLst>
          </a:prstGeom>
          <a:solidFill>
            <a:srgbClr val="FFFFFF"/>
          </a:solidFill>
          <a:ln w="12700">
            <a:solidFill>
              <a:srgbClr val="E2E8F0"/>
            </a:solidFill>
            <a:prstDash val="solid"/>
          </a:ln>
          <a:effectLst>
            <a:outerShdw blurRad="101600" dist="25400" dir="2700000" algn="bl" rotWithShape="0">
              <a:srgbClr val="000000">
                <a:alpha val="10000"/>
              </a:srgbClr>
            </a:outerShdw>
          </a:effectLst>
        </p:spPr>
        <p:txBody>
          <a:bodyPr/>
          <a:lstStyle/>
          <a:p>
            <a:endParaRPr lang="en-US"/>
          </a:p>
        </p:txBody>
      </p:sp>
      <p:sp>
        <p:nvSpPr>
          <p:cNvPr id="10" name="Shape 8"/>
          <p:cNvSpPr/>
          <p:nvPr/>
        </p:nvSpPr>
        <p:spPr>
          <a:xfrm>
            <a:off x="3154680" y="868680"/>
            <a:ext cx="2651760" cy="347472"/>
          </a:xfrm>
          <a:prstGeom prst="roundRect">
            <a:avLst>
              <a:gd name="adj" fmla="val 26316"/>
            </a:avLst>
          </a:prstGeom>
          <a:solidFill>
            <a:srgbClr val="F5B942"/>
          </a:solidFill>
          <a:ln w="12700">
            <a:solidFill>
              <a:srgbClr val="F5B942"/>
            </a:solidFill>
            <a:prstDash val="solid"/>
          </a:ln>
        </p:spPr>
        <p:txBody>
          <a:bodyPr/>
          <a:lstStyle/>
          <a:p>
            <a:endParaRPr lang="en-US"/>
          </a:p>
        </p:txBody>
      </p:sp>
      <p:sp>
        <p:nvSpPr>
          <p:cNvPr id="11" name="Text 9"/>
          <p:cNvSpPr/>
          <p:nvPr/>
        </p:nvSpPr>
        <p:spPr>
          <a:xfrm>
            <a:off x="3200400" y="868680"/>
            <a:ext cx="2560320"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TF-IDF</a:t>
            </a:r>
            <a:endParaRPr lang="en-US" sz="1100" dirty="0"/>
          </a:p>
        </p:txBody>
      </p:sp>
      <p:sp>
        <p:nvSpPr>
          <p:cNvPr id="12" name="Text 10"/>
          <p:cNvSpPr/>
          <p:nvPr/>
        </p:nvSpPr>
        <p:spPr>
          <a:xfrm>
            <a:off x="3246120" y="1280160"/>
            <a:ext cx="2468880" cy="1280160"/>
          </a:xfrm>
          <a:prstGeom prst="rect">
            <a:avLst/>
          </a:prstGeom>
          <a:noFill/>
          <a:ln/>
        </p:spPr>
        <p:txBody>
          <a:bodyPr wrap="square" rtlCol="0" anchor="t"/>
          <a:lstStyle/>
          <a:p>
            <a:pPr marL="0" indent="0">
              <a:buNone/>
            </a:pPr>
            <a:r>
              <a:rPr lang="en-US" sz="1100" dirty="0">
                <a:solidFill>
                  <a:srgbClr val="64748B"/>
                </a:solidFill>
                <a:latin typeface="Calibri" pitchFamily="34" charset="0"/>
                <a:ea typeface="Calibri" pitchFamily="34" charset="-122"/>
                <a:cs typeface="Calibri" pitchFamily="34" charset="-120"/>
              </a:rPr>
              <a:t>Widely validated baseline for text classification, weights words by importance across corpus (Sparck Jones, 1972)</a:t>
            </a:r>
            <a:endParaRPr lang="en-US" sz="1100" dirty="0"/>
          </a:p>
        </p:txBody>
      </p:sp>
      <p:sp>
        <p:nvSpPr>
          <p:cNvPr id="13" name="Shape 11"/>
          <p:cNvSpPr/>
          <p:nvPr/>
        </p:nvSpPr>
        <p:spPr>
          <a:xfrm>
            <a:off x="5943600" y="868680"/>
            <a:ext cx="2651760" cy="1783080"/>
          </a:xfrm>
          <a:prstGeom prst="roundRect">
            <a:avLst>
              <a:gd name="adj" fmla="val 5128"/>
            </a:avLst>
          </a:prstGeom>
          <a:solidFill>
            <a:srgbClr val="FFFFFF"/>
          </a:solidFill>
          <a:ln w="12700">
            <a:solidFill>
              <a:srgbClr val="E2E8F0"/>
            </a:solidFill>
            <a:prstDash val="solid"/>
          </a:ln>
          <a:effectLst>
            <a:outerShdw blurRad="101600" dist="25400" dir="2700000" algn="bl" rotWithShape="0">
              <a:srgbClr val="000000">
                <a:alpha val="10000"/>
              </a:srgbClr>
            </a:outerShdw>
          </a:effectLst>
        </p:spPr>
        <p:txBody>
          <a:bodyPr/>
          <a:lstStyle/>
          <a:p>
            <a:endParaRPr lang="en-US"/>
          </a:p>
        </p:txBody>
      </p:sp>
      <p:sp>
        <p:nvSpPr>
          <p:cNvPr id="14" name="Shape 12"/>
          <p:cNvSpPr/>
          <p:nvPr/>
        </p:nvSpPr>
        <p:spPr>
          <a:xfrm>
            <a:off x="5943600" y="868680"/>
            <a:ext cx="2651760" cy="347472"/>
          </a:xfrm>
          <a:prstGeom prst="roundRect">
            <a:avLst>
              <a:gd name="adj" fmla="val 26316"/>
            </a:avLst>
          </a:prstGeom>
          <a:solidFill>
            <a:srgbClr val="B39DDB"/>
          </a:solidFill>
          <a:ln w="12700">
            <a:solidFill>
              <a:srgbClr val="B39DDB"/>
            </a:solidFill>
            <a:prstDash val="solid"/>
          </a:ln>
        </p:spPr>
        <p:txBody>
          <a:bodyPr/>
          <a:lstStyle/>
          <a:p>
            <a:endParaRPr lang="en-US"/>
          </a:p>
        </p:txBody>
      </p:sp>
      <p:sp>
        <p:nvSpPr>
          <p:cNvPr id="15" name="Text 13"/>
          <p:cNvSpPr/>
          <p:nvPr/>
        </p:nvSpPr>
        <p:spPr>
          <a:xfrm>
            <a:off x="5989320" y="868680"/>
            <a:ext cx="2560320"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Model Selection</a:t>
            </a:r>
            <a:endParaRPr lang="en-US" sz="1100" dirty="0"/>
          </a:p>
        </p:txBody>
      </p:sp>
      <p:sp>
        <p:nvSpPr>
          <p:cNvPr id="16" name="Text 14"/>
          <p:cNvSpPr/>
          <p:nvPr/>
        </p:nvSpPr>
        <p:spPr>
          <a:xfrm>
            <a:off x="6035040" y="1280160"/>
            <a:ext cx="2468880" cy="1280160"/>
          </a:xfrm>
          <a:prstGeom prst="rect">
            <a:avLst/>
          </a:prstGeom>
          <a:noFill/>
          <a:ln/>
        </p:spPr>
        <p:txBody>
          <a:bodyPr wrap="square" rtlCol="0" anchor="t"/>
          <a:lstStyle/>
          <a:p>
            <a:pPr marL="0" indent="0">
              <a:buNone/>
            </a:pPr>
            <a:r>
              <a:rPr lang="en-US" sz="1100" dirty="0">
                <a:solidFill>
                  <a:srgbClr val="64748B"/>
                </a:solidFill>
                <a:latin typeface="Calibri" pitchFamily="34" charset="0"/>
                <a:ea typeface="Calibri" pitchFamily="34" charset="-122"/>
                <a:cs typeface="Calibri" pitchFamily="34" charset="-120"/>
              </a:rPr>
              <a:t>Systematic review of 47 studies confirmed LR (18), SVM (15), RF (12), NB (7) as most used models (Hasan et al., 2026)</a:t>
            </a:r>
            <a:endParaRPr lang="en-US" sz="1100" dirty="0"/>
          </a:p>
        </p:txBody>
      </p:sp>
      <p:sp>
        <p:nvSpPr>
          <p:cNvPr id="17" name="Shape 15"/>
          <p:cNvSpPr/>
          <p:nvPr/>
        </p:nvSpPr>
        <p:spPr>
          <a:xfrm>
            <a:off x="365760" y="2788920"/>
            <a:ext cx="2651760" cy="1783080"/>
          </a:xfrm>
          <a:prstGeom prst="roundRect">
            <a:avLst>
              <a:gd name="adj" fmla="val 5128"/>
            </a:avLst>
          </a:prstGeom>
          <a:solidFill>
            <a:srgbClr val="FFFFFF"/>
          </a:solidFill>
          <a:ln w="12700">
            <a:solidFill>
              <a:srgbClr val="E2E8F0"/>
            </a:solidFill>
            <a:prstDash val="solid"/>
          </a:ln>
          <a:effectLst>
            <a:outerShdw blurRad="101600" dist="25400" dir="2700000" algn="bl" rotWithShape="0">
              <a:srgbClr val="000000">
                <a:alpha val="10000"/>
              </a:srgbClr>
            </a:outerShdw>
          </a:effectLst>
        </p:spPr>
        <p:txBody>
          <a:bodyPr/>
          <a:lstStyle/>
          <a:p>
            <a:endParaRPr lang="en-US"/>
          </a:p>
        </p:txBody>
      </p:sp>
      <p:sp>
        <p:nvSpPr>
          <p:cNvPr id="18" name="Shape 16"/>
          <p:cNvSpPr/>
          <p:nvPr/>
        </p:nvSpPr>
        <p:spPr>
          <a:xfrm>
            <a:off x="365760" y="2788920"/>
            <a:ext cx="2651760" cy="347472"/>
          </a:xfrm>
          <a:prstGeom prst="roundRect">
            <a:avLst>
              <a:gd name="adj" fmla="val 26316"/>
            </a:avLst>
          </a:prstGeom>
          <a:solidFill>
            <a:srgbClr val="E88080"/>
          </a:solidFill>
          <a:ln w="12700">
            <a:solidFill>
              <a:srgbClr val="E88080"/>
            </a:solidFill>
            <a:prstDash val="solid"/>
          </a:ln>
        </p:spPr>
        <p:txBody>
          <a:bodyPr/>
          <a:lstStyle/>
          <a:p>
            <a:endParaRPr lang="en-US"/>
          </a:p>
        </p:txBody>
      </p:sp>
      <p:sp>
        <p:nvSpPr>
          <p:cNvPr id="19" name="Text 17"/>
          <p:cNvSpPr/>
          <p:nvPr/>
        </p:nvSpPr>
        <p:spPr>
          <a:xfrm>
            <a:off x="411480" y="2788920"/>
            <a:ext cx="2560320"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Interpretability</a:t>
            </a:r>
            <a:endParaRPr lang="en-US" sz="1100" dirty="0"/>
          </a:p>
        </p:txBody>
      </p:sp>
      <p:sp>
        <p:nvSpPr>
          <p:cNvPr id="20" name="Text 18"/>
          <p:cNvSpPr/>
          <p:nvPr/>
        </p:nvSpPr>
        <p:spPr>
          <a:xfrm>
            <a:off x="457200" y="3200400"/>
            <a:ext cx="2468880" cy="1280160"/>
          </a:xfrm>
          <a:prstGeom prst="rect">
            <a:avLst/>
          </a:prstGeom>
          <a:noFill/>
          <a:ln/>
        </p:spPr>
        <p:txBody>
          <a:bodyPr wrap="square" rtlCol="0" anchor="t"/>
          <a:lstStyle/>
          <a:p>
            <a:pPr marL="0" indent="0">
              <a:buNone/>
            </a:pPr>
            <a:r>
              <a:rPr lang="en-US" sz="1100" dirty="0">
                <a:solidFill>
                  <a:srgbClr val="64748B"/>
                </a:solidFill>
                <a:latin typeface="Calibri" pitchFamily="34" charset="0"/>
                <a:ea typeface="Calibri" pitchFamily="34" charset="-122"/>
                <a:cs typeface="Calibri" pitchFamily="34" charset="-120"/>
              </a:rPr>
              <a:t>Fundamental trade-off - simpler models provide clinical transparency while black box models exploit complex patterns</a:t>
            </a:r>
            <a:endParaRPr lang="en-US" sz="1100" dirty="0"/>
          </a:p>
        </p:txBody>
      </p:sp>
      <p:sp>
        <p:nvSpPr>
          <p:cNvPr id="21" name="Shape 19"/>
          <p:cNvSpPr/>
          <p:nvPr/>
        </p:nvSpPr>
        <p:spPr>
          <a:xfrm>
            <a:off x="3154680" y="2788920"/>
            <a:ext cx="2651760" cy="1783080"/>
          </a:xfrm>
          <a:prstGeom prst="roundRect">
            <a:avLst>
              <a:gd name="adj" fmla="val 5128"/>
            </a:avLst>
          </a:prstGeom>
          <a:solidFill>
            <a:srgbClr val="FFFFFF"/>
          </a:solidFill>
          <a:ln w="12700">
            <a:solidFill>
              <a:srgbClr val="E2E8F0"/>
            </a:solidFill>
            <a:prstDash val="solid"/>
          </a:ln>
          <a:effectLst>
            <a:outerShdw blurRad="101600" dist="25400" dir="2700000" algn="bl" rotWithShape="0">
              <a:srgbClr val="000000">
                <a:alpha val="10000"/>
              </a:srgbClr>
            </a:outerShdw>
          </a:effectLst>
        </p:spPr>
        <p:txBody>
          <a:bodyPr/>
          <a:lstStyle/>
          <a:p>
            <a:endParaRPr lang="en-US"/>
          </a:p>
        </p:txBody>
      </p:sp>
      <p:sp>
        <p:nvSpPr>
          <p:cNvPr id="22" name="Shape 20"/>
          <p:cNvSpPr/>
          <p:nvPr/>
        </p:nvSpPr>
        <p:spPr>
          <a:xfrm>
            <a:off x="3154680" y="2788920"/>
            <a:ext cx="2651760" cy="347472"/>
          </a:xfrm>
          <a:prstGeom prst="roundRect">
            <a:avLst>
              <a:gd name="adj" fmla="val 26316"/>
            </a:avLst>
          </a:prstGeom>
          <a:solidFill>
            <a:srgbClr val="80C9A0"/>
          </a:solidFill>
          <a:ln w="12700">
            <a:solidFill>
              <a:srgbClr val="80C9A0"/>
            </a:solidFill>
            <a:prstDash val="solid"/>
          </a:ln>
        </p:spPr>
        <p:txBody>
          <a:bodyPr/>
          <a:lstStyle/>
          <a:p>
            <a:endParaRPr lang="en-US"/>
          </a:p>
        </p:txBody>
      </p:sp>
      <p:sp>
        <p:nvSpPr>
          <p:cNvPr id="23" name="Text 21"/>
          <p:cNvSpPr/>
          <p:nvPr/>
        </p:nvSpPr>
        <p:spPr>
          <a:xfrm>
            <a:off x="3200400" y="2788920"/>
            <a:ext cx="2560320"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class_weight</a:t>
            </a:r>
            <a:endParaRPr lang="en-US" sz="1100" dirty="0"/>
          </a:p>
        </p:txBody>
      </p:sp>
      <p:sp>
        <p:nvSpPr>
          <p:cNvPr id="24" name="Text 22"/>
          <p:cNvSpPr/>
          <p:nvPr/>
        </p:nvSpPr>
        <p:spPr>
          <a:xfrm>
            <a:off x="3246120" y="3200400"/>
            <a:ext cx="2468880" cy="1280160"/>
          </a:xfrm>
          <a:prstGeom prst="rect">
            <a:avLst/>
          </a:prstGeom>
          <a:noFill/>
          <a:ln/>
        </p:spPr>
        <p:txBody>
          <a:bodyPr wrap="square" rtlCol="0" anchor="t"/>
          <a:lstStyle/>
          <a:p>
            <a:pPr marL="0" indent="0">
              <a:buNone/>
            </a:pPr>
            <a:r>
              <a:rPr lang="en-US" sz="1100" dirty="0">
                <a:solidFill>
                  <a:srgbClr val="64748B"/>
                </a:solidFill>
                <a:latin typeface="Calibri" pitchFamily="34" charset="0"/>
                <a:ea typeface="Calibri" pitchFamily="34" charset="-122"/>
                <a:cs typeface="Calibri" pitchFamily="34" charset="-120"/>
              </a:rPr>
              <a:t>Applied to LR, SVM and RF to handle mild class imbalance (1,774–2,170 samples) without synthetic oversampling</a:t>
            </a:r>
            <a:endParaRPr lang="en-US" sz="1100" dirty="0"/>
          </a:p>
        </p:txBody>
      </p:sp>
      <p:sp>
        <p:nvSpPr>
          <p:cNvPr id="25" name="Shape 23"/>
          <p:cNvSpPr/>
          <p:nvPr/>
        </p:nvSpPr>
        <p:spPr>
          <a:xfrm>
            <a:off x="5943600" y="2788920"/>
            <a:ext cx="2651760" cy="1783080"/>
          </a:xfrm>
          <a:prstGeom prst="roundRect">
            <a:avLst>
              <a:gd name="adj" fmla="val 5128"/>
            </a:avLst>
          </a:prstGeom>
          <a:solidFill>
            <a:srgbClr val="FFFFFF"/>
          </a:solidFill>
          <a:ln w="12700">
            <a:solidFill>
              <a:srgbClr val="E2E8F0"/>
            </a:solidFill>
            <a:prstDash val="solid"/>
          </a:ln>
          <a:effectLst>
            <a:outerShdw blurRad="101600" dist="25400" dir="2700000" algn="bl" rotWithShape="0">
              <a:srgbClr val="000000">
                <a:alpha val="10000"/>
              </a:srgbClr>
            </a:outerShdw>
          </a:effectLst>
        </p:spPr>
        <p:txBody>
          <a:bodyPr/>
          <a:lstStyle/>
          <a:p>
            <a:endParaRPr lang="en-US"/>
          </a:p>
        </p:txBody>
      </p:sp>
      <p:sp>
        <p:nvSpPr>
          <p:cNvPr id="26" name="Shape 24"/>
          <p:cNvSpPr/>
          <p:nvPr/>
        </p:nvSpPr>
        <p:spPr>
          <a:xfrm>
            <a:off x="5943600" y="2788920"/>
            <a:ext cx="2651760" cy="347472"/>
          </a:xfrm>
          <a:prstGeom prst="roundRect">
            <a:avLst>
              <a:gd name="adj" fmla="val 26316"/>
            </a:avLst>
          </a:prstGeom>
          <a:solidFill>
            <a:srgbClr val="028090"/>
          </a:solidFill>
          <a:ln w="12700">
            <a:solidFill>
              <a:srgbClr val="028090"/>
            </a:solidFill>
            <a:prstDash val="solid"/>
          </a:ln>
        </p:spPr>
        <p:txBody>
          <a:bodyPr/>
          <a:lstStyle/>
          <a:p>
            <a:endParaRPr lang="en-US"/>
          </a:p>
        </p:txBody>
      </p:sp>
      <p:sp>
        <p:nvSpPr>
          <p:cNvPr id="27" name="Text 25"/>
          <p:cNvSpPr/>
          <p:nvPr/>
        </p:nvSpPr>
        <p:spPr>
          <a:xfrm>
            <a:off x="5989320" y="2788920"/>
            <a:ext cx="2560320"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Future Directions</a:t>
            </a:r>
            <a:endParaRPr lang="en-US" sz="1100" dirty="0"/>
          </a:p>
        </p:txBody>
      </p:sp>
      <p:sp>
        <p:nvSpPr>
          <p:cNvPr id="28" name="Text 26"/>
          <p:cNvSpPr/>
          <p:nvPr/>
        </p:nvSpPr>
        <p:spPr>
          <a:xfrm>
            <a:off x="6035040" y="3200400"/>
            <a:ext cx="2468880" cy="1280160"/>
          </a:xfrm>
          <a:prstGeom prst="rect">
            <a:avLst/>
          </a:prstGeom>
          <a:noFill/>
          <a:ln/>
        </p:spPr>
        <p:txBody>
          <a:bodyPr wrap="square" rtlCol="0" anchor="t"/>
          <a:lstStyle/>
          <a:p>
            <a:pPr marL="0" indent="0">
              <a:buNone/>
            </a:pPr>
            <a:r>
              <a:rPr lang="en-US" sz="1000" dirty="0">
                <a:solidFill>
                  <a:srgbClr val="64748B"/>
                </a:solidFill>
                <a:latin typeface="Calibri" pitchFamily="34" charset="0"/>
                <a:ea typeface="Calibri" pitchFamily="34" charset="-122"/>
                <a:cs typeface="Calibri" pitchFamily="34" charset="-120"/>
              </a:rPr>
              <a:t>BERT and MentalBERT show strong performance, but traditional ML remains competitive on medium datasets (Kallstenius et al., 2025)</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73152"/>
          </a:xfrm>
          <a:prstGeom prst="rect">
            <a:avLst/>
          </a:prstGeom>
          <a:solidFill>
            <a:srgbClr val="028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5065776"/>
            <a:ext cx="9144000" cy="82296"/>
          </a:xfrm>
          <a:prstGeom prst="rect">
            <a:avLst/>
          </a:prstGeom>
          <a:solidFill>
            <a:srgbClr val="028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137160"/>
            <a:ext cx="8229600" cy="530352"/>
          </a:xfrm>
          <a:prstGeom prst="rect">
            <a:avLst/>
          </a:prstGeom>
          <a:noFill/>
        </p:spPr>
        <p:txBody>
          <a:bodyPr wrap="square">
            <a:spAutoFit/>
          </a:bodyPr>
          <a:lstStyle/>
          <a:p>
            <a:pPr algn="l"/>
            <a:r>
              <a:rPr sz="2400" b="1" i="0">
                <a:solidFill>
                  <a:srgbClr val="1B2A4A"/>
                </a:solidFill>
                <a:latin typeface="Calibri"/>
              </a:rPr>
              <a:t>Methodology — CRISP-DM Framework</a:t>
            </a:r>
          </a:p>
        </p:txBody>
      </p:sp>
      <p:sp>
        <p:nvSpPr>
          <p:cNvPr id="7" name="Rectangle 6"/>
          <p:cNvSpPr/>
          <p:nvPr/>
        </p:nvSpPr>
        <p:spPr>
          <a:xfrm>
            <a:off x="365760" y="822960"/>
            <a:ext cx="1572768" cy="320040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877824" y="960120"/>
            <a:ext cx="548640" cy="548640"/>
          </a:xfrm>
          <a:prstGeom prst="rect">
            <a:avLst/>
          </a:prstGeom>
          <a:solidFill>
            <a:srgbClr val="E88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77824" y="960120"/>
            <a:ext cx="548640" cy="548640"/>
          </a:xfrm>
          <a:prstGeom prst="rect">
            <a:avLst/>
          </a:prstGeom>
          <a:noFill/>
        </p:spPr>
        <p:txBody>
          <a:bodyPr wrap="square">
            <a:spAutoFit/>
          </a:bodyPr>
          <a:lstStyle/>
          <a:p>
            <a:pPr algn="ctr"/>
            <a:r>
              <a:rPr sz="1800" b="1" i="0">
                <a:solidFill>
                  <a:srgbClr val="FFFFFF"/>
                </a:solidFill>
                <a:latin typeface="Calibri"/>
              </a:rPr>
              <a:t>1</a:t>
            </a:r>
          </a:p>
        </p:txBody>
      </p:sp>
      <p:sp>
        <p:nvSpPr>
          <p:cNvPr id="10" name="TextBox 9"/>
          <p:cNvSpPr txBox="1"/>
          <p:nvPr/>
        </p:nvSpPr>
        <p:spPr>
          <a:xfrm>
            <a:off x="457200" y="1627632"/>
            <a:ext cx="1389888" cy="461665"/>
          </a:xfrm>
          <a:prstGeom prst="rect">
            <a:avLst/>
          </a:prstGeom>
          <a:noFill/>
        </p:spPr>
        <p:txBody>
          <a:bodyPr wrap="square">
            <a:spAutoFit/>
          </a:bodyPr>
          <a:lstStyle/>
          <a:p>
            <a:pPr algn="ctr"/>
            <a:r>
              <a:rPr sz="1200" b="1" i="0" dirty="0">
                <a:solidFill>
                  <a:srgbClr val="1B2A4A"/>
                </a:solidFill>
                <a:latin typeface="Calibri"/>
              </a:rPr>
              <a:t>Business Understanding</a:t>
            </a:r>
          </a:p>
        </p:txBody>
      </p:sp>
      <p:sp>
        <p:nvSpPr>
          <p:cNvPr id="11" name="TextBox 10"/>
          <p:cNvSpPr txBox="1"/>
          <p:nvPr/>
        </p:nvSpPr>
        <p:spPr>
          <a:xfrm>
            <a:off x="457200" y="2194560"/>
            <a:ext cx="1389888" cy="646331"/>
          </a:xfrm>
          <a:prstGeom prst="rect">
            <a:avLst/>
          </a:prstGeom>
          <a:noFill/>
        </p:spPr>
        <p:txBody>
          <a:bodyPr wrap="square">
            <a:spAutoFit/>
          </a:bodyPr>
          <a:lstStyle/>
          <a:p>
            <a:pPr algn="ctr"/>
            <a:r>
              <a:rPr sz="1200" b="0" i="0" dirty="0">
                <a:solidFill>
                  <a:srgbClr val="64748B"/>
                </a:solidFill>
                <a:latin typeface="Calibri"/>
              </a:rPr>
              <a:t>Define problem, objectives and research question</a:t>
            </a:r>
          </a:p>
        </p:txBody>
      </p:sp>
      <p:sp>
        <p:nvSpPr>
          <p:cNvPr id="12" name="Rectangle 11"/>
          <p:cNvSpPr/>
          <p:nvPr/>
        </p:nvSpPr>
        <p:spPr>
          <a:xfrm>
            <a:off x="2048256" y="822960"/>
            <a:ext cx="1572768" cy="320040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2560320" y="960120"/>
            <a:ext cx="548640" cy="548640"/>
          </a:xfrm>
          <a:prstGeom prst="rect">
            <a:avLst/>
          </a:prstGeom>
          <a:solidFill>
            <a:srgbClr val="7EB3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560320" y="960120"/>
            <a:ext cx="548640" cy="548640"/>
          </a:xfrm>
          <a:prstGeom prst="rect">
            <a:avLst/>
          </a:prstGeom>
          <a:noFill/>
        </p:spPr>
        <p:txBody>
          <a:bodyPr wrap="square">
            <a:spAutoFit/>
          </a:bodyPr>
          <a:lstStyle/>
          <a:p>
            <a:pPr algn="ctr"/>
            <a:r>
              <a:rPr sz="1800" b="1" i="0">
                <a:solidFill>
                  <a:srgbClr val="FFFFFF"/>
                </a:solidFill>
                <a:latin typeface="Calibri"/>
              </a:rPr>
              <a:t>2</a:t>
            </a:r>
          </a:p>
        </p:txBody>
      </p:sp>
      <p:sp>
        <p:nvSpPr>
          <p:cNvPr id="15" name="TextBox 14"/>
          <p:cNvSpPr txBox="1"/>
          <p:nvPr/>
        </p:nvSpPr>
        <p:spPr>
          <a:xfrm>
            <a:off x="2139696" y="1627632"/>
            <a:ext cx="1389888" cy="461665"/>
          </a:xfrm>
          <a:prstGeom prst="rect">
            <a:avLst/>
          </a:prstGeom>
          <a:noFill/>
        </p:spPr>
        <p:txBody>
          <a:bodyPr wrap="square">
            <a:spAutoFit/>
          </a:bodyPr>
          <a:lstStyle/>
          <a:p>
            <a:pPr algn="ctr"/>
            <a:r>
              <a:rPr sz="1200" b="1" i="0" dirty="0">
                <a:solidFill>
                  <a:srgbClr val="1B2A4A"/>
                </a:solidFill>
                <a:latin typeface="Calibri"/>
              </a:rPr>
              <a:t>Data Understanding</a:t>
            </a:r>
          </a:p>
        </p:txBody>
      </p:sp>
      <p:sp>
        <p:nvSpPr>
          <p:cNvPr id="16" name="TextBox 15"/>
          <p:cNvSpPr txBox="1"/>
          <p:nvPr/>
        </p:nvSpPr>
        <p:spPr>
          <a:xfrm>
            <a:off x="2139696" y="2194560"/>
            <a:ext cx="1389888" cy="646331"/>
          </a:xfrm>
          <a:prstGeom prst="rect">
            <a:avLst/>
          </a:prstGeom>
          <a:noFill/>
        </p:spPr>
        <p:txBody>
          <a:bodyPr wrap="square">
            <a:spAutoFit/>
          </a:bodyPr>
          <a:lstStyle/>
          <a:p>
            <a:pPr algn="ctr"/>
            <a:r>
              <a:rPr sz="1200" b="0" i="0" dirty="0">
                <a:solidFill>
                  <a:srgbClr val="64748B"/>
                </a:solidFill>
                <a:latin typeface="Calibri"/>
              </a:rPr>
              <a:t>Class distribution, text length, word frequency analysis</a:t>
            </a:r>
          </a:p>
        </p:txBody>
      </p:sp>
      <p:sp>
        <p:nvSpPr>
          <p:cNvPr id="17" name="Rectangle 16"/>
          <p:cNvSpPr/>
          <p:nvPr/>
        </p:nvSpPr>
        <p:spPr>
          <a:xfrm>
            <a:off x="3730752" y="822960"/>
            <a:ext cx="1572768" cy="320040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4242816" y="960120"/>
            <a:ext cx="548640" cy="548640"/>
          </a:xfrm>
          <a:prstGeom prst="rect">
            <a:avLst/>
          </a:prstGeom>
          <a:solidFill>
            <a:srgbClr val="F5B9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242816" y="960120"/>
            <a:ext cx="548640" cy="548640"/>
          </a:xfrm>
          <a:prstGeom prst="rect">
            <a:avLst/>
          </a:prstGeom>
          <a:noFill/>
        </p:spPr>
        <p:txBody>
          <a:bodyPr wrap="square">
            <a:spAutoFit/>
          </a:bodyPr>
          <a:lstStyle/>
          <a:p>
            <a:pPr algn="ctr"/>
            <a:r>
              <a:rPr sz="1800" b="1" i="0">
                <a:solidFill>
                  <a:srgbClr val="FFFFFF"/>
                </a:solidFill>
                <a:latin typeface="Calibri"/>
              </a:rPr>
              <a:t>3</a:t>
            </a:r>
          </a:p>
        </p:txBody>
      </p:sp>
      <p:sp>
        <p:nvSpPr>
          <p:cNvPr id="20" name="TextBox 19"/>
          <p:cNvSpPr txBox="1"/>
          <p:nvPr/>
        </p:nvSpPr>
        <p:spPr>
          <a:xfrm>
            <a:off x="3822191" y="1627632"/>
            <a:ext cx="1389888" cy="276999"/>
          </a:xfrm>
          <a:prstGeom prst="rect">
            <a:avLst/>
          </a:prstGeom>
          <a:noFill/>
        </p:spPr>
        <p:txBody>
          <a:bodyPr wrap="square">
            <a:spAutoFit/>
          </a:bodyPr>
          <a:lstStyle/>
          <a:p>
            <a:pPr algn="ctr"/>
            <a:r>
              <a:rPr sz="1200" b="1" i="0" dirty="0">
                <a:solidFill>
                  <a:srgbClr val="1B2A4A"/>
                </a:solidFill>
                <a:latin typeface="Calibri"/>
              </a:rPr>
              <a:t>Data Preparation</a:t>
            </a:r>
          </a:p>
        </p:txBody>
      </p:sp>
      <p:sp>
        <p:nvSpPr>
          <p:cNvPr id="21" name="TextBox 20"/>
          <p:cNvSpPr txBox="1"/>
          <p:nvPr/>
        </p:nvSpPr>
        <p:spPr>
          <a:xfrm>
            <a:off x="3822191" y="2194560"/>
            <a:ext cx="1389888" cy="830997"/>
          </a:xfrm>
          <a:prstGeom prst="rect">
            <a:avLst/>
          </a:prstGeom>
          <a:noFill/>
        </p:spPr>
        <p:txBody>
          <a:bodyPr wrap="square">
            <a:spAutoFit/>
          </a:bodyPr>
          <a:lstStyle/>
          <a:p>
            <a:pPr algn="ctr"/>
            <a:r>
              <a:rPr sz="1200" b="0" i="0">
                <a:solidFill>
                  <a:srgbClr val="64748B"/>
                </a:solidFill>
                <a:latin typeface="Calibri"/>
              </a:rPr>
              <a:t>NLP preprocessing, TF-IDF vectorisation, train test split</a:t>
            </a:r>
          </a:p>
        </p:txBody>
      </p:sp>
      <p:sp>
        <p:nvSpPr>
          <p:cNvPr id="22" name="Rectangle 21"/>
          <p:cNvSpPr/>
          <p:nvPr/>
        </p:nvSpPr>
        <p:spPr>
          <a:xfrm>
            <a:off x="5413248" y="822960"/>
            <a:ext cx="1572768" cy="320040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5925312" y="960120"/>
            <a:ext cx="548640" cy="548640"/>
          </a:xfrm>
          <a:prstGeom prst="rect">
            <a:avLst/>
          </a:prstGeom>
          <a:solidFill>
            <a:srgbClr val="B39D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925312" y="960120"/>
            <a:ext cx="548640" cy="548640"/>
          </a:xfrm>
          <a:prstGeom prst="rect">
            <a:avLst/>
          </a:prstGeom>
          <a:noFill/>
        </p:spPr>
        <p:txBody>
          <a:bodyPr wrap="square">
            <a:spAutoFit/>
          </a:bodyPr>
          <a:lstStyle/>
          <a:p>
            <a:pPr algn="ctr"/>
            <a:r>
              <a:rPr sz="1800" b="1" i="0">
                <a:solidFill>
                  <a:srgbClr val="FFFFFF"/>
                </a:solidFill>
                <a:latin typeface="Calibri"/>
              </a:rPr>
              <a:t>4</a:t>
            </a:r>
          </a:p>
        </p:txBody>
      </p:sp>
      <p:sp>
        <p:nvSpPr>
          <p:cNvPr id="25" name="TextBox 24"/>
          <p:cNvSpPr txBox="1"/>
          <p:nvPr/>
        </p:nvSpPr>
        <p:spPr>
          <a:xfrm>
            <a:off x="5504688" y="1627632"/>
            <a:ext cx="1389888" cy="276999"/>
          </a:xfrm>
          <a:prstGeom prst="rect">
            <a:avLst/>
          </a:prstGeom>
          <a:noFill/>
        </p:spPr>
        <p:txBody>
          <a:bodyPr wrap="square">
            <a:spAutoFit/>
          </a:bodyPr>
          <a:lstStyle/>
          <a:p>
            <a:pPr algn="ctr"/>
            <a:r>
              <a:rPr sz="1200" b="1" i="0" dirty="0">
                <a:solidFill>
                  <a:srgbClr val="1B2A4A"/>
                </a:solidFill>
                <a:latin typeface="Calibri"/>
              </a:rPr>
              <a:t>Modelling</a:t>
            </a:r>
          </a:p>
        </p:txBody>
      </p:sp>
      <p:sp>
        <p:nvSpPr>
          <p:cNvPr id="26" name="TextBox 25"/>
          <p:cNvSpPr txBox="1"/>
          <p:nvPr/>
        </p:nvSpPr>
        <p:spPr>
          <a:xfrm>
            <a:off x="5504688" y="2194560"/>
            <a:ext cx="1389888" cy="830997"/>
          </a:xfrm>
          <a:prstGeom prst="rect">
            <a:avLst/>
          </a:prstGeom>
          <a:noFill/>
        </p:spPr>
        <p:txBody>
          <a:bodyPr wrap="square">
            <a:spAutoFit/>
          </a:bodyPr>
          <a:lstStyle/>
          <a:p>
            <a:pPr algn="ctr"/>
            <a:r>
              <a:rPr sz="1200" b="0" i="0">
                <a:solidFill>
                  <a:srgbClr val="64748B"/>
                </a:solidFill>
                <a:latin typeface="Calibri"/>
              </a:rPr>
              <a:t>Grid Search + 5-Fold Stratified CV across 12 model runs</a:t>
            </a:r>
          </a:p>
        </p:txBody>
      </p:sp>
      <p:sp>
        <p:nvSpPr>
          <p:cNvPr id="27" name="Rectangle 26"/>
          <p:cNvSpPr/>
          <p:nvPr/>
        </p:nvSpPr>
        <p:spPr>
          <a:xfrm>
            <a:off x="7095744" y="822960"/>
            <a:ext cx="1572768" cy="320040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7607808" y="960120"/>
            <a:ext cx="548640" cy="548640"/>
          </a:xfrm>
          <a:prstGeom prst="rect">
            <a:avLst/>
          </a:prstGeom>
          <a:solidFill>
            <a:srgbClr val="80C9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607808" y="960120"/>
            <a:ext cx="548640" cy="548640"/>
          </a:xfrm>
          <a:prstGeom prst="rect">
            <a:avLst/>
          </a:prstGeom>
          <a:noFill/>
        </p:spPr>
        <p:txBody>
          <a:bodyPr wrap="square">
            <a:spAutoFit/>
          </a:bodyPr>
          <a:lstStyle/>
          <a:p>
            <a:pPr algn="ctr"/>
            <a:r>
              <a:rPr sz="1800" b="1" i="0">
                <a:solidFill>
                  <a:srgbClr val="FFFFFF"/>
                </a:solidFill>
                <a:latin typeface="Calibri"/>
              </a:rPr>
              <a:t>5</a:t>
            </a:r>
          </a:p>
        </p:txBody>
      </p:sp>
      <p:sp>
        <p:nvSpPr>
          <p:cNvPr id="30" name="TextBox 29"/>
          <p:cNvSpPr txBox="1"/>
          <p:nvPr/>
        </p:nvSpPr>
        <p:spPr>
          <a:xfrm>
            <a:off x="7187183" y="1627632"/>
            <a:ext cx="1389888" cy="276999"/>
          </a:xfrm>
          <a:prstGeom prst="rect">
            <a:avLst/>
          </a:prstGeom>
          <a:noFill/>
        </p:spPr>
        <p:txBody>
          <a:bodyPr wrap="square">
            <a:spAutoFit/>
          </a:bodyPr>
          <a:lstStyle/>
          <a:p>
            <a:pPr algn="ctr"/>
            <a:r>
              <a:rPr sz="1200" b="1" i="0" dirty="0">
                <a:solidFill>
                  <a:srgbClr val="1B2A4A"/>
                </a:solidFill>
                <a:latin typeface="Calibri"/>
              </a:rPr>
              <a:t>Evaluation</a:t>
            </a:r>
          </a:p>
        </p:txBody>
      </p:sp>
      <p:sp>
        <p:nvSpPr>
          <p:cNvPr id="31" name="TextBox 30"/>
          <p:cNvSpPr txBox="1"/>
          <p:nvPr/>
        </p:nvSpPr>
        <p:spPr>
          <a:xfrm>
            <a:off x="7187183" y="2194560"/>
            <a:ext cx="1389888" cy="830997"/>
          </a:xfrm>
          <a:prstGeom prst="rect">
            <a:avLst/>
          </a:prstGeom>
          <a:noFill/>
        </p:spPr>
        <p:txBody>
          <a:bodyPr wrap="square">
            <a:spAutoFit/>
          </a:bodyPr>
          <a:lstStyle/>
          <a:p>
            <a:pPr algn="ctr"/>
            <a:r>
              <a:rPr sz="1200" b="0" i="0" dirty="0">
                <a:solidFill>
                  <a:srgbClr val="64748B"/>
                </a:solidFill>
                <a:latin typeface="Calibri"/>
              </a:rPr>
              <a:t>Accuracy, Precision, Recall, F1, CV Accuracy, AUC-ROC</a:t>
            </a:r>
          </a:p>
        </p:txBody>
      </p:sp>
      <p:sp>
        <p:nvSpPr>
          <p:cNvPr id="32" name="TextBox 31"/>
          <p:cNvSpPr txBox="1"/>
          <p:nvPr/>
        </p:nvSpPr>
        <p:spPr>
          <a:xfrm>
            <a:off x="365760" y="4339756"/>
            <a:ext cx="8412480" cy="274320"/>
          </a:xfrm>
          <a:prstGeom prst="rect">
            <a:avLst/>
          </a:prstGeom>
          <a:noFill/>
        </p:spPr>
        <p:txBody>
          <a:bodyPr wrap="square">
            <a:spAutoFit/>
          </a:bodyPr>
          <a:lstStyle/>
          <a:p>
            <a:pPr algn="ctr"/>
            <a:r>
              <a:rPr sz="1000" b="0" i="1">
                <a:solidFill>
                  <a:srgbClr val="64748B"/>
                </a:solidFill>
                <a:latin typeface="Calibri"/>
              </a:rPr>
              <a:t>Deployment phase excluded — purely analytical study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73152"/>
          </a:xfrm>
          <a:prstGeom prst="rect">
            <a:avLst/>
          </a:prstGeom>
          <a:solidFill>
            <a:srgbClr val="028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82880"/>
            <a:ext cx="8229600" cy="548640"/>
          </a:xfrm>
          <a:prstGeom prst="rect">
            <a:avLst/>
          </a:prstGeom>
          <a:noFill/>
        </p:spPr>
        <p:txBody>
          <a:bodyPr wrap="square">
            <a:spAutoFit/>
          </a:bodyPr>
          <a:lstStyle/>
          <a:p>
            <a:pPr algn="l"/>
            <a:r>
              <a:rPr sz="2600" b="1">
                <a:solidFill>
                  <a:srgbClr val="1B2A4A"/>
                </a:solidFill>
                <a:latin typeface="Cambria"/>
              </a:rPr>
              <a:t>Business Understanding</a:t>
            </a:r>
          </a:p>
        </p:txBody>
      </p:sp>
      <p:sp>
        <p:nvSpPr>
          <p:cNvPr id="4" name="Rectangle 3"/>
          <p:cNvSpPr/>
          <p:nvPr/>
        </p:nvSpPr>
        <p:spPr>
          <a:xfrm>
            <a:off x="0" y="5061204"/>
            <a:ext cx="9144000" cy="82296"/>
          </a:xfrm>
          <a:prstGeom prst="rect">
            <a:avLst/>
          </a:prstGeom>
          <a:solidFill>
            <a:srgbClr val="028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365760" y="868680"/>
            <a:ext cx="4023360" cy="182880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65760" y="868680"/>
            <a:ext cx="4023360" cy="365760"/>
          </a:xfrm>
          <a:prstGeom prst="rect">
            <a:avLst/>
          </a:prstGeom>
          <a:solidFill>
            <a:srgbClr val="E88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868680"/>
            <a:ext cx="3840480" cy="365760"/>
          </a:xfrm>
          <a:prstGeom prst="rect">
            <a:avLst/>
          </a:prstGeom>
          <a:noFill/>
        </p:spPr>
        <p:txBody>
          <a:bodyPr wrap="square">
            <a:spAutoFit/>
          </a:bodyPr>
          <a:lstStyle/>
          <a:p>
            <a:pPr algn="ctr"/>
            <a:r>
              <a:rPr sz="1200" b="1">
                <a:solidFill>
                  <a:srgbClr val="FFFFFF"/>
                </a:solidFill>
                <a:latin typeface="Calibri"/>
              </a:rPr>
              <a:t>Problem Statement</a:t>
            </a:r>
          </a:p>
        </p:txBody>
      </p:sp>
      <p:sp>
        <p:nvSpPr>
          <p:cNvPr id="8" name="TextBox 7"/>
          <p:cNvSpPr txBox="1"/>
          <p:nvPr/>
        </p:nvSpPr>
        <p:spPr>
          <a:xfrm>
            <a:off x="502920" y="1307592"/>
            <a:ext cx="3749039" cy="697627"/>
          </a:xfrm>
          <a:prstGeom prst="rect">
            <a:avLst/>
          </a:prstGeom>
          <a:noFill/>
        </p:spPr>
        <p:txBody>
          <a:bodyPr wrap="square">
            <a:spAutoFit/>
          </a:bodyPr>
          <a:lstStyle/>
          <a:p>
            <a:pPr marL="171450" indent="-171450">
              <a:spcAft>
                <a:spcPts val="400"/>
              </a:spcAft>
              <a:buClr>
                <a:srgbClr val="FF6699"/>
              </a:buClr>
              <a:buFont typeface="Arial" panose="020B0604020202020204" pitchFamily="34" charset="0"/>
              <a:buChar char="•"/>
            </a:pPr>
            <a:r>
              <a:rPr sz="1200" dirty="0">
                <a:solidFill>
                  <a:srgbClr val="1B2A4A"/>
                </a:solidFill>
                <a:latin typeface="Calibri"/>
              </a:rPr>
              <a:t>Mental health disorders affect 1 in 8 people globally</a:t>
            </a:r>
          </a:p>
          <a:p>
            <a:pPr marL="171450" indent="-171450">
              <a:spcAft>
                <a:spcPts val="400"/>
              </a:spcAft>
              <a:buClr>
                <a:srgbClr val="FF6699"/>
              </a:buClr>
              <a:buFont typeface="Arial" panose="020B0604020202020204" pitchFamily="34" charset="0"/>
              <a:buChar char="•"/>
            </a:pPr>
            <a:r>
              <a:rPr sz="1200" dirty="0">
                <a:solidFill>
                  <a:srgbClr val="1B2A4A"/>
                </a:solidFill>
                <a:latin typeface="Calibri"/>
              </a:rPr>
              <a:t>People express distress online before seeking </a:t>
            </a:r>
            <a:r>
              <a:rPr lang="en-US" sz="1200" dirty="0">
                <a:solidFill>
                  <a:srgbClr val="1B2A4A"/>
                </a:solidFill>
                <a:latin typeface="Calibri"/>
              </a:rPr>
              <a:t>professional </a:t>
            </a:r>
            <a:r>
              <a:rPr sz="1200" dirty="0">
                <a:solidFill>
                  <a:srgbClr val="1B2A4A"/>
                </a:solidFill>
                <a:latin typeface="Calibri"/>
              </a:rPr>
              <a:t>help</a:t>
            </a:r>
          </a:p>
        </p:txBody>
      </p:sp>
      <p:sp>
        <p:nvSpPr>
          <p:cNvPr id="9" name="Rectangle 8"/>
          <p:cNvSpPr/>
          <p:nvPr/>
        </p:nvSpPr>
        <p:spPr>
          <a:xfrm>
            <a:off x="4754880" y="868680"/>
            <a:ext cx="4023360" cy="182880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754880" y="868680"/>
            <a:ext cx="4023360" cy="365760"/>
          </a:xfrm>
          <a:prstGeom prst="rect">
            <a:avLst/>
          </a:prstGeom>
          <a:solidFill>
            <a:srgbClr val="7EB3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846320" y="868680"/>
            <a:ext cx="3840480" cy="365760"/>
          </a:xfrm>
          <a:prstGeom prst="rect">
            <a:avLst/>
          </a:prstGeom>
          <a:noFill/>
        </p:spPr>
        <p:txBody>
          <a:bodyPr wrap="square">
            <a:spAutoFit/>
          </a:bodyPr>
          <a:lstStyle/>
          <a:p>
            <a:pPr algn="ctr"/>
            <a:r>
              <a:rPr sz="1200" b="1">
                <a:solidFill>
                  <a:srgbClr val="FFFFFF"/>
                </a:solidFill>
                <a:latin typeface="Calibri"/>
              </a:rPr>
              <a:t>Business Need</a:t>
            </a:r>
          </a:p>
        </p:txBody>
      </p:sp>
      <p:sp>
        <p:nvSpPr>
          <p:cNvPr id="12" name="TextBox 11"/>
          <p:cNvSpPr txBox="1"/>
          <p:nvPr/>
        </p:nvSpPr>
        <p:spPr>
          <a:xfrm>
            <a:off x="4892040" y="1307592"/>
            <a:ext cx="3749039" cy="1118255"/>
          </a:xfrm>
          <a:prstGeom prst="rect">
            <a:avLst/>
          </a:prstGeom>
          <a:noFill/>
        </p:spPr>
        <p:txBody>
          <a:bodyPr wrap="square">
            <a:spAutoFit/>
          </a:bodyPr>
          <a:lstStyle/>
          <a:p>
            <a:pPr marL="171450" indent="-171450">
              <a:spcAft>
                <a:spcPts val="400"/>
              </a:spcAft>
              <a:buClr>
                <a:schemeClr val="accent4">
                  <a:lumMod val="60000"/>
                  <a:lumOff val="40000"/>
                </a:schemeClr>
              </a:buClr>
              <a:buFont typeface="Arial" panose="020B0604020202020204" pitchFamily="34" charset="0"/>
              <a:buChar char="•"/>
            </a:pPr>
            <a:r>
              <a:rPr sz="1200" dirty="0">
                <a:solidFill>
                  <a:srgbClr val="1B2A4A"/>
                </a:solidFill>
                <a:latin typeface="Calibri"/>
              </a:rPr>
              <a:t>Early detection can support timely clinical intervention</a:t>
            </a:r>
          </a:p>
          <a:p>
            <a:pPr marL="171450" indent="-171450">
              <a:spcAft>
                <a:spcPts val="400"/>
              </a:spcAft>
              <a:buClr>
                <a:schemeClr val="accent4">
                  <a:lumMod val="60000"/>
                  <a:lumOff val="40000"/>
                </a:schemeClr>
              </a:buClr>
              <a:buFont typeface="Arial" panose="020B0604020202020204" pitchFamily="34" charset="0"/>
              <a:buChar char="•"/>
            </a:pPr>
            <a:r>
              <a:rPr sz="1200" dirty="0">
                <a:solidFill>
                  <a:srgbClr val="1B2A4A"/>
                </a:solidFill>
                <a:latin typeface="Calibri"/>
              </a:rPr>
              <a:t>Social media provides real time signals of psychological distress</a:t>
            </a:r>
          </a:p>
          <a:p>
            <a:pPr marL="171450" indent="-171450">
              <a:spcAft>
                <a:spcPts val="400"/>
              </a:spcAft>
              <a:buClr>
                <a:schemeClr val="accent4">
                  <a:lumMod val="60000"/>
                  <a:lumOff val="40000"/>
                </a:schemeClr>
              </a:buClr>
              <a:buFont typeface="Arial" panose="020B0604020202020204" pitchFamily="34" charset="0"/>
              <a:buChar char="•"/>
            </a:pPr>
            <a:r>
              <a:rPr sz="1200" dirty="0">
                <a:solidFill>
                  <a:srgbClr val="1B2A4A"/>
                </a:solidFill>
                <a:latin typeface="Calibri"/>
              </a:rPr>
              <a:t>Automated classification can assist mental health professionals</a:t>
            </a:r>
          </a:p>
        </p:txBody>
      </p:sp>
      <p:sp>
        <p:nvSpPr>
          <p:cNvPr id="13" name="Rectangle 12"/>
          <p:cNvSpPr/>
          <p:nvPr/>
        </p:nvSpPr>
        <p:spPr>
          <a:xfrm>
            <a:off x="365760" y="2834640"/>
            <a:ext cx="4023360" cy="182880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65760" y="2834640"/>
            <a:ext cx="4023360" cy="365760"/>
          </a:xfrm>
          <a:prstGeom prst="rect">
            <a:avLst/>
          </a:prstGeom>
          <a:solidFill>
            <a:srgbClr val="F5B9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7200" y="2834640"/>
            <a:ext cx="3840480" cy="365760"/>
          </a:xfrm>
          <a:prstGeom prst="rect">
            <a:avLst/>
          </a:prstGeom>
          <a:noFill/>
        </p:spPr>
        <p:txBody>
          <a:bodyPr wrap="square">
            <a:spAutoFit/>
          </a:bodyPr>
          <a:lstStyle/>
          <a:p>
            <a:pPr algn="ctr"/>
            <a:r>
              <a:rPr sz="1200" b="1">
                <a:solidFill>
                  <a:srgbClr val="FFFFFF"/>
                </a:solidFill>
                <a:latin typeface="Calibri"/>
              </a:rPr>
              <a:t>Proposed Solution</a:t>
            </a:r>
          </a:p>
        </p:txBody>
      </p:sp>
      <p:sp>
        <p:nvSpPr>
          <p:cNvPr id="16" name="TextBox 15"/>
          <p:cNvSpPr txBox="1"/>
          <p:nvPr/>
        </p:nvSpPr>
        <p:spPr>
          <a:xfrm>
            <a:off x="502920" y="3273552"/>
            <a:ext cx="3749039" cy="1118255"/>
          </a:xfrm>
          <a:prstGeom prst="rect">
            <a:avLst/>
          </a:prstGeom>
          <a:noFill/>
        </p:spPr>
        <p:txBody>
          <a:bodyPr wrap="square">
            <a:spAutoFit/>
          </a:bodyPr>
          <a:lstStyle/>
          <a:p>
            <a:pPr marL="171450" indent="-171450">
              <a:spcAft>
                <a:spcPts val="400"/>
              </a:spcAft>
              <a:buClr>
                <a:srgbClr val="FFC000"/>
              </a:buClr>
              <a:buSzPct val="109000"/>
              <a:buFont typeface="Arial" panose="020B0604020202020204" pitchFamily="34" charset="0"/>
              <a:buChar char="•"/>
            </a:pPr>
            <a:r>
              <a:rPr sz="1200" dirty="0">
                <a:solidFill>
                  <a:srgbClr val="1B2A4A"/>
                </a:solidFill>
                <a:latin typeface="Calibri"/>
              </a:rPr>
              <a:t>Apply ML to classify posts into 5 distress categories</a:t>
            </a:r>
          </a:p>
          <a:p>
            <a:pPr marL="171450" indent="-171450">
              <a:spcAft>
                <a:spcPts val="400"/>
              </a:spcAft>
              <a:buClr>
                <a:srgbClr val="FFC000"/>
              </a:buClr>
              <a:buSzPct val="109000"/>
              <a:buFont typeface="Arial" panose="020B0604020202020204" pitchFamily="34" charset="0"/>
              <a:buChar char="•"/>
            </a:pPr>
            <a:r>
              <a:rPr sz="1200" dirty="0">
                <a:solidFill>
                  <a:srgbClr val="1B2A4A"/>
                </a:solidFill>
                <a:latin typeface="Calibri"/>
              </a:rPr>
              <a:t>Provide interpretable predictions that clinicians can trust</a:t>
            </a:r>
          </a:p>
          <a:p>
            <a:pPr marL="171450" indent="-171450">
              <a:spcAft>
                <a:spcPts val="400"/>
              </a:spcAft>
              <a:buClr>
                <a:srgbClr val="FFC000"/>
              </a:buClr>
              <a:buSzPct val="109000"/>
              <a:buFont typeface="Arial" panose="020B0604020202020204" pitchFamily="34" charset="0"/>
              <a:buChar char="•"/>
            </a:pPr>
            <a:r>
              <a:rPr sz="1200" dirty="0">
                <a:solidFill>
                  <a:srgbClr val="1B2A4A"/>
                </a:solidFill>
                <a:latin typeface="Calibri"/>
              </a:rPr>
              <a:t>Establish a baseline for future AI driven mental health tools</a:t>
            </a:r>
          </a:p>
        </p:txBody>
      </p:sp>
      <p:sp>
        <p:nvSpPr>
          <p:cNvPr id="17" name="Rectangle 16"/>
          <p:cNvSpPr/>
          <p:nvPr/>
        </p:nvSpPr>
        <p:spPr>
          <a:xfrm>
            <a:off x="4754880" y="2834640"/>
            <a:ext cx="4023360" cy="182880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4754880" y="2834640"/>
            <a:ext cx="4023360" cy="365760"/>
          </a:xfrm>
          <a:prstGeom prst="rect">
            <a:avLst/>
          </a:prstGeom>
          <a:solidFill>
            <a:srgbClr val="80C9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846320" y="2834640"/>
            <a:ext cx="3840480" cy="365760"/>
          </a:xfrm>
          <a:prstGeom prst="rect">
            <a:avLst/>
          </a:prstGeom>
          <a:noFill/>
        </p:spPr>
        <p:txBody>
          <a:bodyPr wrap="square">
            <a:spAutoFit/>
          </a:bodyPr>
          <a:lstStyle/>
          <a:p>
            <a:pPr algn="ctr"/>
            <a:r>
              <a:rPr sz="1200" b="1">
                <a:solidFill>
                  <a:srgbClr val="FFFFFF"/>
                </a:solidFill>
                <a:latin typeface="Calibri"/>
              </a:rPr>
              <a:t>Stakeholders</a:t>
            </a:r>
          </a:p>
        </p:txBody>
      </p:sp>
      <p:sp>
        <p:nvSpPr>
          <p:cNvPr id="20" name="TextBox 19"/>
          <p:cNvSpPr txBox="1"/>
          <p:nvPr/>
        </p:nvSpPr>
        <p:spPr>
          <a:xfrm>
            <a:off x="4892040" y="3273552"/>
            <a:ext cx="3749039" cy="933589"/>
          </a:xfrm>
          <a:prstGeom prst="rect">
            <a:avLst/>
          </a:prstGeom>
          <a:noFill/>
        </p:spPr>
        <p:txBody>
          <a:bodyPr wrap="square">
            <a:spAutoFit/>
          </a:bodyPr>
          <a:lstStyle/>
          <a:p>
            <a:pPr marL="171450" indent="-171450">
              <a:spcAft>
                <a:spcPts val="400"/>
              </a:spcAft>
              <a:buClr>
                <a:schemeClr val="accent2"/>
              </a:buClr>
              <a:buSzPct val="110000"/>
              <a:buFont typeface="Arial" panose="020B0604020202020204" pitchFamily="34" charset="0"/>
              <a:buChar char="•"/>
            </a:pPr>
            <a:r>
              <a:rPr sz="1200" dirty="0">
                <a:solidFill>
                  <a:srgbClr val="1B2A4A"/>
                </a:solidFill>
                <a:latin typeface="Calibri"/>
              </a:rPr>
              <a:t>Mental health professionals and clinical practitioners</a:t>
            </a:r>
          </a:p>
          <a:p>
            <a:pPr marL="171450" indent="-171450">
              <a:spcAft>
                <a:spcPts val="400"/>
              </a:spcAft>
              <a:buClr>
                <a:schemeClr val="accent2"/>
              </a:buClr>
              <a:buSzPct val="110000"/>
              <a:buFont typeface="Arial" panose="020B0604020202020204" pitchFamily="34" charset="0"/>
              <a:buChar char="•"/>
            </a:pPr>
            <a:r>
              <a:rPr sz="1200" dirty="0">
                <a:solidFill>
                  <a:srgbClr val="1B2A4A"/>
                </a:solidFill>
                <a:latin typeface="Calibri"/>
              </a:rPr>
              <a:t>Healthcare </a:t>
            </a:r>
            <a:r>
              <a:rPr sz="1200" dirty="0" err="1">
                <a:solidFill>
                  <a:srgbClr val="1B2A4A"/>
                </a:solidFill>
                <a:latin typeface="Calibri"/>
              </a:rPr>
              <a:t>organisations</a:t>
            </a:r>
            <a:r>
              <a:rPr sz="1200" dirty="0">
                <a:solidFill>
                  <a:srgbClr val="1B2A4A"/>
                </a:solidFill>
                <a:latin typeface="Calibri"/>
              </a:rPr>
              <a:t> and social media platforms</a:t>
            </a:r>
          </a:p>
          <a:p>
            <a:pPr marL="171450" indent="-171450">
              <a:spcAft>
                <a:spcPts val="400"/>
              </a:spcAft>
              <a:buClr>
                <a:schemeClr val="accent2"/>
              </a:buClr>
              <a:buSzPct val="110000"/>
              <a:buFont typeface="Arial" panose="020B0604020202020204" pitchFamily="34" charset="0"/>
              <a:buChar char="•"/>
            </a:pPr>
            <a:r>
              <a:rPr sz="1200" dirty="0">
                <a:solidFill>
                  <a:srgbClr val="1B2A4A"/>
                </a:solidFill>
                <a:latin typeface="Calibri"/>
              </a:rPr>
              <a:t>Researchers, policymakers and early intervention services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p:cNvSpPr/>
          <p:nvPr/>
        </p:nvSpPr>
        <p:spPr>
          <a:xfrm>
            <a:off x="493114" y="1771639"/>
            <a:ext cx="3657600" cy="361263"/>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dirty="0"/>
          </a:p>
        </p:txBody>
      </p:sp>
      <p:sp>
        <p:nvSpPr>
          <p:cNvPr id="4" name="Rectangle 3"/>
          <p:cNvSpPr/>
          <p:nvPr/>
        </p:nvSpPr>
        <p:spPr>
          <a:xfrm>
            <a:off x="0" y="0"/>
            <a:ext cx="9144000" cy="73152"/>
          </a:xfrm>
          <a:prstGeom prst="rect">
            <a:avLst/>
          </a:prstGeom>
          <a:solidFill>
            <a:srgbClr val="028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5065776"/>
            <a:ext cx="9144000" cy="82296"/>
          </a:xfrm>
          <a:prstGeom prst="rect">
            <a:avLst/>
          </a:prstGeom>
          <a:solidFill>
            <a:srgbClr val="028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137160"/>
            <a:ext cx="8229600" cy="461665"/>
          </a:xfrm>
          <a:prstGeom prst="rect">
            <a:avLst/>
          </a:prstGeom>
          <a:noFill/>
        </p:spPr>
        <p:txBody>
          <a:bodyPr wrap="square">
            <a:spAutoFit/>
          </a:bodyPr>
          <a:lstStyle/>
          <a:p>
            <a:pPr algn="l"/>
            <a:r>
              <a:rPr sz="2400" b="1" i="0" dirty="0">
                <a:solidFill>
                  <a:srgbClr val="1B2A4A"/>
                </a:solidFill>
                <a:latin typeface="Calibri"/>
              </a:rPr>
              <a:t>Dataset </a:t>
            </a:r>
          </a:p>
        </p:txBody>
      </p:sp>
      <p:sp>
        <p:nvSpPr>
          <p:cNvPr id="8" name="TextBox 7"/>
          <p:cNvSpPr txBox="1"/>
          <p:nvPr/>
        </p:nvSpPr>
        <p:spPr>
          <a:xfrm>
            <a:off x="493114" y="609508"/>
            <a:ext cx="3657600" cy="292388"/>
          </a:xfrm>
          <a:prstGeom prst="rect">
            <a:avLst/>
          </a:prstGeom>
          <a:noFill/>
        </p:spPr>
        <p:txBody>
          <a:bodyPr wrap="square">
            <a:spAutoFit/>
          </a:bodyPr>
          <a:lstStyle/>
          <a:p>
            <a:pPr algn="l"/>
            <a:r>
              <a:rPr sz="1300" b="1" i="0">
                <a:solidFill>
                  <a:srgbClr val="028090"/>
                </a:solidFill>
                <a:latin typeface="Calibri"/>
              </a:rPr>
              <a:t>MentalDistress Dataset</a:t>
            </a:r>
          </a:p>
        </p:txBody>
      </p:sp>
      <p:sp>
        <p:nvSpPr>
          <p:cNvPr id="9" name="TextBox 8"/>
          <p:cNvSpPr txBox="1"/>
          <p:nvPr/>
        </p:nvSpPr>
        <p:spPr>
          <a:xfrm>
            <a:off x="493114" y="956980"/>
            <a:ext cx="3657600" cy="276999"/>
          </a:xfrm>
          <a:prstGeom prst="rect">
            <a:avLst/>
          </a:prstGeom>
          <a:noFill/>
        </p:spPr>
        <p:txBody>
          <a:bodyPr wrap="square">
            <a:spAutoFit/>
          </a:bodyPr>
          <a:lstStyle/>
          <a:p>
            <a:pPr algn="l"/>
            <a:r>
              <a:rPr sz="1200" b="0" i="1">
                <a:solidFill>
                  <a:srgbClr val="64748B"/>
                </a:solidFill>
                <a:latin typeface="Calibri"/>
              </a:rPr>
              <a:t>Prity et al. (2026) — Mendeley Data</a:t>
            </a:r>
          </a:p>
        </p:txBody>
      </p:sp>
      <p:sp>
        <p:nvSpPr>
          <p:cNvPr id="11" name="TextBox 10"/>
          <p:cNvSpPr txBox="1"/>
          <p:nvPr/>
        </p:nvSpPr>
        <p:spPr>
          <a:xfrm>
            <a:off x="521059" y="1791215"/>
            <a:ext cx="1725184" cy="307777"/>
          </a:xfrm>
          <a:prstGeom prst="rect">
            <a:avLst/>
          </a:prstGeom>
          <a:noFill/>
        </p:spPr>
        <p:txBody>
          <a:bodyPr wrap="square">
            <a:spAutoFit/>
          </a:bodyPr>
          <a:lstStyle/>
          <a:p>
            <a:pPr algn="l"/>
            <a:r>
              <a:rPr sz="1400" b="1" i="0" dirty="0">
                <a:solidFill>
                  <a:srgbClr val="1B2A4A"/>
                </a:solidFill>
                <a:latin typeface="Calibri"/>
              </a:rPr>
              <a:t>Original records</a:t>
            </a:r>
          </a:p>
        </p:txBody>
      </p:sp>
      <p:sp>
        <p:nvSpPr>
          <p:cNvPr id="14" name="TextBox 13"/>
          <p:cNvSpPr txBox="1"/>
          <p:nvPr/>
        </p:nvSpPr>
        <p:spPr>
          <a:xfrm>
            <a:off x="525582" y="1456481"/>
            <a:ext cx="2194560" cy="307777"/>
          </a:xfrm>
          <a:prstGeom prst="rect">
            <a:avLst/>
          </a:prstGeom>
          <a:noFill/>
        </p:spPr>
        <p:txBody>
          <a:bodyPr wrap="square">
            <a:spAutoFit/>
          </a:bodyPr>
          <a:lstStyle/>
          <a:p>
            <a:pPr algn="l"/>
            <a:r>
              <a:rPr lang="en-US" sz="1400" b="1" dirty="0">
                <a:solidFill>
                  <a:srgbClr val="1B2A4A"/>
                </a:solidFill>
                <a:latin typeface="Calibri"/>
              </a:rPr>
              <a:t>Columns</a:t>
            </a:r>
            <a:endParaRPr sz="1400" b="1" i="0" dirty="0">
              <a:solidFill>
                <a:srgbClr val="1B2A4A"/>
              </a:solidFill>
              <a:latin typeface="Calibri"/>
            </a:endParaRPr>
          </a:p>
        </p:txBody>
      </p:sp>
      <p:sp>
        <p:nvSpPr>
          <p:cNvPr id="15" name="TextBox 14"/>
          <p:cNvSpPr txBox="1"/>
          <p:nvPr/>
        </p:nvSpPr>
        <p:spPr>
          <a:xfrm>
            <a:off x="2709275" y="1466281"/>
            <a:ext cx="1371600" cy="307777"/>
          </a:xfrm>
          <a:prstGeom prst="rect">
            <a:avLst/>
          </a:prstGeom>
          <a:noFill/>
        </p:spPr>
        <p:txBody>
          <a:bodyPr wrap="square">
            <a:spAutoFit/>
          </a:bodyPr>
          <a:lstStyle/>
          <a:p>
            <a:pPr algn="r"/>
            <a:r>
              <a:rPr lang="en-US" sz="1400" b="1" i="0" dirty="0">
                <a:solidFill>
                  <a:srgbClr val="028090"/>
                </a:solidFill>
                <a:latin typeface="Calibri"/>
              </a:rPr>
              <a:t>Te</a:t>
            </a:r>
            <a:r>
              <a:rPr lang="en-US" sz="1400" b="1" dirty="0">
                <a:solidFill>
                  <a:srgbClr val="028090"/>
                </a:solidFill>
                <a:latin typeface="Calibri"/>
              </a:rPr>
              <a:t>xt, Label</a:t>
            </a:r>
          </a:p>
        </p:txBody>
      </p:sp>
      <p:sp>
        <p:nvSpPr>
          <p:cNvPr id="16" name="Rectangle 15"/>
          <p:cNvSpPr/>
          <p:nvPr/>
        </p:nvSpPr>
        <p:spPr>
          <a:xfrm>
            <a:off x="493114" y="2106736"/>
            <a:ext cx="3657600" cy="3108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9" name="Rectangle 18"/>
          <p:cNvSpPr/>
          <p:nvPr/>
        </p:nvSpPr>
        <p:spPr>
          <a:xfrm>
            <a:off x="493114" y="2435920"/>
            <a:ext cx="3657600" cy="310896"/>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20" name="TextBox 19"/>
          <p:cNvSpPr txBox="1"/>
          <p:nvPr/>
        </p:nvSpPr>
        <p:spPr>
          <a:xfrm>
            <a:off x="516173" y="2108172"/>
            <a:ext cx="2194560" cy="307777"/>
          </a:xfrm>
          <a:prstGeom prst="rect">
            <a:avLst/>
          </a:prstGeom>
          <a:noFill/>
        </p:spPr>
        <p:txBody>
          <a:bodyPr wrap="square">
            <a:spAutoFit/>
          </a:bodyPr>
          <a:lstStyle/>
          <a:p>
            <a:pPr algn="l"/>
            <a:r>
              <a:rPr lang="en-US" sz="1400" b="1" dirty="0">
                <a:solidFill>
                  <a:srgbClr val="1B2A4A"/>
                </a:solidFill>
                <a:latin typeface="Calibri"/>
              </a:rPr>
              <a:t>After missing removal</a:t>
            </a:r>
            <a:endParaRPr sz="1400" b="1" i="0" dirty="0">
              <a:solidFill>
                <a:srgbClr val="1B2A4A"/>
              </a:solidFill>
              <a:latin typeface="Calibri"/>
            </a:endParaRPr>
          </a:p>
        </p:txBody>
      </p:sp>
      <p:sp>
        <p:nvSpPr>
          <p:cNvPr id="21" name="TextBox 20"/>
          <p:cNvSpPr txBox="1"/>
          <p:nvPr/>
        </p:nvSpPr>
        <p:spPr>
          <a:xfrm>
            <a:off x="2715619" y="2141302"/>
            <a:ext cx="1371600" cy="307777"/>
          </a:xfrm>
          <a:prstGeom prst="rect">
            <a:avLst/>
          </a:prstGeom>
          <a:noFill/>
        </p:spPr>
        <p:txBody>
          <a:bodyPr wrap="square">
            <a:spAutoFit/>
          </a:bodyPr>
          <a:lstStyle/>
          <a:p>
            <a:pPr algn="r"/>
            <a:r>
              <a:rPr lang="en-US" sz="1400" b="1" dirty="0">
                <a:solidFill>
                  <a:srgbClr val="028090"/>
                </a:solidFill>
                <a:latin typeface="Calibri"/>
              </a:rPr>
              <a:t>10,098</a:t>
            </a:r>
            <a:endParaRPr sz="1400" b="1" i="0" dirty="0">
              <a:solidFill>
                <a:srgbClr val="028090"/>
              </a:solidFill>
              <a:latin typeface="Calibri"/>
            </a:endParaRPr>
          </a:p>
        </p:txBody>
      </p:sp>
      <p:sp>
        <p:nvSpPr>
          <p:cNvPr id="23" name="TextBox 22"/>
          <p:cNvSpPr txBox="1"/>
          <p:nvPr/>
        </p:nvSpPr>
        <p:spPr>
          <a:xfrm>
            <a:off x="514715" y="2444112"/>
            <a:ext cx="2194560" cy="307777"/>
          </a:xfrm>
          <a:prstGeom prst="rect">
            <a:avLst/>
          </a:prstGeom>
          <a:noFill/>
        </p:spPr>
        <p:txBody>
          <a:bodyPr wrap="square">
            <a:spAutoFit/>
          </a:bodyPr>
          <a:lstStyle/>
          <a:p>
            <a:pPr algn="l"/>
            <a:r>
              <a:rPr lang="en-US" sz="1400" b="1" dirty="0">
                <a:solidFill>
                  <a:srgbClr val="1B2A4A"/>
                </a:solidFill>
                <a:latin typeface="Calibri"/>
              </a:rPr>
              <a:t>After duplicate removal</a:t>
            </a:r>
            <a:endParaRPr sz="1400" b="1" i="0" dirty="0">
              <a:solidFill>
                <a:srgbClr val="1B2A4A"/>
              </a:solidFill>
              <a:latin typeface="Calibri"/>
            </a:endParaRPr>
          </a:p>
        </p:txBody>
      </p:sp>
      <p:sp>
        <p:nvSpPr>
          <p:cNvPr id="24" name="TextBox 23"/>
          <p:cNvSpPr txBox="1"/>
          <p:nvPr/>
        </p:nvSpPr>
        <p:spPr>
          <a:xfrm>
            <a:off x="2709275" y="2444867"/>
            <a:ext cx="1371600" cy="307777"/>
          </a:xfrm>
          <a:prstGeom prst="rect">
            <a:avLst/>
          </a:prstGeom>
          <a:noFill/>
        </p:spPr>
        <p:txBody>
          <a:bodyPr wrap="square">
            <a:spAutoFit/>
          </a:bodyPr>
          <a:lstStyle/>
          <a:p>
            <a:pPr algn="r"/>
            <a:r>
              <a:rPr lang="en-US" sz="1400" b="1" dirty="0">
                <a:solidFill>
                  <a:srgbClr val="028090"/>
                </a:solidFill>
                <a:latin typeface="Calibri"/>
              </a:rPr>
              <a:t>10,050</a:t>
            </a:r>
            <a:endParaRPr sz="1400" b="1" i="0" dirty="0">
              <a:solidFill>
                <a:srgbClr val="028090"/>
              </a:solidFill>
              <a:latin typeface="Calibri"/>
            </a:endParaRPr>
          </a:p>
        </p:txBody>
      </p:sp>
      <p:sp>
        <p:nvSpPr>
          <p:cNvPr id="70" name="TextBox 69">
            <a:extLst>
              <a:ext uri="{FF2B5EF4-FFF2-40B4-BE49-F238E27FC236}">
                <a16:creationId xmlns:a16="http://schemas.microsoft.com/office/drawing/2014/main" id="{878A7F5C-8FFC-C953-FFC0-977973A2A8AC}"/>
              </a:ext>
            </a:extLst>
          </p:cNvPr>
          <p:cNvSpPr txBox="1"/>
          <p:nvPr/>
        </p:nvSpPr>
        <p:spPr>
          <a:xfrm>
            <a:off x="2715619" y="1799482"/>
            <a:ext cx="1371600" cy="307777"/>
          </a:xfrm>
          <a:prstGeom prst="rect">
            <a:avLst/>
          </a:prstGeom>
          <a:noFill/>
        </p:spPr>
        <p:txBody>
          <a:bodyPr wrap="square">
            <a:spAutoFit/>
          </a:bodyPr>
          <a:lstStyle/>
          <a:p>
            <a:pPr algn="r"/>
            <a:r>
              <a:rPr sz="1400" b="1" i="0" dirty="0">
                <a:solidFill>
                  <a:srgbClr val="028090"/>
                </a:solidFill>
                <a:latin typeface="Calibri"/>
              </a:rPr>
              <a:t>10,</a:t>
            </a:r>
            <a:r>
              <a:rPr lang="en-US" sz="1400" b="1" i="0" dirty="0">
                <a:solidFill>
                  <a:srgbClr val="028090"/>
                </a:solidFill>
                <a:latin typeface="Calibri"/>
              </a:rPr>
              <a:t>100</a:t>
            </a:r>
            <a:endParaRPr sz="1400" b="1" i="0" dirty="0">
              <a:solidFill>
                <a:srgbClr val="028090"/>
              </a:solidFill>
              <a:latin typeface="Calibri"/>
            </a:endParaRPr>
          </a:p>
        </p:txBody>
      </p:sp>
      <p:sp>
        <p:nvSpPr>
          <p:cNvPr id="2" name="TextBox 1"/>
          <p:cNvSpPr txBox="1"/>
          <p:nvPr/>
        </p:nvSpPr>
        <p:spPr>
          <a:xfrm>
            <a:off x="429619" y="3240984"/>
            <a:ext cx="3657600" cy="338554"/>
          </a:xfrm>
          <a:prstGeom prst="rect">
            <a:avLst/>
          </a:prstGeom>
          <a:noFill/>
        </p:spPr>
        <p:txBody>
          <a:bodyPr wrap="square">
            <a:spAutoFit/>
          </a:bodyPr>
          <a:lstStyle/>
          <a:p>
            <a:pPr algn="l"/>
            <a:r>
              <a:rPr lang="en-US" sz="1600" b="1" i="0" dirty="0">
                <a:solidFill>
                  <a:srgbClr val="028090"/>
                </a:solidFill>
                <a:latin typeface="Calibri"/>
              </a:rPr>
              <a:t>5 Target </a:t>
            </a:r>
            <a:r>
              <a:rPr lang="en-US" sz="1600" b="1" dirty="0">
                <a:solidFill>
                  <a:srgbClr val="028090"/>
                </a:solidFill>
                <a:latin typeface="Calibri"/>
              </a:rPr>
              <a:t>Variables</a:t>
            </a:r>
            <a:endParaRPr sz="1600" b="1" i="0" dirty="0">
              <a:solidFill>
                <a:srgbClr val="028090"/>
              </a:solidFill>
              <a:latin typeface="Calibri"/>
            </a:endParaRPr>
          </a:p>
        </p:txBody>
      </p:sp>
      <p:sp>
        <p:nvSpPr>
          <p:cNvPr id="3" name="Rectangle 2"/>
          <p:cNvSpPr/>
          <p:nvPr/>
        </p:nvSpPr>
        <p:spPr>
          <a:xfrm>
            <a:off x="493114" y="3770139"/>
            <a:ext cx="704088" cy="437064"/>
          </a:xfrm>
          <a:prstGeom prst="rect">
            <a:avLst/>
          </a:prstGeom>
          <a:solidFill>
            <a:srgbClr val="E88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93114" y="3857605"/>
            <a:ext cx="704088" cy="230832"/>
          </a:xfrm>
          <a:prstGeom prst="rect">
            <a:avLst/>
          </a:prstGeom>
          <a:noFill/>
        </p:spPr>
        <p:txBody>
          <a:bodyPr wrap="square">
            <a:spAutoFit/>
          </a:bodyPr>
          <a:lstStyle/>
          <a:p>
            <a:pPr algn="ctr"/>
            <a:r>
              <a:rPr sz="900" b="1" i="0" dirty="0">
                <a:solidFill>
                  <a:srgbClr val="FFFFFF"/>
                </a:solidFill>
                <a:latin typeface="Calibri"/>
              </a:rPr>
              <a:t>Suicidal</a:t>
            </a:r>
          </a:p>
        </p:txBody>
      </p:sp>
      <p:sp>
        <p:nvSpPr>
          <p:cNvPr id="17" name="Rectangle 16"/>
          <p:cNvSpPr/>
          <p:nvPr/>
        </p:nvSpPr>
        <p:spPr>
          <a:xfrm>
            <a:off x="1242922" y="3770139"/>
            <a:ext cx="704088" cy="437064"/>
          </a:xfrm>
          <a:prstGeom prst="rect">
            <a:avLst/>
          </a:prstGeom>
          <a:solidFill>
            <a:srgbClr val="7EB3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242922" y="3857605"/>
            <a:ext cx="704088" cy="230832"/>
          </a:xfrm>
          <a:prstGeom prst="rect">
            <a:avLst/>
          </a:prstGeom>
          <a:noFill/>
        </p:spPr>
        <p:txBody>
          <a:bodyPr wrap="square">
            <a:spAutoFit/>
          </a:bodyPr>
          <a:lstStyle/>
          <a:p>
            <a:pPr algn="ctr"/>
            <a:r>
              <a:rPr sz="900" b="1" i="0">
                <a:solidFill>
                  <a:srgbClr val="FFFFFF"/>
                </a:solidFill>
                <a:latin typeface="Calibri"/>
              </a:rPr>
              <a:t>Depressed</a:t>
            </a:r>
          </a:p>
        </p:txBody>
      </p:sp>
      <p:sp>
        <p:nvSpPr>
          <p:cNvPr id="28" name="Rectangle 27"/>
          <p:cNvSpPr/>
          <p:nvPr/>
        </p:nvSpPr>
        <p:spPr>
          <a:xfrm>
            <a:off x="1992729" y="3770139"/>
            <a:ext cx="704088" cy="437064"/>
          </a:xfrm>
          <a:prstGeom prst="rect">
            <a:avLst/>
          </a:prstGeom>
          <a:solidFill>
            <a:srgbClr val="F5B9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992729" y="3857605"/>
            <a:ext cx="704088" cy="230832"/>
          </a:xfrm>
          <a:prstGeom prst="rect">
            <a:avLst/>
          </a:prstGeom>
          <a:noFill/>
        </p:spPr>
        <p:txBody>
          <a:bodyPr wrap="square">
            <a:spAutoFit/>
          </a:bodyPr>
          <a:lstStyle/>
          <a:p>
            <a:pPr algn="ctr"/>
            <a:r>
              <a:rPr sz="900" b="1" i="0">
                <a:solidFill>
                  <a:srgbClr val="FFFFFF"/>
                </a:solidFill>
                <a:latin typeface="Calibri"/>
              </a:rPr>
              <a:t>Anxious</a:t>
            </a:r>
          </a:p>
        </p:txBody>
      </p:sp>
      <p:sp>
        <p:nvSpPr>
          <p:cNvPr id="34" name="Rectangle 33"/>
          <p:cNvSpPr/>
          <p:nvPr/>
        </p:nvSpPr>
        <p:spPr>
          <a:xfrm>
            <a:off x="2742537" y="3770139"/>
            <a:ext cx="704088" cy="437064"/>
          </a:xfrm>
          <a:prstGeom prst="rect">
            <a:avLst/>
          </a:prstGeom>
          <a:solidFill>
            <a:srgbClr val="B39D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2742537" y="3857605"/>
            <a:ext cx="704088" cy="230832"/>
          </a:xfrm>
          <a:prstGeom prst="rect">
            <a:avLst/>
          </a:prstGeom>
          <a:noFill/>
        </p:spPr>
        <p:txBody>
          <a:bodyPr wrap="square">
            <a:spAutoFit/>
          </a:bodyPr>
          <a:lstStyle/>
          <a:p>
            <a:pPr algn="ctr"/>
            <a:r>
              <a:rPr sz="900" b="1" i="0">
                <a:solidFill>
                  <a:srgbClr val="FFFFFF"/>
                </a:solidFill>
                <a:latin typeface="Calibri"/>
              </a:rPr>
              <a:t>Frustrated</a:t>
            </a:r>
          </a:p>
        </p:txBody>
      </p:sp>
      <p:sp>
        <p:nvSpPr>
          <p:cNvPr id="40" name="Rectangle 39"/>
          <p:cNvSpPr/>
          <p:nvPr/>
        </p:nvSpPr>
        <p:spPr>
          <a:xfrm>
            <a:off x="3492345" y="3770139"/>
            <a:ext cx="704088" cy="437064"/>
          </a:xfrm>
          <a:prstGeom prst="rect">
            <a:avLst/>
          </a:prstGeom>
          <a:solidFill>
            <a:srgbClr val="80C9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3492345" y="3857605"/>
            <a:ext cx="704088" cy="230832"/>
          </a:xfrm>
          <a:prstGeom prst="rect">
            <a:avLst/>
          </a:prstGeom>
          <a:noFill/>
        </p:spPr>
        <p:txBody>
          <a:bodyPr wrap="square">
            <a:spAutoFit/>
          </a:bodyPr>
          <a:lstStyle/>
          <a:p>
            <a:pPr algn="ctr"/>
            <a:r>
              <a:rPr sz="900" b="1" i="0">
                <a:solidFill>
                  <a:srgbClr val="FFFFFF"/>
                </a:solidFill>
                <a:latin typeface="Calibri"/>
              </a:rPr>
              <a:t>Others</a:t>
            </a:r>
          </a:p>
        </p:txBody>
      </p:sp>
      <p:pic>
        <p:nvPicPr>
          <p:cNvPr id="1026" name="Picture 2">
            <a:extLst>
              <a:ext uri="{FF2B5EF4-FFF2-40B4-BE49-F238E27FC236}">
                <a16:creationId xmlns:a16="http://schemas.microsoft.com/office/drawing/2014/main" id="{6EB9103D-BF2C-ECAF-CEFC-AD2C2869C43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421"/>
          <a:stretch>
            <a:fillRect/>
          </a:stretch>
        </p:blipFill>
        <p:spPr bwMode="auto">
          <a:xfrm>
            <a:off x="4462404" y="956980"/>
            <a:ext cx="4420626" cy="3420386"/>
          </a:xfrm>
          <a:prstGeom prst="rect">
            <a:avLst/>
          </a:prstGeom>
          <a:noFill/>
          <a:extLst>
            <a:ext uri="{909E8E84-426E-40DD-AFC4-6F175D3DCCD1}">
              <a14:hiddenFill xmlns:a14="http://schemas.microsoft.com/office/drawing/2010/main">
                <a:solidFill>
                  <a:srgbClr val="FFFFFF"/>
                </a:solidFill>
              </a14:hiddenFill>
            </a:ext>
          </a:extLst>
        </p:spPr>
      </p:pic>
      <p:sp>
        <p:nvSpPr>
          <p:cNvPr id="68" name="TextBox 67">
            <a:extLst>
              <a:ext uri="{FF2B5EF4-FFF2-40B4-BE49-F238E27FC236}">
                <a16:creationId xmlns:a16="http://schemas.microsoft.com/office/drawing/2014/main" id="{D048DAFE-388B-1210-11DA-6D9920619CB5}"/>
              </a:ext>
            </a:extLst>
          </p:cNvPr>
          <p:cNvSpPr txBox="1"/>
          <p:nvPr/>
        </p:nvSpPr>
        <p:spPr>
          <a:xfrm>
            <a:off x="6041913" y="4459999"/>
            <a:ext cx="2028659" cy="338554"/>
          </a:xfrm>
          <a:prstGeom prst="rect">
            <a:avLst/>
          </a:prstGeom>
          <a:noFill/>
        </p:spPr>
        <p:txBody>
          <a:bodyPr wrap="square">
            <a:spAutoFit/>
          </a:bodyPr>
          <a:lstStyle/>
          <a:p>
            <a:pPr algn="l"/>
            <a:r>
              <a:rPr lang="en-US" sz="1600" b="1" dirty="0">
                <a:solidFill>
                  <a:srgbClr val="028090"/>
                </a:solidFill>
                <a:latin typeface="Calibri"/>
              </a:rPr>
              <a:t>Class Distribution</a:t>
            </a:r>
            <a:endParaRPr sz="1600" b="1" i="0" dirty="0">
              <a:solidFill>
                <a:srgbClr val="028090"/>
              </a:solidFill>
              <a:latin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7475220" y="-960120"/>
            <a:ext cx="2331720" cy="2331720"/>
          </a:xfrm>
          <a:prstGeom prst="ellipse">
            <a:avLst/>
          </a:prstGeom>
          <a:solidFill>
            <a:srgbClr val="E4F1F3"/>
          </a:solidFill>
          <a:ln/>
        </p:spPr>
      </p:sp>
      <p:sp>
        <p:nvSpPr>
          <p:cNvPr id="3" name="Shape 1"/>
          <p:cNvSpPr/>
          <p:nvPr/>
        </p:nvSpPr>
        <p:spPr>
          <a:xfrm>
            <a:off x="0" y="0"/>
            <a:ext cx="9121140" cy="109728"/>
          </a:xfrm>
          <a:prstGeom prst="rect">
            <a:avLst/>
          </a:prstGeom>
          <a:solidFill>
            <a:srgbClr val="1A7A8A"/>
          </a:solidFill>
          <a:ln/>
        </p:spPr>
      </p:sp>
      <p:sp>
        <p:nvSpPr>
          <p:cNvPr id="4" name="Shape 2"/>
          <p:cNvSpPr/>
          <p:nvPr/>
        </p:nvSpPr>
        <p:spPr>
          <a:xfrm>
            <a:off x="0" y="5033772"/>
            <a:ext cx="9121140" cy="109728"/>
          </a:xfrm>
          <a:prstGeom prst="rect">
            <a:avLst/>
          </a:prstGeom>
          <a:solidFill>
            <a:srgbClr val="1A7A8A"/>
          </a:solidFill>
          <a:ln/>
        </p:spPr>
      </p:sp>
      <p:sp>
        <p:nvSpPr>
          <p:cNvPr id="5" name="Text 3"/>
          <p:cNvSpPr/>
          <p:nvPr/>
        </p:nvSpPr>
        <p:spPr>
          <a:xfrm>
            <a:off x="480060" y="308610"/>
            <a:ext cx="6858000" cy="582930"/>
          </a:xfrm>
          <a:prstGeom prst="rect">
            <a:avLst/>
          </a:prstGeom>
          <a:noFill/>
          <a:ln/>
        </p:spPr>
        <p:txBody>
          <a:bodyPr wrap="square" lIns="0" tIns="0" rIns="0" bIns="0" rtlCol="0" anchor="ctr"/>
          <a:lstStyle/>
          <a:p>
            <a:r>
              <a:rPr lang="en-US" sz="2850" b="1" dirty="0">
                <a:solidFill>
                  <a:srgbClr val="1B3A5C"/>
                </a:solidFill>
                <a:latin typeface="Cambria" pitchFamily="34" charset="0"/>
                <a:ea typeface="Cambria" pitchFamily="34" charset="-122"/>
              </a:rPr>
              <a:t>Distribution of Text Length Per Category</a:t>
            </a:r>
            <a:endParaRPr lang="en-US" sz="2850" dirty="0"/>
          </a:p>
        </p:txBody>
      </p:sp>
      <p:sp>
        <p:nvSpPr>
          <p:cNvPr id="6" name="Text 4"/>
          <p:cNvSpPr/>
          <p:nvPr/>
        </p:nvSpPr>
        <p:spPr>
          <a:xfrm>
            <a:off x="480060" y="1097280"/>
            <a:ext cx="6858000" cy="274320"/>
          </a:xfrm>
          <a:prstGeom prst="rect">
            <a:avLst/>
          </a:prstGeom>
          <a:noFill/>
          <a:ln/>
        </p:spPr>
        <p:txBody>
          <a:bodyPr wrap="square" lIns="0" tIns="0" rIns="0" bIns="0" rtlCol="0" anchor="ctr"/>
          <a:lstStyle/>
          <a:p>
            <a:r>
              <a:rPr lang="en-US" sz="1125" i="1" dirty="0">
                <a:solidFill>
                  <a:srgbClr val="5C6B77"/>
                </a:solidFill>
                <a:latin typeface="Calibri" pitchFamily="34" charset="0"/>
                <a:ea typeface="Calibri" pitchFamily="34" charset="-122"/>
                <a:cs typeface="Calibri" pitchFamily="34" charset="-120"/>
              </a:rPr>
              <a:t>Post length varies noticeably across psychological categories</a:t>
            </a:r>
            <a:endParaRPr lang="en-US" sz="1125" dirty="0"/>
          </a:p>
        </p:txBody>
      </p:sp>
      <p:pic>
        <p:nvPicPr>
          <p:cNvPr id="7" name="Image 0" descr="/home/claude/word_count_per_category.png"/>
          <p:cNvPicPr>
            <a:picLocks noChangeAspect="1"/>
          </p:cNvPicPr>
          <p:nvPr/>
        </p:nvPicPr>
        <p:blipFill>
          <a:blip r:embed="rId3"/>
          <a:srcRect t="10455"/>
          <a:stretch>
            <a:fillRect/>
          </a:stretch>
        </p:blipFill>
        <p:spPr>
          <a:xfrm>
            <a:off x="480060" y="1577340"/>
            <a:ext cx="8237678" cy="267462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1"/>
          <p:cNvSpPr/>
          <p:nvPr/>
        </p:nvSpPr>
        <p:spPr>
          <a:xfrm>
            <a:off x="0" y="0"/>
            <a:ext cx="9121140" cy="109728"/>
          </a:xfrm>
          <a:prstGeom prst="rect">
            <a:avLst/>
          </a:prstGeom>
          <a:solidFill>
            <a:srgbClr val="1A7A8A"/>
          </a:solidFill>
          <a:ln/>
        </p:spPr>
      </p:sp>
      <p:sp>
        <p:nvSpPr>
          <p:cNvPr id="4" name="Shape 2"/>
          <p:cNvSpPr/>
          <p:nvPr/>
        </p:nvSpPr>
        <p:spPr>
          <a:xfrm>
            <a:off x="0" y="5033772"/>
            <a:ext cx="9121140" cy="109728"/>
          </a:xfrm>
          <a:prstGeom prst="rect">
            <a:avLst/>
          </a:prstGeom>
          <a:solidFill>
            <a:srgbClr val="1A7A8A"/>
          </a:solidFill>
          <a:ln/>
        </p:spPr>
      </p:sp>
      <p:sp>
        <p:nvSpPr>
          <p:cNvPr id="5" name="Text 3"/>
          <p:cNvSpPr/>
          <p:nvPr/>
        </p:nvSpPr>
        <p:spPr>
          <a:xfrm>
            <a:off x="480060" y="323022"/>
            <a:ext cx="8183880" cy="617220"/>
          </a:xfrm>
          <a:prstGeom prst="rect">
            <a:avLst/>
          </a:prstGeom>
          <a:noFill/>
          <a:ln/>
        </p:spPr>
        <p:txBody>
          <a:bodyPr wrap="square" lIns="0" tIns="0" rIns="0" bIns="0" rtlCol="0" anchor="ctr"/>
          <a:lstStyle/>
          <a:p>
            <a:r>
              <a:rPr lang="en-US" sz="3000" b="1" dirty="0">
                <a:solidFill>
                  <a:srgbClr val="1B3A5C"/>
                </a:solidFill>
                <a:ea typeface="Cambria" pitchFamily="34" charset="-122"/>
                <a:cs typeface="Cambria" pitchFamily="34" charset="-120"/>
              </a:rPr>
              <a:t>Data </a:t>
            </a:r>
            <a:r>
              <a:rPr lang="en-US" sz="3000" b="1" dirty="0">
                <a:solidFill>
                  <a:srgbClr val="1B3A5C"/>
                </a:solidFill>
                <a:ea typeface="Calibri" panose="020F0502020204030204" pitchFamily="34" charset="0"/>
                <a:cs typeface="Calibri" panose="020F0502020204030204" pitchFamily="34" charset="0"/>
              </a:rPr>
              <a:t>preparation</a:t>
            </a:r>
            <a:r>
              <a:rPr lang="en-US" sz="3000" b="1" dirty="0">
                <a:solidFill>
                  <a:srgbClr val="1B3A5C"/>
                </a:solidFill>
                <a:ea typeface="Cambria" pitchFamily="34" charset="-122"/>
                <a:cs typeface="Cambria" pitchFamily="34" charset="-120"/>
              </a:rPr>
              <a:t> - Text </a:t>
            </a:r>
            <a:r>
              <a:rPr lang="en-US" sz="3000" b="1" dirty="0">
                <a:solidFill>
                  <a:srgbClr val="1B3A5C"/>
                </a:solidFill>
                <a:ea typeface="Calibri" panose="020F0502020204030204" pitchFamily="34" charset="0"/>
                <a:cs typeface="Calibri" panose="020F0502020204030204" pitchFamily="34" charset="0"/>
              </a:rPr>
              <a:t>Preprocessing</a:t>
            </a:r>
            <a:endParaRPr lang="en-US" sz="3000" dirty="0">
              <a:ea typeface="Calibri" panose="020F0502020204030204" pitchFamily="34" charset="0"/>
              <a:cs typeface="Calibri" panose="020F0502020204030204" pitchFamily="34" charset="0"/>
            </a:endParaRPr>
          </a:p>
        </p:txBody>
      </p:sp>
      <p:sp>
        <p:nvSpPr>
          <p:cNvPr id="6" name="Text 4"/>
          <p:cNvSpPr/>
          <p:nvPr/>
        </p:nvSpPr>
        <p:spPr>
          <a:xfrm>
            <a:off x="480060" y="877824"/>
            <a:ext cx="7543800" cy="274320"/>
          </a:xfrm>
          <a:prstGeom prst="rect">
            <a:avLst/>
          </a:prstGeom>
          <a:noFill/>
          <a:ln/>
        </p:spPr>
        <p:txBody>
          <a:bodyPr wrap="square" lIns="0" tIns="0" rIns="0" bIns="0" rtlCol="0" anchor="ctr"/>
          <a:lstStyle/>
          <a:p>
            <a:r>
              <a:rPr lang="en-US" sz="1125" i="1" dirty="0">
                <a:solidFill>
                  <a:srgbClr val="5C6B77"/>
                </a:solidFill>
                <a:latin typeface="Calibri" pitchFamily="34" charset="0"/>
                <a:ea typeface="Calibri" pitchFamily="34" charset="-122"/>
                <a:cs typeface="Calibri" pitchFamily="34" charset="-120"/>
              </a:rPr>
              <a:t>A five-step pipeline to clean and normalize raw text before feature extraction</a:t>
            </a:r>
            <a:endParaRPr lang="en-US" sz="1125" dirty="0"/>
          </a:p>
        </p:txBody>
      </p:sp>
      <p:sp>
        <p:nvSpPr>
          <p:cNvPr id="7" name="Shape 5"/>
          <p:cNvSpPr/>
          <p:nvPr/>
        </p:nvSpPr>
        <p:spPr>
          <a:xfrm>
            <a:off x="874395" y="2348865"/>
            <a:ext cx="7372350" cy="0"/>
          </a:xfrm>
          <a:prstGeom prst="line">
            <a:avLst/>
          </a:prstGeom>
          <a:noFill/>
          <a:ln w="50800">
            <a:solidFill>
              <a:srgbClr val="E4F1F3"/>
            </a:solidFill>
            <a:prstDash val="solid"/>
          </a:ln>
        </p:spPr>
      </p:sp>
      <p:sp>
        <p:nvSpPr>
          <p:cNvPr id="8" name="Shape 6"/>
          <p:cNvSpPr/>
          <p:nvPr/>
        </p:nvSpPr>
        <p:spPr>
          <a:xfrm>
            <a:off x="1049274" y="1885950"/>
            <a:ext cx="288036" cy="288036"/>
          </a:xfrm>
          <a:prstGeom prst="ellipse">
            <a:avLst/>
          </a:prstGeom>
          <a:solidFill>
            <a:srgbClr val="1B3A5C"/>
          </a:solidFill>
          <a:ln w="25400">
            <a:solidFill>
              <a:srgbClr val="FFFFFF"/>
            </a:solidFill>
            <a:prstDash val="solid"/>
          </a:ln>
        </p:spPr>
      </p:sp>
      <p:sp>
        <p:nvSpPr>
          <p:cNvPr id="9" name="Text 7"/>
          <p:cNvSpPr/>
          <p:nvPr/>
        </p:nvSpPr>
        <p:spPr>
          <a:xfrm>
            <a:off x="1049274" y="1885950"/>
            <a:ext cx="288036" cy="288036"/>
          </a:xfrm>
          <a:prstGeom prst="rect">
            <a:avLst/>
          </a:prstGeom>
          <a:noFill/>
          <a:ln/>
        </p:spPr>
        <p:txBody>
          <a:bodyPr wrap="square" lIns="0" tIns="0" rIns="0" bIns="0" rtlCol="0" anchor="ctr"/>
          <a:lstStyle/>
          <a:p>
            <a:pPr algn="ctr"/>
            <a:r>
              <a:rPr lang="en-US" sz="975" b="1" dirty="0">
                <a:solidFill>
                  <a:srgbClr val="FFFFFF"/>
                </a:solidFill>
                <a:latin typeface="Calibri" pitchFamily="34" charset="0"/>
                <a:ea typeface="Calibri" pitchFamily="34" charset="-122"/>
                <a:cs typeface="Calibri" pitchFamily="34" charset="-120"/>
              </a:rPr>
              <a:t>1</a:t>
            </a:r>
            <a:endParaRPr lang="en-US" sz="975" dirty="0"/>
          </a:p>
        </p:txBody>
      </p:sp>
      <p:sp>
        <p:nvSpPr>
          <p:cNvPr id="10" name="Shape 8"/>
          <p:cNvSpPr/>
          <p:nvPr/>
        </p:nvSpPr>
        <p:spPr>
          <a:xfrm>
            <a:off x="480060" y="1954530"/>
            <a:ext cx="788670" cy="788670"/>
          </a:xfrm>
          <a:prstGeom prst="ellipse">
            <a:avLst/>
          </a:prstGeom>
          <a:solidFill>
            <a:srgbClr val="E4F1F3"/>
          </a:solidFill>
          <a:ln w="19050">
            <a:solidFill>
              <a:srgbClr val="1A7A8A"/>
            </a:solidFill>
            <a:prstDash val="solid"/>
          </a:ln>
          <a:effectLst>
            <a:outerShdw blurRad="63500" dist="25400" dir="5400000" algn="bl" rotWithShape="0">
              <a:srgbClr val="000000">
                <a:alpha val="12000"/>
              </a:srgbClr>
            </a:outerShdw>
          </a:effectLst>
        </p:spPr>
      </p:sp>
      <p:pic>
        <p:nvPicPr>
          <p:cNvPr id="11" name="Image 0" descr="preencoded.png"/>
          <p:cNvPicPr>
            <a:picLocks noChangeAspect="1"/>
          </p:cNvPicPr>
          <p:nvPr/>
        </p:nvPicPr>
        <p:blipFill>
          <a:blip r:embed="rId3"/>
          <a:stretch>
            <a:fillRect/>
          </a:stretch>
        </p:blipFill>
        <p:spPr>
          <a:xfrm>
            <a:off x="696944" y="2171414"/>
            <a:ext cx="354902" cy="354902"/>
          </a:xfrm>
          <a:prstGeom prst="rect">
            <a:avLst/>
          </a:prstGeom>
        </p:spPr>
      </p:pic>
      <p:sp>
        <p:nvSpPr>
          <p:cNvPr id="12" name="Text 9"/>
          <p:cNvSpPr/>
          <p:nvPr/>
        </p:nvSpPr>
        <p:spPr>
          <a:xfrm>
            <a:off x="240030" y="2914650"/>
            <a:ext cx="1268730" cy="514350"/>
          </a:xfrm>
          <a:prstGeom prst="rect">
            <a:avLst/>
          </a:prstGeom>
          <a:noFill/>
          <a:ln/>
        </p:spPr>
        <p:txBody>
          <a:bodyPr wrap="square" lIns="0" tIns="0" rIns="0" bIns="0" rtlCol="0" anchor="t"/>
          <a:lstStyle/>
          <a:p>
            <a:pPr algn="ctr"/>
            <a:r>
              <a:rPr lang="en-US" sz="1400" b="1" dirty="0">
                <a:solidFill>
                  <a:srgbClr val="1B3A5C"/>
                </a:solidFill>
                <a:latin typeface="Calibri" pitchFamily="34" charset="0"/>
                <a:ea typeface="Calibri" pitchFamily="34" charset="-122"/>
                <a:cs typeface="Calibri" pitchFamily="34" charset="-120"/>
              </a:rPr>
              <a:t>Lowercase</a:t>
            </a:r>
            <a:endParaRPr lang="en-US" sz="1400" dirty="0"/>
          </a:p>
        </p:txBody>
      </p:sp>
      <p:sp>
        <p:nvSpPr>
          <p:cNvPr id="13" name="Shape 10"/>
          <p:cNvSpPr/>
          <p:nvPr/>
        </p:nvSpPr>
        <p:spPr>
          <a:xfrm>
            <a:off x="2892362" y="1885950"/>
            <a:ext cx="288036" cy="288036"/>
          </a:xfrm>
          <a:prstGeom prst="ellipse">
            <a:avLst/>
          </a:prstGeom>
          <a:solidFill>
            <a:srgbClr val="1B3A5C"/>
          </a:solidFill>
          <a:ln w="25400">
            <a:solidFill>
              <a:srgbClr val="FFFFFF"/>
            </a:solidFill>
            <a:prstDash val="solid"/>
          </a:ln>
        </p:spPr>
      </p:sp>
      <p:sp>
        <p:nvSpPr>
          <p:cNvPr id="14" name="Text 11"/>
          <p:cNvSpPr/>
          <p:nvPr/>
        </p:nvSpPr>
        <p:spPr>
          <a:xfrm>
            <a:off x="2892362" y="1885950"/>
            <a:ext cx="288036" cy="288036"/>
          </a:xfrm>
          <a:prstGeom prst="rect">
            <a:avLst/>
          </a:prstGeom>
          <a:noFill/>
          <a:ln/>
        </p:spPr>
        <p:txBody>
          <a:bodyPr wrap="square" lIns="0" tIns="0" rIns="0" bIns="0" rtlCol="0" anchor="ctr"/>
          <a:lstStyle/>
          <a:p>
            <a:pPr algn="ctr"/>
            <a:r>
              <a:rPr lang="en-US" sz="975" b="1" dirty="0">
                <a:solidFill>
                  <a:srgbClr val="FFFFFF"/>
                </a:solidFill>
                <a:latin typeface="Calibri" pitchFamily="34" charset="0"/>
                <a:ea typeface="Calibri" pitchFamily="34" charset="-122"/>
                <a:cs typeface="Calibri" pitchFamily="34" charset="-120"/>
              </a:rPr>
              <a:t>2</a:t>
            </a:r>
            <a:endParaRPr lang="en-US" sz="975" dirty="0"/>
          </a:p>
        </p:txBody>
      </p:sp>
      <p:sp>
        <p:nvSpPr>
          <p:cNvPr id="15" name="Shape 12"/>
          <p:cNvSpPr/>
          <p:nvPr/>
        </p:nvSpPr>
        <p:spPr>
          <a:xfrm>
            <a:off x="2323148" y="1954530"/>
            <a:ext cx="788670" cy="788670"/>
          </a:xfrm>
          <a:prstGeom prst="ellipse">
            <a:avLst/>
          </a:prstGeom>
          <a:solidFill>
            <a:srgbClr val="E4F1F3"/>
          </a:solidFill>
          <a:ln w="19050">
            <a:solidFill>
              <a:srgbClr val="1A7A8A"/>
            </a:solidFill>
            <a:prstDash val="solid"/>
          </a:ln>
          <a:effectLst>
            <a:outerShdw blurRad="63500" dist="25400" dir="5400000" algn="bl" rotWithShape="0">
              <a:srgbClr val="000000">
                <a:alpha val="12000"/>
              </a:srgbClr>
            </a:outerShdw>
          </a:effectLst>
        </p:spPr>
      </p:sp>
      <p:pic>
        <p:nvPicPr>
          <p:cNvPr id="16" name="Image 1" descr="preencoded.png"/>
          <p:cNvPicPr>
            <a:picLocks noChangeAspect="1"/>
          </p:cNvPicPr>
          <p:nvPr/>
        </p:nvPicPr>
        <p:blipFill>
          <a:blip r:embed="rId4"/>
          <a:stretch>
            <a:fillRect/>
          </a:stretch>
        </p:blipFill>
        <p:spPr>
          <a:xfrm>
            <a:off x="2540032" y="2171414"/>
            <a:ext cx="354902" cy="354902"/>
          </a:xfrm>
          <a:prstGeom prst="rect">
            <a:avLst/>
          </a:prstGeom>
        </p:spPr>
      </p:pic>
      <p:sp>
        <p:nvSpPr>
          <p:cNvPr id="17" name="Text 13"/>
          <p:cNvSpPr/>
          <p:nvPr/>
        </p:nvSpPr>
        <p:spPr>
          <a:xfrm>
            <a:off x="2083118" y="2914650"/>
            <a:ext cx="1268730" cy="514350"/>
          </a:xfrm>
          <a:prstGeom prst="rect">
            <a:avLst/>
          </a:prstGeom>
          <a:noFill/>
          <a:ln/>
        </p:spPr>
        <p:txBody>
          <a:bodyPr wrap="square" lIns="0" tIns="0" rIns="0" bIns="0" rtlCol="0" anchor="t"/>
          <a:lstStyle/>
          <a:p>
            <a:pPr algn="ctr"/>
            <a:r>
              <a:rPr lang="en-US" sz="1400" b="1" dirty="0">
                <a:solidFill>
                  <a:srgbClr val="1B3A5C"/>
                </a:solidFill>
                <a:latin typeface="Calibri" pitchFamily="34" charset="0"/>
                <a:ea typeface="Calibri" pitchFamily="34" charset="-122"/>
                <a:cs typeface="Calibri" pitchFamily="34" charset="-120"/>
              </a:rPr>
              <a:t>Contraction Expansion</a:t>
            </a:r>
            <a:endParaRPr lang="en-US" sz="1400" dirty="0"/>
          </a:p>
        </p:txBody>
      </p:sp>
      <p:sp>
        <p:nvSpPr>
          <p:cNvPr id="18" name="Shape 14"/>
          <p:cNvSpPr/>
          <p:nvPr/>
        </p:nvSpPr>
        <p:spPr>
          <a:xfrm>
            <a:off x="4735449" y="1885950"/>
            <a:ext cx="288036" cy="288036"/>
          </a:xfrm>
          <a:prstGeom prst="ellipse">
            <a:avLst/>
          </a:prstGeom>
          <a:solidFill>
            <a:srgbClr val="1B3A5C"/>
          </a:solidFill>
          <a:ln w="25400">
            <a:solidFill>
              <a:srgbClr val="FFFFFF"/>
            </a:solidFill>
            <a:prstDash val="solid"/>
          </a:ln>
        </p:spPr>
      </p:sp>
      <p:sp>
        <p:nvSpPr>
          <p:cNvPr id="19" name="Text 15"/>
          <p:cNvSpPr/>
          <p:nvPr/>
        </p:nvSpPr>
        <p:spPr>
          <a:xfrm>
            <a:off x="4735449" y="1885950"/>
            <a:ext cx="288036" cy="288036"/>
          </a:xfrm>
          <a:prstGeom prst="rect">
            <a:avLst/>
          </a:prstGeom>
          <a:noFill/>
          <a:ln/>
        </p:spPr>
        <p:txBody>
          <a:bodyPr wrap="square" lIns="0" tIns="0" rIns="0" bIns="0" rtlCol="0" anchor="ctr"/>
          <a:lstStyle/>
          <a:p>
            <a:pPr algn="ctr"/>
            <a:r>
              <a:rPr lang="en-US" sz="975" b="1" dirty="0">
                <a:solidFill>
                  <a:srgbClr val="FFFFFF"/>
                </a:solidFill>
                <a:latin typeface="Calibri" pitchFamily="34" charset="0"/>
                <a:ea typeface="Calibri" pitchFamily="34" charset="-122"/>
                <a:cs typeface="Calibri" pitchFamily="34" charset="-120"/>
              </a:rPr>
              <a:t>3</a:t>
            </a:r>
            <a:endParaRPr lang="en-US" sz="975" dirty="0"/>
          </a:p>
        </p:txBody>
      </p:sp>
      <p:sp>
        <p:nvSpPr>
          <p:cNvPr id="20" name="Shape 16"/>
          <p:cNvSpPr/>
          <p:nvPr/>
        </p:nvSpPr>
        <p:spPr>
          <a:xfrm>
            <a:off x="4166235" y="1954530"/>
            <a:ext cx="788670" cy="788670"/>
          </a:xfrm>
          <a:prstGeom prst="ellipse">
            <a:avLst/>
          </a:prstGeom>
          <a:solidFill>
            <a:srgbClr val="E4F1F3"/>
          </a:solidFill>
          <a:ln w="19050">
            <a:solidFill>
              <a:srgbClr val="1A7A8A"/>
            </a:solidFill>
            <a:prstDash val="solid"/>
          </a:ln>
          <a:effectLst>
            <a:outerShdw blurRad="63500" dist="25400" dir="5400000" algn="bl" rotWithShape="0">
              <a:srgbClr val="000000">
                <a:alpha val="12000"/>
              </a:srgbClr>
            </a:outerShdw>
          </a:effectLst>
        </p:spPr>
      </p:sp>
      <p:pic>
        <p:nvPicPr>
          <p:cNvPr id="21" name="Image 2" descr="preencoded.png"/>
          <p:cNvPicPr>
            <a:picLocks noChangeAspect="1"/>
          </p:cNvPicPr>
          <p:nvPr/>
        </p:nvPicPr>
        <p:blipFill>
          <a:blip r:embed="rId5"/>
          <a:stretch>
            <a:fillRect/>
          </a:stretch>
        </p:blipFill>
        <p:spPr>
          <a:xfrm>
            <a:off x="4383119" y="2171414"/>
            <a:ext cx="354902" cy="354902"/>
          </a:xfrm>
          <a:prstGeom prst="rect">
            <a:avLst/>
          </a:prstGeom>
        </p:spPr>
      </p:pic>
      <p:sp>
        <p:nvSpPr>
          <p:cNvPr id="22" name="Text 17"/>
          <p:cNvSpPr/>
          <p:nvPr/>
        </p:nvSpPr>
        <p:spPr>
          <a:xfrm>
            <a:off x="3926205" y="2914650"/>
            <a:ext cx="1268730" cy="514350"/>
          </a:xfrm>
          <a:prstGeom prst="rect">
            <a:avLst/>
          </a:prstGeom>
          <a:noFill/>
          <a:ln/>
        </p:spPr>
        <p:txBody>
          <a:bodyPr wrap="square" lIns="0" tIns="0" rIns="0" bIns="0" rtlCol="0" anchor="t"/>
          <a:lstStyle/>
          <a:p>
            <a:pPr algn="ctr"/>
            <a:r>
              <a:rPr lang="en-US" sz="1400" b="1" dirty="0">
                <a:solidFill>
                  <a:srgbClr val="1B3A5C"/>
                </a:solidFill>
                <a:latin typeface="Calibri" pitchFamily="34" charset="0"/>
                <a:ea typeface="Calibri" pitchFamily="34" charset="-122"/>
                <a:cs typeface="Calibri" pitchFamily="34" charset="-120"/>
              </a:rPr>
              <a:t>Punctuation Removal</a:t>
            </a:r>
            <a:endParaRPr lang="en-US" sz="1400" dirty="0"/>
          </a:p>
        </p:txBody>
      </p:sp>
      <p:sp>
        <p:nvSpPr>
          <p:cNvPr id="23" name="Shape 18"/>
          <p:cNvSpPr/>
          <p:nvPr/>
        </p:nvSpPr>
        <p:spPr>
          <a:xfrm>
            <a:off x="6578537" y="1885950"/>
            <a:ext cx="288036" cy="288036"/>
          </a:xfrm>
          <a:prstGeom prst="ellipse">
            <a:avLst/>
          </a:prstGeom>
          <a:solidFill>
            <a:srgbClr val="1B3A5C"/>
          </a:solidFill>
          <a:ln w="25400">
            <a:solidFill>
              <a:srgbClr val="FFFFFF"/>
            </a:solidFill>
            <a:prstDash val="solid"/>
          </a:ln>
        </p:spPr>
      </p:sp>
      <p:sp>
        <p:nvSpPr>
          <p:cNvPr id="24" name="Text 19"/>
          <p:cNvSpPr/>
          <p:nvPr/>
        </p:nvSpPr>
        <p:spPr>
          <a:xfrm>
            <a:off x="6578537" y="1885950"/>
            <a:ext cx="288036" cy="288036"/>
          </a:xfrm>
          <a:prstGeom prst="rect">
            <a:avLst/>
          </a:prstGeom>
          <a:noFill/>
          <a:ln/>
        </p:spPr>
        <p:txBody>
          <a:bodyPr wrap="square" lIns="0" tIns="0" rIns="0" bIns="0" rtlCol="0" anchor="ctr"/>
          <a:lstStyle/>
          <a:p>
            <a:pPr algn="ctr"/>
            <a:r>
              <a:rPr lang="en-US" sz="975" b="1" dirty="0">
                <a:solidFill>
                  <a:srgbClr val="FFFFFF"/>
                </a:solidFill>
                <a:latin typeface="Calibri" pitchFamily="34" charset="0"/>
                <a:ea typeface="Calibri" pitchFamily="34" charset="-122"/>
                <a:cs typeface="Calibri" pitchFamily="34" charset="-120"/>
              </a:rPr>
              <a:t>4</a:t>
            </a:r>
            <a:endParaRPr lang="en-US" sz="975" dirty="0"/>
          </a:p>
        </p:txBody>
      </p:sp>
      <p:sp>
        <p:nvSpPr>
          <p:cNvPr id="25" name="Shape 20"/>
          <p:cNvSpPr/>
          <p:nvPr/>
        </p:nvSpPr>
        <p:spPr>
          <a:xfrm>
            <a:off x="6009323" y="1954530"/>
            <a:ext cx="788670" cy="788670"/>
          </a:xfrm>
          <a:prstGeom prst="ellipse">
            <a:avLst/>
          </a:prstGeom>
          <a:solidFill>
            <a:srgbClr val="E4F1F3"/>
          </a:solidFill>
          <a:ln w="19050">
            <a:solidFill>
              <a:srgbClr val="1A7A8A"/>
            </a:solidFill>
            <a:prstDash val="solid"/>
          </a:ln>
          <a:effectLst>
            <a:outerShdw blurRad="63500" dist="25400" dir="5400000" algn="bl" rotWithShape="0">
              <a:srgbClr val="000000">
                <a:alpha val="12000"/>
              </a:srgbClr>
            </a:outerShdw>
          </a:effectLst>
        </p:spPr>
      </p:sp>
      <p:pic>
        <p:nvPicPr>
          <p:cNvPr id="26" name="Image 3" descr="preencoded.png"/>
          <p:cNvPicPr>
            <a:picLocks noChangeAspect="1"/>
          </p:cNvPicPr>
          <p:nvPr/>
        </p:nvPicPr>
        <p:blipFill>
          <a:blip r:embed="rId6"/>
          <a:stretch>
            <a:fillRect/>
          </a:stretch>
        </p:blipFill>
        <p:spPr>
          <a:xfrm>
            <a:off x="6226207" y="2171414"/>
            <a:ext cx="354902" cy="354902"/>
          </a:xfrm>
          <a:prstGeom prst="rect">
            <a:avLst/>
          </a:prstGeom>
        </p:spPr>
      </p:pic>
      <p:sp>
        <p:nvSpPr>
          <p:cNvPr id="27" name="Text 21"/>
          <p:cNvSpPr/>
          <p:nvPr/>
        </p:nvSpPr>
        <p:spPr>
          <a:xfrm>
            <a:off x="5769293" y="2914650"/>
            <a:ext cx="1268730" cy="514350"/>
          </a:xfrm>
          <a:prstGeom prst="rect">
            <a:avLst/>
          </a:prstGeom>
          <a:noFill/>
          <a:ln/>
        </p:spPr>
        <p:txBody>
          <a:bodyPr wrap="square" lIns="0" tIns="0" rIns="0" bIns="0" rtlCol="0" anchor="t"/>
          <a:lstStyle/>
          <a:p>
            <a:pPr algn="ctr"/>
            <a:r>
              <a:rPr lang="en-US" sz="1400" b="1" dirty="0">
                <a:solidFill>
                  <a:srgbClr val="1B3A5C"/>
                </a:solidFill>
                <a:latin typeface="Calibri" pitchFamily="34" charset="0"/>
                <a:ea typeface="Calibri" pitchFamily="34" charset="-122"/>
                <a:cs typeface="Calibri" pitchFamily="34" charset="-120"/>
              </a:rPr>
              <a:t>Stopword Removal</a:t>
            </a:r>
            <a:endParaRPr lang="en-US" sz="1400" dirty="0"/>
          </a:p>
        </p:txBody>
      </p:sp>
      <p:sp>
        <p:nvSpPr>
          <p:cNvPr id="28" name="Shape 22"/>
          <p:cNvSpPr/>
          <p:nvPr/>
        </p:nvSpPr>
        <p:spPr>
          <a:xfrm>
            <a:off x="8421624" y="1885950"/>
            <a:ext cx="288036" cy="288036"/>
          </a:xfrm>
          <a:prstGeom prst="ellipse">
            <a:avLst/>
          </a:prstGeom>
          <a:solidFill>
            <a:srgbClr val="1B3A5C"/>
          </a:solidFill>
          <a:ln w="25400">
            <a:solidFill>
              <a:srgbClr val="FFFFFF"/>
            </a:solidFill>
            <a:prstDash val="solid"/>
          </a:ln>
        </p:spPr>
      </p:sp>
      <p:sp>
        <p:nvSpPr>
          <p:cNvPr id="29" name="Text 23"/>
          <p:cNvSpPr/>
          <p:nvPr/>
        </p:nvSpPr>
        <p:spPr>
          <a:xfrm>
            <a:off x="8421624" y="1885950"/>
            <a:ext cx="288036" cy="288036"/>
          </a:xfrm>
          <a:prstGeom prst="rect">
            <a:avLst/>
          </a:prstGeom>
          <a:noFill/>
          <a:ln/>
        </p:spPr>
        <p:txBody>
          <a:bodyPr wrap="square" lIns="0" tIns="0" rIns="0" bIns="0" rtlCol="0" anchor="ctr"/>
          <a:lstStyle/>
          <a:p>
            <a:pPr algn="ctr"/>
            <a:r>
              <a:rPr lang="en-US" sz="975" b="1" dirty="0">
                <a:solidFill>
                  <a:srgbClr val="FFFFFF"/>
                </a:solidFill>
                <a:latin typeface="Calibri" pitchFamily="34" charset="0"/>
                <a:ea typeface="Calibri" pitchFamily="34" charset="-122"/>
                <a:cs typeface="Calibri" pitchFamily="34" charset="-120"/>
              </a:rPr>
              <a:t>5</a:t>
            </a:r>
            <a:endParaRPr lang="en-US" sz="975" dirty="0"/>
          </a:p>
        </p:txBody>
      </p:sp>
      <p:sp>
        <p:nvSpPr>
          <p:cNvPr id="30" name="Shape 24"/>
          <p:cNvSpPr/>
          <p:nvPr/>
        </p:nvSpPr>
        <p:spPr>
          <a:xfrm>
            <a:off x="7852410" y="1954530"/>
            <a:ext cx="788670" cy="788670"/>
          </a:xfrm>
          <a:prstGeom prst="ellipse">
            <a:avLst/>
          </a:prstGeom>
          <a:solidFill>
            <a:srgbClr val="E4F1F3"/>
          </a:solidFill>
          <a:ln w="19050">
            <a:solidFill>
              <a:srgbClr val="1A7A8A"/>
            </a:solidFill>
            <a:prstDash val="solid"/>
          </a:ln>
          <a:effectLst>
            <a:outerShdw blurRad="63500" dist="25400" dir="5400000" algn="bl" rotWithShape="0">
              <a:srgbClr val="000000">
                <a:alpha val="12000"/>
              </a:srgbClr>
            </a:outerShdw>
          </a:effectLst>
        </p:spPr>
      </p:sp>
      <p:pic>
        <p:nvPicPr>
          <p:cNvPr id="31" name="Image 4" descr="preencoded.png"/>
          <p:cNvPicPr>
            <a:picLocks noChangeAspect="1"/>
          </p:cNvPicPr>
          <p:nvPr/>
        </p:nvPicPr>
        <p:blipFill>
          <a:blip r:embed="rId7"/>
          <a:stretch>
            <a:fillRect/>
          </a:stretch>
        </p:blipFill>
        <p:spPr>
          <a:xfrm>
            <a:off x="8069294" y="2171414"/>
            <a:ext cx="354902" cy="354902"/>
          </a:xfrm>
          <a:prstGeom prst="rect">
            <a:avLst/>
          </a:prstGeom>
        </p:spPr>
      </p:pic>
      <p:sp>
        <p:nvSpPr>
          <p:cNvPr id="32" name="Text 25"/>
          <p:cNvSpPr/>
          <p:nvPr/>
        </p:nvSpPr>
        <p:spPr>
          <a:xfrm>
            <a:off x="7612380" y="2914650"/>
            <a:ext cx="1268730" cy="514350"/>
          </a:xfrm>
          <a:prstGeom prst="rect">
            <a:avLst/>
          </a:prstGeom>
          <a:noFill/>
          <a:ln/>
        </p:spPr>
        <p:txBody>
          <a:bodyPr wrap="square" lIns="0" tIns="0" rIns="0" bIns="0" rtlCol="0" anchor="t"/>
          <a:lstStyle/>
          <a:p>
            <a:pPr algn="ctr"/>
            <a:r>
              <a:rPr lang="en-US" sz="1400" b="1" dirty="0">
                <a:solidFill>
                  <a:srgbClr val="1B3A5C"/>
                </a:solidFill>
                <a:latin typeface="Calibri" pitchFamily="34" charset="0"/>
                <a:ea typeface="Calibri" pitchFamily="34" charset="-122"/>
                <a:cs typeface="Calibri" pitchFamily="34" charset="-120"/>
              </a:rPr>
              <a:t>Lemmatisation</a:t>
            </a:r>
            <a:endParaRPr lang="en-US" sz="1400" dirty="0"/>
          </a:p>
        </p:txBody>
      </p:sp>
      <p:sp>
        <p:nvSpPr>
          <p:cNvPr id="33" name="Text 26"/>
          <p:cNvSpPr/>
          <p:nvPr/>
        </p:nvSpPr>
        <p:spPr>
          <a:xfrm>
            <a:off x="1049274" y="3823334"/>
            <a:ext cx="8161020" cy="342900"/>
          </a:xfrm>
          <a:prstGeom prst="rect">
            <a:avLst/>
          </a:prstGeom>
          <a:noFill/>
          <a:ln/>
        </p:spPr>
        <p:txBody>
          <a:bodyPr wrap="square" lIns="0" tIns="0" rIns="0" bIns="0" rtlCol="0" anchor="t"/>
          <a:lstStyle/>
          <a:p>
            <a:pPr>
              <a:lnSpc>
                <a:spcPct val="120000"/>
              </a:lnSpc>
            </a:pPr>
            <a:r>
              <a:rPr lang="en-US" sz="1200" dirty="0">
                <a:latin typeface="Calibri" panose="020F0502020204030204" pitchFamily="34" charset="0"/>
                <a:ea typeface="Calibri" panose="020F0502020204030204" pitchFamily="34" charset="0"/>
                <a:cs typeface="Calibri" panose="020F0502020204030204" pitchFamily="34" charset="0"/>
              </a:rPr>
              <a:t>Each</a:t>
            </a:r>
            <a:r>
              <a:rPr lang="en-US" sz="1200" dirty="0">
                <a:solidFill>
                  <a:srgbClr val="2A2A2A"/>
                </a:solidFill>
                <a:latin typeface="Calibri" panose="020F0502020204030204" pitchFamily="34" charset="0"/>
                <a:ea typeface="Calibri" panose="020F0502020204030204" pitchFamily="34" charset="0"/>
                <a:cs typeface="Calibri" panose="020F0502020204030204" pitchFamily="34" charset="0"/>
              </a:rPr>
              <a:t> step feeds into the next, progressively normalizing raw social media text ahead of TF-IDF vectorization.</a:t>
            </a:r>
            <a:endParaRPr lang="en-US" sz="1200" dirty="0">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73152"/>
          </a:xfrm>
          <a:prstGeom prst="rect">
            <a:avLst/>
          </a:prstGeom>
          <a:solidFill>
            <a:srgbClr val="028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065776"/>
            <a:ext cx="9144000" cy="82296"/>
          </a:xfrm>
          <a:prstGeom prst="rect">
            <a:avLst/>
          </a:prstGeom>
          <a:solidFill>
            <a:srgbClr val="028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37160"/>
            <a:ext cx="8229600" cy="530352"/>
          </a:xfrm>
          <a:prstGeom prst="rect">
            <a:avLst/>
          </a:prstGeom>
          <a:noFill/>
        </p:spPr>
        <p:txBody>
          <a:bodyPr wrap="square">
            <a:spAutoFit/>
          </a:bodyPr>
          <a:lstStyle/>
          <a:p>
            <a:pPr algn="l"/>
            <a:r>
              <a:rPr sz="2400" b="1" i="0">
                <a:solidFill>
                  <a:srgbClr val="1B2A4A"/>
                </a:solidFill>
                <a:latin typeface="Calibri"/>
              </a:rPr>
              <a:t>Data Modelling</a:t>
            </a:r>
          </a:p>
        </p:txBody>
      </p:sp>
      <p:sp>
        <p:nvSpPr>
          <p:cNvPr id="5" name="Rectangle 4"/>
          <p:cNvSpPr/>
          <p:nvPr/>
        </p:nvSpPr>
        <p:spPr>
          <a:xfrm>
            <a:off x="347207" y="801889"/>
            <a:ext cx="8695944" cy="182880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11480" y="896112"/>
            <a:ext cx="3931920" cy="320040"/>
          </a:xfrm>
          <a:prstGeom prst="rect">
            <a:avLst/>
          </a:prstGeom>
          <a:noFill/>
        </p:spPr>
        <p:txBody>
          <a:bodyPr wrap="square">
            <a:spAutoFit/>
          </a:bodyPr>
          <a:lstStyle/>
          <a:p>
            <a:pPr algn="l"/>
            <a:r>
              <a:rPr sz="1400" b="1" i="0" dirty="0">
                <a:solidFill>
                  <a:srgbClr val="028090"/>
                </a:solidFill>
                <a:latin typeface="Calibri"/>
              </a:rPr>
              <a:t>Train Test Split</a:t>
            </a:r>
          </a:p>
        </p:txBody>
      </p:sp>
      <p:sp>
        <p:nvSpPr>
          <p:cNvPr id="7" name="Rectangle 6"/>
          <p:cNvSpPr/>
          <p:nvPr/>
        </p:nvSpPr>
        <p:spPr>
          <a:xfrm>
            <a:off x="411480" y="1280160"/>
            <a:ext cx="3886200" cy="3108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8" name="TextBox 7"/>
          <p:cNvSpPr txBox="1"/>
          <p:nvPr/>
        </p:nvSpPr>
        <p:spPr>
          <a:xfrm>
            <a:off x="457200" y="1316736"/>
            <a:ext cx="2853004" cy="307777"/>
          </a:xfrm>
          <a:prstGeom prst="rect">
            <a:avLst/>
          </a:prstGeom>
          <a:noFill/>
        </p:spPr>
        <p:txBody>
          <a:bodyPr wrap="square">
            <a:spAutoFit/>
          </a:bodyPr>
          <a:lstStyle/>
          <a:p>
            <a:pPr algn="l"/>
            <a:r>
              <a:rPr sz="1400" b="1" i="0" dirty="0">
                <a:solidFill>
                  <a:srgbClr val="1B2A4A"/>
                </a:solidFill>
                <a:latin typeface="Calibri"/>
              </a:rPr>
              <a:t>Training set (80%)</a:t>
            </a:r>
          </a:p>
        </p:txBody>
      </p:sp>
      <p:sp>
        <p:nvSpPr>
          <p:cNvPr id="9" name="TextBox 8"/>
          <p:cNvSpPr txBox="1"/>
          <p:nvPr/>
        </p:nvSpPr>
        <p:spPr>
          <a:xfrm>
            <a:off x="2331720" y="1316736"/>
            <a:ext cx="2995654" cy="276999"/>
          </a:xfrm>
          <a:prstGeom prst="rect">
            <a:avLst/>
          </a:prstGeom>
          <a:noFill/>
        </p:spPr>
        <p:txBody>
          <a:bodyPr wrap="square">
            <a:spAutoFit/>
          </a:bodyPr>
          <a:lstStyle/>
          <a:p>
            <a:pPr algn="l"/>
            <a:r>
              <a:rPr sz="1200" b="0" i="0">
                <a:solidFill>
                  <a:srgbClr val="64748B"/>
                </a:solidFill>
                <a:latin typeface="Calibri"/>
              </a:rPr>
              <a:t>8,040 rows</a:t>
            </a:r>
          </a:p>
        </p:txBody>
      </p:sp>
      <p:sp>
        <p:nvSpPr>
          <p:cNvPr id="10" name="Rectangle 9"/>
          <p:cNvSpPr/>
          <p:nvPr/>
        </p:nvSpPr>
        <p:spPr>
          <a:xfrm>
            <a:off x="411480" y="1609343"/>
            <a:ext cx="8558784" cy="310896"/>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7200" y="1645919"/>
            <a:ext cx="2853004" cy="307777"/>
          </a:xfrm>
          <a:prstGeom prst="rect">
            <a:avLst/>
          </a:prstGeom>
          <a:noFill/>
        </p:spPr>
        <p:txBody>
          <a:bodyPr wrap="square">
            <a:spAutoFit/>
          </a:bodyPr>
          <a:lstStyle/>
          <a:p>
            <a:pPr algn="l"/>
            <a:r>
              <a:rPr sz="1400" b="1" i="0">
                <a:solidFill>
                  <a:srgbClr val="1B2A4A"/>
                </a:solidFill>
                <a:latin typeface="Calibri"/>
              </a:rPr>
              <a:t>Test set (20%)</a:t>
            </a:r>
          </a:p>
        </p:txBody>
      </p:sp>
      <p:sp>
        <p:nvSpPr>
          <p:cNvPr id="12" name="TextBox 11"/>
          <p:cNvSpPr txBox="1"/>
          <p:nvPr/>
        </p:nvSpPr>
        <p:spPr>
          <a:xfrm>
            <a:off x="2331720" y="1645919"/>
            <a:ext cx="2995654" cy="276999"/>
          </a:xfrm>
          <a:prstGeom prst="rect">
            <a:avLst/>
          </a:prstGeom>
          <a:noFill/>
        </p:spPr>
        <p:txBody>
          <a:bodyPr wrap="square">
            <a:spAutoFit/>
          </a:bodyPr>
          <a:lstStyle/>
          <a:p>
            <a:pPr algn="l"/>
            <a:r>
              <a:rPr sz="1200" b="0" i="0">
                <a:solidFill>
                  <a:srgbClr val="64748B"/>
                </a:solidFill>
                <a:latin typeface="Calibri"/>
              </a:rPr>
              <a:t>2,010 rows</a:t>
            </a:r>
          </a:p>
        </p:txBody>
      </p:sp>
      <p:sp>
        <p:nvSpPr>
          <p:cNvPr id="13" name="Rectangle 12"/>
          <p:cNvSpPr/>
          <p:nvPr/>
        </p:nvSpPr>
        <p:spPr>
          <a:xfrm>
            <a:off x="411479" y="1938527"/>
            <a:ext cx="6062633" cy="3108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14" name="TextBox 13"/>
          <p:cNvSpPr txBox="1"/>
          <p:nvPr/>
        </p:nvSpPr>
        <p:spPr>
          <a:xfrm>
            <a:off x="457200" y="1975103"/>
            <a:ext cx="2853004" cy="307777"/>
          </a:xfrm>
          <a:prstGeom prst="rect">
            <a:avLst/>
          </a:prstGeom>
          <a:noFill/>
        </p:spPr>
        <p:txBody>
          <a:bodyPr wrap="square">
            <a:spAutoFit/>
          </a:bodyPr>
          <a:lstStyle/>
          <a:p>
            <a:pPr algn="l"/>
            <a:r>
              <a:rPr sz="1400" b="1" i="0">
                <a:solidFill>
                  <a:srgbClr val="1B2A4A"/>
                </a:solidFill>
                <a:latin typeface="Calibri"/>
              </a:rPr>
              <a:t>Strategy</a:t>
            </a:r>
          </a:p>
        </p:txBody>
      </p:sp>
      <p:sp>
        <p:nvSpPr>
          <p:cNvPr id="15" name="TextBox 14"/>
          <p:cNvSpPr txBox="1"/>
          <p:nvPr/>
        </p:nvSpPr>
        <p:spPr>
          <a:xfrm>
            <a:off x="2331720" y="1975103"/>
            <a:ext cx="2995654" cy="276999"/>
          </a:xfrm>
          <a:prstGeom prst="rect">
            <a:avLst/>
          </a:prstGeom>
          <a:noFill/>
        </p:spPr>
        <p:txBody>
          <a:bodyPr wrap="square">
            <a:spAutoFit/>
          </a:bodyPr>
          <a:lstStyle/>
          <a:p>
            <a:pPr algn="l"/>
            <a:r>
              <a:rPr sz="1200" b="0" i="0">
                <a:solidFill>
                  <a:srgbClr val="64748B"/>
                </a:solidFill>
                <a:latin typeface="Calibri"/>
              </a:rPr>
              <a:t>Stratified split</a:t>
            </a:r>
          </a:p>
        </p:txBody>
      </p:sp>
      <p:sp>
        <p:nvSpPr>
          <p:cNvPr id="16" name="Rectangle 15"/>
          <p:cNvSpPr/>
          <p:nvPr/>
        </p:nvSpPr>
        <p:spPr>
          <a:xfrm>
            <a:off x="411479" y="2267711"/>
            <a:ext cx="8558783" cy="310896"/>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57200" y="2304287"/>
            <a:ext cx="2853004" cy="307777"/>
          </a:xfrm>
          <a:prstGeom prst="rect">
            <a:avLst/>
          </a:prstGeom>
          <a:noFill/>
        </p:spPr>
        <p:txBody>
          <a:bodyPr wrap="square">
            <a:spAutoFit/>
          </a:bodyPr>
          <a:lstStyle/>
          <a:p>
            <a:pPr algn="l"/>
            <a:r>
              <a:rPr sz="1400" b="1" i="0">
                <a:solidFill>
                  <a:srgbClr val="1B2A4A"/>
                </a:solidFill>
                <a:latin typeface="Calibri"/>
              </a:rPr>
              <a:t>TF-IDF fitted on</a:t>
            </a:r>
          </a:p>
        </p:txBody>
      </p:sp>
      <p:sp>
        <p:nvSpPr>
          <p:cNvPr id="18" name="TextBox 17"/>
          <p:cNvSpPr txBox="1"/>
          <p:nvPr/>
        </p:nvSpPr>
        <p:spPr>
          <a:xfrm>
            <a:off x="2331720" y="2284409"/>
            <a:ext cx="2995654" cy="276999"/>
          </a:xfrm>
          <a:prstGeom prst="rect">
            <a:avLst/>
          </a:prstGeom>
          <a:noFill/>
        </p:spPr>
        <p:txBody>
          <a:bodyPr wrap="square">
            <a:spAutoFit/>
          </a:bodyPr>
          <a:lstStyle/>
          <a:p>
            <a:pPr algn="l"/>
            <a:r>
              <a:rPr sz="1200" b="0" i="0" dirty="0">
                <a:solidFill>
                  <a:srgbClr val="64748B"/>
                </a:solidFill>
                <a:latin typeface="Calibri"/>
              </a:rPr>
              <a:t>Training data only — no leakage</a:t>
            </a:r>
          </a:p>
        </p:txBody>
      </p:sp>
      <p:sp>
        <p:nvSpPr>
          <p:cNvPr id="31" name="TextBox 30"/>
          <p:cNvSpPr txBox="1"/>
          <p:nvPr/>
        </p:nvSpPr>
        <p:spPr>
          <a:xfrm>
            <a:off x="274320" y="2788920"/>
            <a:ext cx="8595360" cy="274320"/>
          </a:xfrm>
          <a:prstGeom prst="rect">
            <a:avLst/>
          </a:prstGeom>
          <a:noFill/>
        </p:spPr>
        <p:txBody>
          <a:bodyPr wrap="square">
            <a:spAutoFit/>
          </a:bodyPr>
          <a:lstStyle/>
          <a:p>
            <a:pPr algn="l"/>
            <a:r>
              <a:rPr sz="1200" b="1" i="0">
                <a:solidFill>
                  <a:srgbClr val="028090"/>
                </a:solidFill>
                <a:latin typeface="Calibri"/>
              </a:rPr>
              <a:t>Classification Models</a:t>
            </a:r>
          </a:p>
        </p:txBody>
      </p:sp>
      <p:sp>
        <p:nvSpPr>
          <p:cNvPr id="32" name="Rectangle 31"/>
          <p:cNvSpPr/>
          <p:nvPr/>
        </p:nvSpPr>
        <p:spPr>
          <a:xfrm>
            <a:off x="274320" y="3108960"/>
            <a:ext cx="2057400" cy="86868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33" name="Rectangle 32"/>
          <p:cNvSpPr/>
          <p:nvPr/>
        </p:nvSpPr>
        <p:spPr>
          <a:xfrm>
            <a:off x="274320" y="3108960"/>
            <a:ext cx="2057400" cy="292608"/>
          </a:xfrm>
          <a:prstGeom prst="rect">
            <a:avLst/>
          </a:prstGeom>
          <a:solidFill>
            <a:srgbClr val="7EB3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34" name="TextBox 33"/>
          <p:cNvSpPr txBox="1"/>
          <p:nvPr/>
        </p:nvSpPr>
        <p:spPr>
          <a:xfrm>
            <a:off x="320040" y="3108960"/>
            <a:ext cx="1965960" cy="276999"/>
          </a:xfrm>
          <a:prstGeom prst="rect">
            <a:avLst/>
          </a:prstGeom>
          <a:noFill/>
        </p:spPr>
        <p:txBody>
          <a:bodyPr wrap="square">
            <a:spAutoFit/>
          </a:bodyPr>
          <a:lstStyle/>
          <a:p>
            <a:pPr algn="ctr"/>
            <a:r>
              <a:rPr sz="1200" b="1" i="0">
                <a:solidFill>
                  <a:srgbClr val="FFFFFF"/>
                </a:solidFill>
                <a:latin typeface="Calibri"/>
              </a:rPr>
              <a:t>Logistic Regression</a:t>
            </a:r>
          </a:p>
        </p:txBody>
      </p:sp>
      <p:sp>
        <p:nvSpPr>
          <p:cNvPr id="35" name="TextBox 34"/>
          <p:cNvSpPr txBox="1"/>
          <p:nvPr/>
        </p:nvSpPr>
        <p:spPr>
          <a:xfrm>
            <a:off x="365760" y="3438144"/>
            <a:ext cx="1874519" cy="276999"/>
          </a:xfrm>
          <a:prstGeom prst="rect">
            <a:avLst/>
          </a:prstGeom>
          <a:noFill/>
        </p:spPr>
        <p:txBody>
          <a:bodyPr wrap="square">
            <a:spAutoFit/>
          </a:bodyPr>
          <a:lstStyle/>
          <a:p>
            <a:pPr algn="l"/>
            <a:r>
              <a:rPr sz="1200" b="0" i="0">
                <a:solidFill>
                  <a:srgbClr val="64748B"/>
                </a:solidFill>
                <a:latin typeface="Calibri"/>
              </a:rPr>
              <a:t>Type: Interpretable</a:t>
            </a:r>
          </a:p>
        </p:txBody>
      </p:sp>
      <p:sp>
        <p:nvSpPr>
          <p:cNvPr id="36" name="Rectangle 35"/>
          <p:cNvSpPr/>
          <p:nvPr/>
        </p:nvSpPr>
        <p:spPr>
          <a:xfrm>
            <a:off x="2487168" y="3108960"/>
            <a:ext cx="2057400" cy="86868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37" name="Rectangle 36"/>
          <p:cNvSpPr/>
          <p:nvPr/>
        </p:nvSpPr>
        <p:spPr>
          <a:xfrm>
            <a:off x="2487168" y="3108960"/>
            <a:ext cx="2057400" cy="292608"/>
          </a:xfrm>
          <a:prstGeom prst="rect">
            <a:avLst/>
          </a:prstGeom>
          <a:solidFill>
            <a:srgbClr val="80C9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38" name="TextBox 37"/>
          <p:cNvSpPr txBox="1"/>
          <p:nvPr/>
        </p:nvSpPr>
        <p:spPr>
          <a:xfrm>
            <a:off x="2532887" y="3108960"/>
            <a:ext cx="1965960" cy="276999"/>
          </a:xfrm>
          <a:prstGeom prst="rect">
            <a:avLst/>
          </a:prstGeom>
          <a:noFill/>
        </p:spPr>
        <p:txBody>
          <a:bodyPr wrap="square">
            <a:spAutoFit/>
          </a:bodyPr>
          <a:lstStyle/>
          <a:p>
            <a:pPr algn="ctr"/>
            <a:r>
              <a:rPr sz="1200" b="1" i="0">
                <a:solidFill>
                  <a:srgbClr val="FFFFFF"/>
                </a:solidFill>
                <a:latin typeface="Calibri"/>
              </a:rPr>
              <a:t>Naive Bayes</a:t>
            </a:r>
          </a:p>
        </p:txBody>
      </p:sp>
      <p:sp>
        <p:nvSpPr>
          <p:cNvPr id="39" name="TextBox 38"/>
          <p:cNvSpPr txBox="1"/>
          <p:nvPr/>
        </p:nvSpPr>
        <p:spPr>
          <a:xfrm>
            <a:off x="2578608" y="3438144"/>
            <a:ext cx="1874519" cy="276999"/>
          </a:xfrm>
          <a:prstGeom prst="rect">
            <a:avLst/>
          </a:prstGeom>
          <a:noFill/>
        </p:spPr>
        <p:txBody>
          <a:bodyPr wrap="square">
            <a:spAutoFit/>
          </a:bodyPr>
          <a:lstStyle/>
          <a:p>
            <a:pPr algn="l"/>
            <a:r>
              <a:rPr sz="1200" b="0" i="0">
                <a:solidFill>
                  <a:srgbClr val="64748B"/>
                </a:solidFill>
                <a:latin typeface="Calibri"/>
              </a:rPr>
              <a:t>Type: Interpretable</a:t>
            </a:r>
          </a:p>
        </p:txBody>
      </p:sp>
      <p:sp>
        <p:nvSpPr>
          <p:cNvPr id="40" name="Rectangle 39"/>
          <p:cNvSpPr/>
          <p:nvPr/>
        </p:nvSpPr>
        <p:spPr>
          <a:xfrm>
            <a:off x="4700016" y="3108960"/>
            <a:ext cx="2057400" cy="86868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41" name="Rectangle 40"/>
          <p:cNvSpPr/>
          <p:nvPr/>
        </p:nvSpPr>
        <p:spPr>
          <a:xfrm>
            <a:off x="4700016" y="3108960"/>
            <a:ext cx="2057400" cy="292608"/>
          </a:xfrm>
          <a:prstGeom prst="rect">
            <a:avLst/>
          </a:prstGeom>
          <a:solidFill>
            <a:srgbClr val="E88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42" name="TextBox 41"/>
          <p:cNvSpPr txBox="1"/>
          <p:nvPr/>
        </p:nvSpPr>
        <p:spPr>
          <a:xfrm>
            <a:off x="4745736" y="3108960"/>
            <a:ext cx="1965960" cy="276999"/>
          </a:xfrm>
          <a:prstGeom prst="rect">
            <a:avLst/>
          </a:prstGeom>
          <a:noFill/>
        </p:spPr>
        <p:txBody>
          <a:bodyPr wrap="square">
            <a:spAutoFit/>
          </a:bodyPr>
          <a:lstStyle/>
          <a:p>
            <a:pPr algn="ctr"/>
            <a:r>
              <a:rPr sz="1200" b="1" i="0" dirty="0">
                <a:solidFill>
                  <a:srgbClr val="FFFFFF"/>
                </a:solidFill>
                <a:latin typeface="Calibri"/>
              </a:rPr>
              <a:t>SVM</a:t>
            </a:r>
          </a:p>
        </p:txBody>
      </p:sp>
      <p:sp>
        <p:nvSpPr>
          <p:cNvPr id="43" name="TextBox 42"/>
          <p:cNvSpPr txBox="1"/>
          <p:nvPr/>
        </p:nvSpPr>
        <p:spPr>
          <a:xfrm>
            <a:off x="4791455" y="3438144"/>
            <a:ext cx="1874519" cy="276999"/>
          </a:xfrm>
          <a:prstGeom prst="rect">
            <a:avLst/>
          </a:prstGeom>
          <a:noFill/>
        </p:spPr>
        <p:txBody>
          <a:bodyPr wrap="square">
            <a:spAutoFit/>
          </a:bodyPr>
          <a:lstStyle/>
          <a:p>
            <a:pPr algn="l"/>
            <a:r>
              <a:rPr sz="1200" b="0" i="0">
                <a:solidFill>
                  <a:srgbClr val="64748B"/>
                </a:solidFill>
                <a:latin typeface="Calibri"/>
              </a:rPr>
              <a:t>Type: Black Box</a:t>
            </a:r>
          </a:p>
        </p:txBody>
      </p:sp>
      <p:sp>
        <p:nvSpPr>
          <p:cNvPr id="44" name="Rectangle 43"/>
          <p:cNvSpPr/>
          <p:nvPr/>
        </p:nvSpPr>
        <p:spPr>
          <a:xfrm>
            <a:off x="6912864" y="3108960"/>
            <a:ext cx="2057400" cy="86868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45" name="Rectangle 44"/>
          <p:cNvSpPr/>
          <p:nvPr/>
        </p:nvSpPr>
        <p:spPr>
          <a:xfrm>
            <a:off x="6912864" y="3108960"/>
            <a:ext cx="2057400" cy="292608"/>
          </a:xfrm>
          <a:prstGeom prst="rect">
            <a:avLst/>
          </a:prstGeom>
          <a:solidFill>
            <a:srgbClr val="B39D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46" name="TextBox 45"/>
          <p:cNvSpPr txBox="1"/>
          <p:nvPr/>
        </p:nvSpPr>
        <p:spPr>
          <a:xfrm>
            <a:off x="6958583" y="3108960"/>
            <a:ext cx="1965960" cy="276999"/>
          </a:xfrm>
          <a:prstGeom prst="rect">
            <a:avLst/>
          </a:prstGeom>
          <a:noFill/>
        </p:spPr>
        <p:txBody>
          <a:bodyPr wrap="square">
            <a:spAutoFit/>
          </a:bodyPr>
          <a:lstStyle/>
          <a:p>
            <a:pPr algn="ctr"/>
            <a:r>
              <a:rPr sz="1200" b="1" i="0">
                <a:solidFill>
                  <a:srgbClr val="FFFFFF"/>
                </a:solidFill>
                <a:latin typeface="Calibri"/>
              </a:rPr>
              <a:t>Random Forest</a:t>
            </a:r>
          </a:p>
        </p:txBody>
      </p:sp>
      <p:sp>
        <p:nvSpPr>
          <p:cNvPr id="47" name="TextBox 46"/>
          <p:cNvSpPr txBox="1"/>
          <p:nvPr/>
        </p:nvSpPr>
        <p:spPr>
          <a:xfrm>
            <a:off x="7004303" y="3438144"/>
            <a:ext cx="1874519" cy="276999"/>
          </a:xfrm>
          <a:prstGeom prst="rect">
            <a:avLst/>
          </a:prstGeom>
          <a:noFill/>
        </p:spPr>
        <p:txBody>
          <a:bodyPr wrap="square">
            <a:spAutoFit/>
          </a:bodyPr>
          <a:lstStyle/>
          <a:p>
            <a:pPr algn="l"/>
            <a:r>
              <a:rPr sz="1200" b="0" i="0">
                <a:solidFill>
                  <a:srgbClr val="64748B"/>
                </a:solidFill>
                <a:latin typeface="Calibri"/>
              </a:rPr>
              <a:t>Type: Black Box</a:t>
            </a:r>
          </a:p>
        </p:txBody>
      </p:sp>
      <p:sp>
        <p:nvSpPr>
          <p:cNvPr id="48" name="Rectangle 47"/>
          <p:cNvSpPr/>
          <p:nvPr/>
        </p:nvSpPr>
        <p:spPr>
          <a:xfrm>
            <a:off x="274320" y="4114800"/>
            <a:ext cx="8595360" cy="749808"/>
          </a:xfrm>
          <a:prstGeom prst="rect">
            <a:avLst/>
          </a:prstGeom>
          <a:solidFill>
            <a:srgbClr val="E8F4F8"/>
          </a:solidFill>
          <a:ln w="6350">
            <a:solidFill>
              <a:srgbClr val="02809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49" name="TextBox 48"/>
          <p:cNvSpPr txBox="1"/>
          <p:nvPr/>
        </p:nvSpPr>
        <p:spPr>
          <a:xfrm>
            <a:off x="457200" y="4169663"/>
            <a:ext cx="2011680" cy="261610"/>
          </a:xfrm>
          <a:prstGeom prst="rect">
            <a:avLst/>
          </a:prstGeom>
          <a:noFill/>
        </p:spPr>
        <p:txBody>
          <a:bodyPr wrap="square">
            <a:spAutoFit/>
          </a:bodyPr>
          <a:lstStyle/>
          <a:p>
            <a:pPr algn="l"/>
            <a:r>
              <a:rPr sz="1100" b="1" i="0" dirty="0">
                <a:solidFill>
                  <a:srgbClr val="028090"/>
                </a:solidFill>
                <a:latin typeface="Calibri"/>
              </a:rPr>
              <a:t>Grid Search</a:t>
            </a:r>
          </a:p>
        </p:txBody>
      </p:sp>
      <p:sp>
        <p:nvSpPr>
          <p:cNvPr id="50" name="TextBox 49"/>
          <p:cNvSpPr txBox="1"/>
          <p:nvPr/>
        </p:nvSpPr>
        <p:spPr>
          <a:xfrm>
            <a:off x="457200" y="4443984"/>
            <a:ext cx="2011680" cy="261610"/>
          </a:xfrm>
          <a:prstGeom prst="rect">
            <a:avLst/>
          </a:prstGeom>
          <a:noFill/>
        </p:spPr>
        <p:txBody>
          <a:bodyPr wrap="square">
            <a:spAutoFit/>
          </a:bodyPr>
          <a:lstStyle/>
          <a:p>
            <a:pPr algn="l"/>
            <a:r>
              <a:rPr sz="1100" b="0" i="0">
                <a:solidFill>
                  <a:srgbClr val="1B2A4A"/>
                </a:solidFill>
                <a:latin typeface="Calibri"/>
              </a:rPr>
              <a:t>Hyperparameter optimisation</a:t>
            </a:r>
          </a:p>
        </p:txBody>
      </p:sp>
      <p:sp>
        <p:nvSpPr>
          <p:cNvPr id="51" name="TextBox 50"/>
          <p:cNvSpPr txBox="1"/>
          <p:nvPr/>
        </p:nvSpPr>
        <p:spPr>
          <a:xfrm>
            <a:off x="2606040" y="4169663"/>
            <a:ext cx="2011680" cy="261610"/>
          </a:xfrm>
          <a:prstGeom prst="rect">
            <a:avLst/>
          </a:prstGeom>
          <a:noFill/>
        </p:spPr>
        <p:txBody>
          <a:bodyPr wrap="square">
            <a:spAutoFit/>
          </a:bodyPr>
          <a:lstStyle/>
          <a:p>
            <a:pPr algn="l"/>
            <a:r>
              <a:rPr sz="1100" b="1" i="0">
                <a:solidFill>
                  <a:srgbClr val="028090"/>
                </a:solidFill>
                <a:latin typeface="Calibri"/>
              </a:rPr>
              <a:t>5-Fold Stratified CV</a:t>
            </a:r>
          </a:p>
        </p:txBody>
      </p:sp>
      <p:sp>
        <p:nvSpPr>
          <p:cNvPr id="52" name="TextBox 51"/>
          <p:cNvSpPr txBox="1"/>
          <p:nvPr/>
        </p:nvSpPr>
        <p:spPr>
          <a:xfrm>
            <a:off x="2606040" y="4443984"/>
            <a:ext cx="2011680" cy="261610"/>
          </a:xfrm>
          <a:prstGeom prst="rect">
            <a:avLst/>
          </a:prstGeom>
          <a:noFill/>
        </p:spPr>
        <p:txBody>
          <a:bodyPr wrap="square">
            <a:spAutoFit/>
          </a:bodyPr>
          <a:lstStyle/>
          <a:p>
            <a:pPr algn="l"/>
            <a:r>
              <a:rPr sz="1100" b="0" i="0">
                <a:solidFill>
                  <a:srgbClr val="1B2A4A"/>
                </a:solidFill>
                <a:latin typeface="Calibri"/>
              </a:rPr>
              <a:t>Validation strategy</a:t>
            </a:r>
          </a:p>
        </p:txBody>
      </p:sp>
      <p:sp>
        <p:nvSpPr>
          <p:cNvPr id="53" name="TextBox 52"/>
          <p:cNvSpPr txBox="1"/>
          <p:nvPr/>
        </p:nvSpPr>
        <p:spPr>
          <a:xfrm>
            <a:off x="4754880" y="4169663"/>
            <a:ext cx="2011680" cy="261610"/>
          </a:xfrm>
          <a:prstGeom prst="rect">
            <a:avLst/>
          </a:prstGeom>
          <a:noFill/>
        </p:spPr>
        <p:txBody>
          <a:bodyPr wrap="square">
            <a:spAutoFit/>
          </a:bodyPr>
          <a:lstStyle/>
          <a:p>
            <a:pPr algn="l"/>
            <a:r>
              <a:rPr lang="en-US" sz="1100" b="1" dirty="0">
                <a:solidFill>
                  <a:srgbClr val="028090"/>
                </a:solidFill>
                <a:latin typeface="Calibri"/>
              </a:rPr>
              <a:t>3 Features</a:t>
            </a:r>
            <a:endParaRPr sz="1100" b="1" i="0" dirty="0">
              <a:solidFill>
                <a:srgbClr val="028090"/>
              </a:solidFill>
              <a:latin typeface="Calibri"/>
            </a:endParaRPr>
          </a:p>
        </p:txBody>
      </p:sp>
      <p:sp>
        <p:nvSpPr>
          <p:cNvPr id="54" name="TextBox 53"/>
          <p:cNvSpPr txBox="1"/>
          <p:nvPr/>
        </p:nvSpPr>
        <p:spPr>
          <a:xfrm>
            <a:off x="4754880" y="4443984"/>
            <a:ext cx="2157984" cy="261610"/>
          </a:xfrm>
          <a:prstGeom prst="rect">
            <a:avLst/>
          </a:prstGeom>
          <a:noFill/>
        </p:spPr>
        <p:txBody>
          <a:bodyPr wrap="square">
            <a:spAutoFit/>
          </a:bodyPr>
          <a:lstStyle/>
          <a:p>
            <a:pPr algn="l"/>
            <a:r>
              <a:rPr lang="en-US" sz="1100" dirty="0">
                <a:solidFill>
                  <a:srgbClr val="1B2A4A"/>
                </a:solidFill>
                <a:latin typeface="Calibri"/>
              </a:rPr>
              <a:t>Unigram, </a:t>
            </a:r>
            <a:r>
              <a:rPr lang="en-US" sz="1100" dirty="0" err="1">
                <a:solidFill>
                  <a:srgbClr val="1B2A4A"/>
                </a:solidFill>
                <a:latin typeface="Calibri"/>
              </a:rPr>
              <a:t>UniBigram</a:t>
            </a:r>
            <a:r>
              <a:rPr lang="en-US" sz="1100" dirty="0">
                <a:solidFill>
                  <a:srgbClr val="1B2A4A"/>
                </a:solidFill>
                <a:latin typeface="Calibri"/>
              </a:rPr>
              <a:t>, </a:t>
            </a:r>
            <a:r>
              <a:rPr lang="en-US" sz="1100" dirty="0" err="1">
                <a:solidFill>
                  <a:srgbClr val="1B2A4A"/>
                </a:solidFill>
                <a:latin typeface="Calibri"/>
              </a:rPr>
              <a:t>UniTrigram</a:t>
            </a:r>
            <a:endParaRPr sz="1100" b="0" i="0" dirty="0">
              <a:solidFill>
                <a:srgbClr val="1B2A4A"/>
              </a:solidFill>
              <a:latin typeface="Calibri"/>
            </a:endParaRPr>
          </a:p>
        </p:txBody>
      </p:sp>
      <p:sp>
        <p:nvSpPr>
          <p:cNvPr id="55" name="TextBox 54"/>
          <p:cNvSpPr txBox="1"/>
          <p:nvPr/>
        </p:nvSpPr>
        <p:spPr>
          <a:xfrm>
            <a:off x="6903720" y="4169663"/>
            <a:ext cx="2011680" cy="261610"/>
          </a:xfrm>
          <a:prstGeom prst="rect">
            <a:avLst/>
          </a:prstGeom>
          <a:noFill/>
        </p:spPr>
        <p:txBody>
          <a:bodyPr wrap="square">
            <a:spAutoFit/>
          </a:bodyPr>
          <a:lstStyle/>
          <a:p>
            <a:pPr algn="l"/>
            <a:r>
              <a:rPr sz="1100" b="1" i="0">
                <a:solidFill>
                  <a:srgbClr val="028090"/>
                </a:solidFill>
                <a:latin typeface="Calibri"/>
              </a:rPr>
              <a:t>12 model runs</a:t>
            </a:r>
          </a:p>
        </p:txBody>
      </p:sp>
      <p:sp>
        <p:nvSpPr>
          <p:cNvPr id="56" name="TextBox 55"/>
          <p:cNvSpPr txBox="1"/>
          <p:nvPr/>
        </p:nvSpPr>
        <p:spPr>
          <a:xfrm>
            <a:off x="6903720" y="4443984"/>
            <a:ext cx="2011680" cy="261610"/>
          </a:xfrm>
          <a:prstGeom prst="rect">
            <a:avLst/>
          </a:prstGeom>
          <a:noFill/>
        </p:spPr>
        <p:txBody>
          <a:bodyPr wrap="square">
            <a:spAutoFit/>
          </a:bodyPr>
          <a:lstStyle/>
          <a:p>
            <a:pPr algn="l"/>
            <a:r>
              <a:rPr sz="1100" b="0" i="0" dirty="0">
                <a:solidFill>
                  <a:srgbClr val="1B2A4A"/>
                </a:solidFill>
                <a:latin typeface="Calibri"/>
              </a:rPr>
              <a:t>4 models × 3 feature sets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73152"/>
          </a:xfrm>
          <a:prstGeom prst="rect">
            <a:avLst/>
          </a:prstGeom>
          <a:solidFill>
            <a:srgbClr val="028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5065776"/>
            <a:ext cx="9144000" cy="82296"/>
          </a:xfrm>
          <a:prstGeom prst="rect">
            <a:avLst/>
          </a:prstGeom>
          <a:solidFill>
            <a:srgbClr val="028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137160"/>
            <a:ext cx="8229600" cy="530352"/>
          </a:xfrm>
          <a:prstGeom prst="rect">
            <a:avLst/>
          </a:prstGeom>
          <a:noFill/>
        </p:spPr>
        <p:txBody>
          <a:bodyPr wrap="square">
            <a:spAutoFit/>
          </a:bodyPr>
          <a:lstStyle/>
          <a:p>
            <a:pPr algn="l"/>
            <a:r>
              <a:rPr sz="2400" b="1" i="0">
                <a:solidFill>
                  <a:srgbClr val="1B2A4A"/>
                </a:solidFill>
                <a:latin typeface="Calibri"/>
              </a:rPr>
              <a:t>Results Overview — All Feature Sets</a:t>
            </a:r>
          </a:p>
        </p:txBody>
      </p:sp>
      <p:sp>
        <p:nvSpPr>
          <p:cNvPr id="7" name="Rectangle 6"/>
          <p:cNvSpPr/>
          <p:nvPr/>
        </p:nvSpPr>
        <p:spPr>
          <a:xfrm>
            <a:off x="274320" y="822960"/>
            <a:ext cx="2743200" cy="274320"/>
          </a:xfrm>
          <a:prstGeom prst="rect">
            <a:avLst/>
          </a:prstGeom>
          <a:solidFill>
            <a:srgbClr val="028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74320" y="822960"/>
            <a:ext cx="2743200" cy="274320"/>
          </a:xfrm>
          <a:prstGeom prst="rect">
            <a:avLst/>
          </a:prstGeom>
          <a:noFill/>
        </p:spPr>
        <p:txBody>
          <a:bodyPr wrap="square">
            <a:spAutoFit/>
          </a:bodyPr>
          <a:lstStyle/>
          <a:p>
            <a:pPr algn="ctr"/>
            <a:r>
              <a:rPr sz="1100" b="1" i="0">
                <a:solidFill>
                  <a:srgbClr val="FFFFFF"/>
                </a:solidFill>
                <a:latin typeface="Calibri"/>
              </a:rPr>
              <a:t>Unigram (1,1)</a:t>
            </a:r>
          </a:p>
        </p:txBody>
      </p:sp>
      <p:graphicFrame>
        <p:nvGraphicFramePr>
          <p:cNvPr id="9" name="Table 8"/>
          <p:cNvGraphicFramePr>
            <a:graphicFrameLocks noGrp="1"/>
          </p:cNvGraphicFramePr>
          <p:nvPr/>
        </p:nvGraphicFramePr>
        <p:xfrm>
          <a:off x="274320" y="1115568"/>
          <a:ext cx="2743200" cy="1719072"/>
        </p:xfrm>
        <a:graphic>
          <a:graphicData uri="http://schemas.openxmlformats.org/drawingml/2006/table">
            <a:tbl>
              <a:tblPr firstRow="1" bandRow="1">
                <a:tableStyleId>{5C22544A-7EE6-4342-B048-85BDC9FD1C3A}</a:tableStyleId>
              </a:tblPr>
              <a:tblGrid>
                <a:gridCol w="548640">
                  <a:extLst>
                    <a:ext uri="{9D8B030D-6E8A-4147-A177-3AD203B41FA5}">
                      <a16:colId xmlns:a16="http://schemas.microsoft.com/office/drawing/2014/main" val="20000"/>
                    </a:ext>
                  </a:extLst>
                </a:gridCol>
                <a:gridCol w="548640">
                  <a:extLst>
                    <a:ext uri="{9D8B030D-6E8A-4147-A177-3AD203B41FA5}">
                      <a16:colId xmlns:a16="http://schemas.microsoft.com/office/drawing/2014/main" val="20001"/>
                    </a:ext>
                  </a:extLst>
                </a:gridCol>
                <a:gridCol w="548640">
                  <a:extLst>
                    <a:ext uri="{9D8B030D-6E8A-4147-A177-3AD203B41FA5}">
                      <a16:colId xmlns:a16="http://schemas.microsoft.com/office/drawing/2014/main" val="20002"/>
                    </a:ext>
                  </a:extLst>
                </a:gridCol>
                <a:gridCol w="548640">
                  <a:extLst>
                    <a:ext uri="{9D8B030D-6E8A-4147-A177-3AD203B41FA5}">
                      <a16:colId xmlns:a16="http://schemas.microsoft.com/office/drawing/2014/main" val="20003"/>
                    </a:ext>
                  </a:extLst>
                </a:gridCol>
                <a:gridCol w="548640">
                  <a:extLst>
                    <a:ext uri="{9D8B030D-6E8A-4147-A177-3AD203B41FA5}">
                      <a16:colId xmlns:a16="http://schemas.microsoft.com/office/drawing/2014/main" val="20004"/>
                    </a:ext>
                  </a:extLst>
                </a:gridCol>
              </a:tblGrid>
              <a:tr h="338328">
                <a:tc>
                  <a:txBody>
                    <a:bodyPr/>
                    <a:lstStyle/>
                    <a:p>
                      <a:pPr algn="ctr"/>
                      <a:r>
                        <a:rPr sz="900" b="1">
                          <a:solidFill>
                            <a:srgbClr val="FFFFFF"/>
                          </a:solidFill>
                          <a:latin typeface="Calibri"/>
                        </a:rPr>
                        <a:t>Model</a:t>
                      </a:r>
                    </a:p>
                  </a:txBody>
                  <a:tcPr>
                    <a:solidFill>
                      <a:srgbClr val="028090"/>
                    </a:solidFill>
                  </a:tcPr>
                </a:tc>
                <a:tc>
                  <a:txBody>
                    <a:bodyPr/>
                    <a:lstStyle/>
                    <a:p>
                      <a:pPr algn="ctr"/>
                      <a:r>
                        <a:rPr sz="900" b="1">
                          <a:solidFill>
                            <a:srgbClr val="FFFFFF"/>
                          </a:solidFill>
                          <a:latin typeface="Calibri"/>
                        </a:rPr>
                        <a:t>Acc</a:t>
                      </a:r>
                    </a:p>
                  </a:txBody>
                  <a:tcPr>
                    <a:solidFill>
                      <a:srgbClr val="028090"/>
                    </a:solidFill>
                  </a:tcPr>
                </a:tc>
                <a:tc>
                  <a:txBody>
                    <a:bodyPr/>
                    <a:lstStyle/>
                    <a:p>
                      <a:pPr algn="ctr"/>
                      <a:r>
                        <a:rPr sz="900" b="1">
                          <a:solidFill>
                            <a:srgbClr val="FFFFFF"/>
                          </a:solidFill>
                          <a:latin typeface="Calibri"/>
                        </a:rPr>
                        <a:t>F1</a:t>
                      </a:r>
                    </a:p>
                  </a:txBody>
                  <a:tcPr>
                    <a:solidFill>
                      <a:srgbClr val="028090"/>
                    </a:solidFill>
                  </a:tcPr>
                </a:tc>
                <a:tc>
                  <a:txBody>
                    <a:bodyPr/>
                    <a:lstStyle/>
                    <a:p>
                      <a:pPr algn="ctr"/>
                      <a:r>
                        <a:rPr sz="900" b="1">
                          <a:solidFill>
                            <a:srgbClr val="FFFFFF"/>
                          </a:solidFill>
                          <a:latin typeface="Calibri"/>
                        </a:rPr>
                        <a:t>CV Acc</a:t>
                      </a:r>
                    </a:p>
                  </a:txBody>
                  <a:tcPr>
                    <a:solidFill>
                      <a:srgbClr val="028090"/>
                    </a:solidFill>
                  </a:tcPr>
                </a:tc>
                <a:tc>
                  <a:txBody>
                    <a:bodyPr/>
                    <a:lstStyle/>
                    <a:p>
                      <a:pPr algn="ctr"/>
                      <a:r>
                        <a:rPr sz="900" b="1">
                          <a:solidFill>
                            <a:srgbClr val="FFFFFF"/>
                          </a:solidFill>
                          <a:latin typeface="Calibri"/>
                        </a:rPr>
                        <a:t>AUC-ROC</a:t>
                      </a:r>
                    </a:p>
                  </a:txBody>
                  <a:tcPr>
                    <a:solidFill>
                      <a:srgbClr val="028090"/>
                    </a:solidFill>
                  </a:tcPr>
                </a:tc>
                <a:extLst>
                  <a:ext uri="{0D108BD9-81ED-4DB2-BD59-A6C34878D82A}">
                    <a16:rowId xmlns:a16="http://schemas.microsoft.com/office/drawing/2014/main" val="10000"/>
                  </a:ext>
                </a:extLst>
              </a:tr>
              <a:tr h="338328">
                <a:tc>
                  <a:txBody>
                    <a:bodyPr/>
                    <a:lstStyle/>
                    <a:p>
                      <a:pPr algn="ctr"/>
                      <a:r>
                        <a:rPr sz="900">
                          <a:solidFill>
                            <a:srgbClr val="1B2A4A"/>
                          </a:solidFill>
                          <a:latin typeface="Calibri"/>
                        </a:rPr>
                        <a:t>LR</a:t>
                      </a:r>
                    </a:p>
                  </a:txBody>
                  <a:tcPr>
                    <a:solidFill>
                      <a:srgbClr val="FFFFFF"/>
                    </a:solidFill>
                  </a:tcPr>
                </a:tc>
                <a:tc>
                  <a:txBody>
                    <a:bodyPr/>
                    <a:lstStyle/>
                    <a:p>
                      <a:pPr algn="ctr"/>
                      <a:r>
                        <a:rPr sz="900" dirty="0">
                          <a:solidFill>
                            <a:srgbClr val="1B2A4A"/>
                          </a:solidFill>
                          <a:latin typeface="Calibri"/>
                        </a:rPr>
                        <a:t>0.7945</a:t>
                      </a:r>
                    </a:p>
                  </a:txBody>
                  <a:tcPr>
                    <a:solidFill>
                      <a:srgbClr val="FFFFFF"/>
                    </a:solidFill>
                  </a:tcPr>
                </a:tc>
                <a:tc>
                  <a:txBody>
                    <a:bodyPr/>
                    <a:lstStyle/>
                    <a:p>
                      <a:pPr algn="ctr"/>
                      <a:r>
                        <a:rPr sz="900" dirty="0">
                          <a:solidFill>
                            <a:srgbClr val="1B2A4A"/>
                          </a:solidFill>
                          <a:latin typeface="Calibri"/>
                        </a:rPr>
                        <a:t>0.7935</a:t>
                      </a:r>
                    </a:p>
                  </a:txBody>
                  <a:tcPr>
                    <a:solidFill>
                      <a:srgbClr val="FFFFFF"/>
                    </a:solidFill>
                  </a:tcPr>
                </a:tc>
                <a:tc>
                  <a:txBody>
                    <a:bodyPr/>
                    <a:lstStyle/>
                    <a:p>
                      <a:pPr algn="ctr"/>
                      <a:r>
                        <a:rPr sz="900" dirty="0">
                          <a:solidFill>
                            <a:srgbClr val="1B2A4A"/>
                          </a:solidFill>
                          <a:latin typeface="Calibri"/>
                        </a:rPr>
                        <a:t>0.7653</a:t>
                      </a:r>
                    </a:p>
                  </a:txBody>
                  <a:tcPr>
                    <a:solidFill>
                      <a:srgbClr val="FFFFFF"/>
                    </a:solidFill>
                  </a:tcPr>
                </a:tc>
                <a:tc>
                  <a:txBody>
                    <a:bodyPr/>
                    <a:lstStyle/>
                    <a:p>
                      <a:pPr algn="ctr"/>
                      <a:r>
                        <a:rPr sz="900" b="1" dirty="0">
                          <a:solidFill>
                            <a:srgbClr val="028090"/>
                          </a:solidFill>
                          <a:latin typeface="Calibri"/>
                        </a:rPr>
                        <a:t>0.9515</a:t>
                      </a:r>
                    </a:p>
                  </a:txBody>
                  <a:tcPr>
                    <a:solidFill>
                      <a:srgbClr val="FFFFFF"/>
                    </a:solidFill>
                  </a:tcPr>
                </a:tc>
                <a:extLst>
                  <a:ext uri="{0D108BD9-81ED-4DB2-BD59-A6C34878D82A}">
                    <a16:rowId xmlns:a16="http://schemas.microsoft.com/office/drawing/2014/main" val="10001"/>
                  </a:ext>
                </a:extLst>
              </a:tr>
              <a:tr h="338328">
                <a:tc>
                  <a:txBody>
                    <a:bodyPr/>
                    <a:lstStyle/>
                    <a:p>
                      <a:pPr algn="ctr"/>
                      <a:r>
                        <a:rPr sz="900">
                          <a:solidFill>
                            <a:srgbClr val="1B2A4A"/>
                          </a:solidFill>
                          <a:latin typeface="Calibri"/>
                        </a:rPr>
                        <a:t>NB</a:t>
                      </a:r>
                    </a:p>
                  </a:txBody>
                  <a:tcPr>
                    <a:solidFill>
                      <a:srgbClr val="EBF5FB"/>
                    </a:solidFill>
                  </a:tcPr>
                </a:tc>
                <a:tc>
                  <a:txBody>
                    <a:bodyPr/>
                    <a:lstStyle/>
                    <a:p>
                      <a:pPr algn="ctr"/>
                      <a:r>
                        <a:rPr sz="900">
                          <a:solidFill>
                            <a:srgbClr val="1B2A4A"/>
                          </a:solidFill>
                          <a:latin typeface="Calibri"/>
                        </a:rPr>
                        <a:t>0.7090</a:t>
                      </a:r>
                    </a:p>
                  </a:txBody>
                  <a:tcPr>
                    <a:solidFill>
                      <a:srgbClr val="EBF5FB"/>
                    </a:solidFill>
                  </a:tcPr>
                </a:tc>
                <a:tc>
                  <a:txBody>
                    <a:bodyPr/>
                    <a:lstStyle/>
                    <a:p>
                      <a:pPr algn="ctr"/>
                      <a:r>
                        <a:rPr sz="900">
                          <a:solidFill>
                            <a:srgbClr val="1B2A4A"/>
                          </a:solidFill>
                          <a:latin typeface="Calibri"/>
                        </a:rPr>
                        <a:t>0.7010</a:t>
                      </a:r>
                    </a:p>
                  </a:txBody>
                  <a:tcPr>
                    <a:solidFill>
                      <a:srgbClr val="EBF5FB"/>
                    </a:solidFill>
                  </a:tcPr>
                </a:tc>
                <a:tc>
                  <a:txBody>
                    <a:bodyPr/>
                    <a:lstStyle/>
                    <a:p>
                      <a:pPr algn="ctr"/>
                      <a:r>
                        <a:rPr sz="900">
                          <a:solidFill>
                            <a:srgbClr val="1B2A4A"/>
                          </a:solidFill>
                          <a:latin typeface="Calibri"/>
                        </a:rPr>
                        <a:t>0.6808</a:t>
                      </a:r>
                    </a:p>
                  </a:txBody>
                  <a:tcPr>
                    <a:solidFill>
                      <a:srgbClr val="EBF5FB"/>
                    </a:solidFill>
                  </a:tcPr>
                </a:tc>
                <a:tc>
                  <a:txBody>
                    <a:bodyPr/>
                    <a:lstStyle/>
                    <a:p>
                      <a:pPr algn="ctr"/>
                      <a:r>
                        <a:rPr sz="900">
                          <a:solidFill>
                            <a:srgbClr val="1B2A4A"/>
                          </a:solidFill>
                          <a:latin typeface="Calibri"/>
                        </a:rPr>
                        <a:t>0.9324</a:t>
                      </a:r>
                    </a:p>
                  </a:txBody>
                  <a:tcPr>
                    <a:solidFill>
                      <a:srgbClr val="EBF5FB"/>
                    </a:solidFill>
                  </a:tcPr>
                </a:tc>
                <a:extLst>
                  <a:ext uri="{0D108BD9-81ED-4DB2-BD59-A6C34878D82A}">
                    <a16:rowId xmlns:a16="http://schemas.microsoft.com/office/drawing/2014/main" val="10002"/>
                  </a:ext>
                </a:extLst>
              </a:tr>
              <a:tr h="338328">
                <a:tc>
                  <a:txBody>
                    <a:bodyPr/>
                    <a:lstStyle/>
                    <a:p>
                      <a:pPr algn="ctr"/>
                      <a:r>
                        <a:rPr sz="900">
                          <a:solidFill>
                            <a:srgbClr val="1B2A4A"/>
                          </a:solidFill>
                          <a:latin typeface="Calibri"/>
                        </a:rPr>
                        <a:t>SVM</a:t>
                      </a:r>
                    </a:p>
                  </a:txBody>
                  <a:tcPr>
                    <a:solidFill>
                      <a:srgbClr val="FFFFFF"/>
                    </a:solidFill>
                  </a:tcPr>
                </a:tc>
                <a:tc>
                  <a:txBody>
                    <a:bodyPr/>
                    <a:lstStyle/>
                    <a:p>
                      <a:pPr algn="ctr"/>
                      <a:r>
                        <a:rPr sz="900" b="1">
                          <a:solidFill>
                            <a:srgbClr val="028090"/>
                          </a:solidFill>
                          <a:latin typeface="Calibri"/>
                        </a:rPr>
                        <a:t>0.8005</a:t>
                      </a:r>
                    </a:p>
                  </a:txBody>
                  <a:tcPr>
                    <a:solidFill>
                      <a:srgbClr val="FFFFFF"/>
                    </a:solidFill>
                  </a:tcPr>
                </a:tc>
                <a:tc>
                  <a:txBody>
                    <a:bodyPr/>
                    <a:lstStyle/>
                    <a:p>
                      <a:pPr algn="ctr"/>
                      <a:r>
                        <a:rPr sz="900" dirty="0">
                          <a:solidFill>
                            <a:srgbClr val="1B2A4A"/>
                          </a:solidFill>
                          <a:latin typeface="Calibri"/>
                        </a:rPr>
                        <a:t>0.7971</a:t>
                      </a:r>
                    </a:p>
                  </a:txBody>
                  <a:tcPr>
                    <a:solidFill>
                      <a:srgbClr val="FFFFFF"/>
                    </a:solidFill>
                  </a:tcPr>
                </a:tc>
                <a:tc>
                  <a:txBody>
                    <a:bodyPr/>
                    <a:lstStyle/>
                    <a:p>
                      <a:pPr algn="ctr"/>
                      <a:r>
                        <a:rPr sz="900" dirty="0">
                          <a:solidFill>
                            <a:srgbClr val="1B2A4A"/>
                          </a:solidFill>
                          <a:latin typeface="Calibri"/>
                        </a:rPr>
                        <a:t>0.7713</a:t>
                      </a:r>
                    </a:p>
                  </a:txBody>
                  <a:tcPr>
                    <a:solidFill>
                      <a:srgbClr val="FFFFFF"/>
                    </a:solidFill>
                  </a:tcPr>
                </a:tc>
                <a:tc>
                  <a:txBody>
                    <a:bodyPr/>
                    <a:lstStyle/>
                    <a:p>
                      <a:pPr algn="ctr"/>
                      <a:r>
                        <a:rPr sz="900" dirty="0">
                          <a:solidFill>
                            <a:srgbClr val="1B2A4A"/>
                          </a:solidFill>
                          <a:latin typeface="Calibri"/>
                        </a:rPr>
                        <a:t>0.9433</a:t>
                      </a:r>
                    </a:p>
                  </a:txBody>
                  <a:tcPr>
                    <a:solidFill>
                      <a:srgbClr val="FFFFFF"/>
                    </a:solidFill>
                  </a:tcPr>
                </a:tc>
                <a:extLst>
                  <a:ext uri="{0D108BD9-81ED-4DB2-BD59-A6C34878D82A}">
                    <a16:rowId xmlns:a16="http://schemas.microsoft.com/office/drawing/2014/main" val="10003"/>
                  </a:ext>
                </a:extLst>
              </a:tr>
              <a:tr h="338328">
                <a:tc>
                  <a:txBody>
                    <a:bodyPr/>
                    <a:lstStyle/>
                    <a:p>
                      <a:pPr algn="ctr"/>
                      <a:r>
                        <a:rPr sz="900">
                          <a:solidFill>
                            <a:srgbClr val="1B2A4A"/>
                          </a:solidFill>
                          <a:latin typeface="Calibri"/>
                        </a:rPr>
                        <a:t>RF</a:t>
                      </a:r>
                    </a:p>
                  </a:txBody>
                  <a:tcPr>
                    <a:solidFill>
                      <a:srgbClr val="EBF5FB"/>
                    </a:solidFill>
                  </a:tcPr>
                </a:tc>
                <a:tc>
                  <a:txBody>
                    <a:bodyPr/>
                    <a:lstStyle/>
                    <a:p>
                      <a:pPr algn="ctr"/>
                      <a:r>
                        <a:rPr sz="900" dirty="0">
                          <a:solidFill>
                            <a:srgbClr val="1B2A4A"/>
                          </a:solidFill>
                          <a:latin typeface="Calibri"/>
                        </a:rPr>
                        <a:t>0.7741</a:t>
                      </a:r>
                    </a:p>
                  </a:txBody>
                  <a:tcPr>
                    <a:solidFill>
                      <a:srgbClr val="EBF5FB"/>
                    </a:solidFill>
                  </a:tcPr>
                </a:tc>
                <a:tc>
                  <a:txBody>
                    <a:bodyPr/>
                    <a:lstStyle/>
                    <a:p>
                      <a:pPr algn="ctr"/>
                      <a:r>
                        <a:rPr sz="900">
                          <a:solidFill>
                            <a:srgbClr val="1B2A4A"/>
                          </a:solidFill>
                          <a:latin typeface="Calibri"/>
                        </a:rPr>
                        <a:t>0.7648</a:t>
                      </a:r>
                    </a:p>
                  </a:txBody>
                  <a:tcPr>
                    <a:solidFill>
                      <a:srgbClr val="EBF5FB"/>
                    </a:solidFill>
                  </a:tcPr>
                </a:tc>
                <a:tc>
                  <a:txBody>
                    <a:bodyPr/>
                    <a:lstStyle/>
                    <a:p>
                      <a:pPr algn="ctr"/>
                      <a:r>
                        <a:rPr sz="900" dirty="0">
                          <a:solidFill>
                            <a:srgbClr val="1B2A4A"/>
                          </a:solidFill>
                          <a:latin typeface="Calibri"/>
                        </a:rPr>
                        <a:t>0.7409</a:t>
                      </a:r>
                    </a:p>
                  </a:txBody>
                  <a:tcPr>
                    <a:solidFill>
                      <a:srgbClr val="EBF5FB"/>
                    </a:solidFill>
                  </a:tcPr>
                </a:tc>
                <a:tc>
                  <a:txBody>
                    <a:bodyPr/>
                    <a:lstStyle/>
                    <a:p>
                      <a:pPr algn="ctr"/>
                      <a:r>
                        <a:rPr sz="900" dirty="0">
                          <a:solidFill>
                            <a:srgbClr val="1B2A4A"/>
                          </a:solidFill>
                          <a:latin typeface="Calibri"/>
                        </a:rPr>
                        <a:t>0.9411</a:t>
                      </a:r>
                    </a:p>
                  </a:txBody>
                  <a:tcPr>
                    <a:solidFill>
                      <a:srgbClr val="EBF5FB"/>
                    </a:solidFill>
                  </a:tcPr>
                </a:tc>
                <a:extLst>
                  <a:ext uri="{0D108BD9-81ED-4DB2-BD59-A6C34878D82A}">
                    <a16:rowId xmlns:a16="http://schemas.microsoft.com/office/drawing/2014/main" val="10004"/>
                  </a:ext>
                </a:extLst>
              </a:tr>
            </a:tbl>
          </a:graphicData>
        </a:graphic>
      </p:graphicFrame>
      <p:sp>
        <p:nvSpPr>
          <p:cNvPr id="10" name="Rectangle 9"/>
          <p:cNvSpPr/>
          <p:nvPr/>
        </p:nvSpPr>
        <p:spPr>
          <a:xfrm>
            <a:off x="3172968" y="822960"/>
            <a:ext cx="2743200" cy="274320"/>
          </a:xfrm>
          <a:prstGeom prst="rect">
            <a:avLst/>
          </a:prstGeom>
          <a:solidFill>
            <a:srgbClr val="028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172968" y="822960"/>
            <a:ext cx="2743200" cy="274320"/>
          </a:xfrm>
          <a:prstGeom prst="rect">
            <a:avLst/>
          </a:prstGeom>
          <a:noFill/>
        </p:spPr>
        <p:txBody>
          <a:bodyPr wrap="square">
            <a:spAutoFit/>
          </a:bodyPr>
          <a:lstStyle/>
          <a:p>
            <a:pPr algn="ctr"/>
            <a:r>
              <a:rPr sz="1100" b="1" i="0">
                <a:solidFill>
                  <a:srgbClr val="FFFFFF"/>
                </a:solidFill>
                <a:latin typeface="Calibri"/>
              </a:rPr>
              <a:t>UniBigram (1,2)</a:t>
            </a:r>
          </a:p>
        </p:txBody>
      </p:sp>
      <p:graphicFrame>
        <p:nvGraphicFramePr>
          <p:cNvPr id="12" name="Table 11"/>
          <p:cNvGraphicFramePr>
            <a:graphicFrameLocks noGrp="1"/>
          </p:cNvGraphicFramePr>
          <p:nvPr/>
        </p:nvGraphicFramePr>
        <p:xfrm>
          <a:off x="3172968" y="1115568"/>
          <a:ext cx="2743200" cy="1719072"/>
        </p:xfrm>
        <a:graphic>
          <a:graphicData uri="http://schemas.openxmlformats.org/drawingml/2006/table">
            <a:tbl>
              <a:tblPr firstRow="1" bandRow="1">
                <a:tableStyleId>{5C22544A-7EE6-4342-B048-85BDC9FD1C3A}</a:tableStyleId>
              </a:tblPr>
              <a:tblGrid>
                <a:gridCol w="548640">
                  <a:extLst>
                    <a:ext uri="{9D8B030D-6E8A-4147-A177-3AD203B41FA5}">
                      <a16:colId xmlns:a16="http://schemas.microsoft.com/office/drawing/2014/main" val="20000"/>
                    </a:ext>
                  </a:extLst>
                </a:gridCol>
                <a:gridCol w="548640">
                  <a:extLst>
                    <a:ext uri="{9D8B030D-6E8A-4147-A177-3AD203B41FA5}">
                      <a16:colId xmlns:a16="http://schemas.microsoft.com/office/drawing/2014/main" val="20001"/>
                    </a:ext>
                  </a:extLst>
                </a:gridCol>
                <a:gridCol w="548640">
                  <a:extLst>
                    <a:ext uri="{9D8B030D-6E8A-4147-A177-3AD203B41FA5}">
                      <a16:colId xmlns:a16="http://schemas.microsoft.com/office/drawing/2014/main" val="20002"/>
                    </a:ext>
                  </a:extLst>
                </a:gridCol>
                <a:gridCol w="548640">
                  <a:extLst>
                    <a:ext uri="{9D8B030D-6E8A-4147-A177-3AD203B41FA5}">
                      <a16:colId xmlns:a16="http://schemas.microsoft.com/office/drawing/2014/main" val="20003"/>
                    </a:ext>
                  </a:extLst>
                </a:gridCol>
                <a:gridCol w="548640">
                  <a:extLst>
                    <a:ext uri="{9D8B030D-6E8A-4147-A177-3AD203B41FA5}">
                      <a16:colId xmlns:a16="http://schemas.microsoft.com/office/drawing/2014/main" val="20004"/>
                    </a:ext>
                  </a:extLst>
                </a:gridCol>
              </a:tblGrid>
              <a:tr h="338328">
                <a:tc>
                  <a:txBody>
                    <a:bodyPr/>
                    <a:lstStyle/>
                    <a:p>
                      <a:pPr algn="ctr"/>
                      <a:r>
                        <a:rPr sz="900" b="1">
                          <a:solidFill>
                            <a:srgbClr val="FFFFFF"/>
                          </a:solidFill>
                          <a:latin typeface="Calibri"/>
                        </a:rPr>
                        <a:t>Model</a:t>
                      </a:r>
                    </a:p>
                  </a:txBody>
                  <a:tcPr>
                    <a:solidFill>
                      <a:srgbClr val="028090"/>
                    </a:solidFill>
                  </a:tcPr>
                </a:tc>
                <a:tc>
                  <a:txBody>
                    <a:bodyPr/>
                    <a:lstStyle/>
                    <a:p>
                      <a:pPr algn="ctr"/>
                      <a:r>
                        <a:rPr sz="900" b="1">
                          <a:solidFill>
                            <a:srgbClr val="FFFFFF"/>
                          </a:solidFill>
                          <a:latin typeface="Calibri"/>
                        </a:rPr>
                        <a:t>Acc</a:t>
                      </a:r>
                    </a:p>
                  </a:txBody>
                  <a:tcPr>
                    <a:solidFill>
                      <a:srgbClr val="028090"/>
                    </a:solidFill>
                  </a:tcPr>
                </a:tc>
                <a:tc>
                  <a:txBody>
                    <a:bodyPr/>
                    <a:lstStyle/>
                    <a:p>
                      <a:pPr algn="ctr"/>
                      <a:r>
                        <a:rPr sz="900" b="1">
                          <a:solidFill>
                            <a:srgbClr val="FFFFFF"/>
                          </a:solidFill>
                          <a:latin typeface="Calibri"/>
                        </a:rPr>
                        <a:t>F1</a:t>
                      </a:r>
                    </a:p>
                  </a:txBody>
                  <a:tcPr>
                    <a:solidFill>
                      <a:srgbClr val="028090"/>
                    </a:solidFill>
                  </a:tcPr>
                </a:tc>
                <a:tc>
                  <a:txBody>
                    <a:bodyPr/>
                    <a:lstStyle/>
                    <a:p>
                      <a:pPr algn="ctr"/>
                      <a:r>
                        <a:rPr sz="900" b="1">
                          <a:solidFill>
                            <a:srgbClr val="FFFFFF"/>
                          </a:solidFill>
                          <a:latin typeface="Calibri"/>
                        </a:rPr>
                        <a:t>CV Acc</a:t>
                      </a:r>
                    </a:p>
                  </a:txBody>
                  <a:tcPr>
                    <a:solidFill>
                      <a:srgbClr val="028090"/>
                    </a:solidFill>
                  </a:tcPr>
                </a:tc>
                <a:tc>
                  <a:txBody>
                    <a:bodyPr/>
                    <a:lstStyle/>
                    <a:p>
                      <a:pPr algn="ctr"/>
                      <a:r>
                        <a:rPr sz="900" b="1">
                          <a:solidFill>
                            <a:srgbClr val="FFFFFF"/>
                          </a:solidFill>
                          <a:latin typeface="Calibri"/>
                        </a:rPr>
                        <a:t>AUC-ROC</a:t>
                      </a:r>
                    </a:p>
                  </a:txBody>
                  <a:tcPr>
                    <a:solidFill>
                      <a:srgbClr val="028090"/>
                    </a:solidFill>
                  </a:tcPr>
                </a:tc>
                <a:extLst>
                  <a:ext uri="{0D108BD9-81ED-4DB2-BD59-A6C34878D82A}">
                    <a16:rowId xmlns:a16="http://schemas.microsoft.com/office/drawing/2014/main" val="10000"/>
                  </a:ext>
                </a:extLst>
              </a:tr>
              <a:tr h="338328">
                <a:tc>
                  <a:txBody>
                    <a:bodyPr/>
                    <a:lstStyle/>
                    <a:p>
                      <a:pPr algn="ctr"/>
                      <a:r>
                        <a:rPr sz="900">
                          <a:solidFill>
                            <a:srgbClr val="1B2A4A"/>
                          </a:solidFill>
                          <a:latin typeface="Calibri"/>
                        </a:rPr>
                        <a:t>LR</a:t>
                      </a:r>
                    </a:p>
                  </a:txBody>
                  <a:tcPr>
                    <a:solidFill>
                      <a:srgbClr val="FFFFFF"/>
                    </a:solidFill>
                  </a:tcPr>
                </a:tc>
                <a:tc>
                  <a:txBody>
                    <a:bodyPr/>
                    <a:lstStyle/>
                    <a:p>
                      <a:pPr algn="ctr"/>
                      <a:r>
                        <a:rPr sz="900" dirty="0">
                          <a:solidFill>
                            <a:srgbClr val="1B2A4A"/>
                          </a:solidFill>
                          <a:latin typeface="Calibri"/>
                        </a:rPr>
                        <a:t>0.7955</a:t>
                      </a:r>
                    </a:p>
                  </a:txBody>
                  <a:tcPr>
                    <a:solidFill>
                      <a:srgbClr val="FFFFFF"/>
                    </a:solidFill>
                  </a:tcPr>
                </a:tc>
                <a:tc>
                  <a:txBody>
                    <a:bodyPr/>
                    <a:lstStyle/>
                    <a:p>
                      <a:pPr algn="ctr"/>
                      <a:r>
                        <a:rPr sz="900" dirty="0">
                          <a:solidFill>
                            <a:srgbClr val="1B2A4A"/>
                          </a:solidFill>
                          <a:latin typeface="Calibri"/>
                        </a:rPr>
                        <a:t>0.7949</a:t>
                      </a:r>
                    </a:p>
                  </a:txBody>
                  <a:tcPr>
                    <a:solidFill>
                      <a:srgbClr val="FFFFFF"/>
                    </a:solidFill>
                  </a:tcPr>
                </a:tc>
                <a:tc>
                  <a:txBody>
                    <a:bodyPr/>
                    <a:lstStyle/>
                    <a:p>
                      <a:pPr algn="ctr"/>
                      <a:r>
                        <a:rPr sz="900" dirty="0">
                          <a:solidFill>
                            <a:srgbClr val="1B2A4A"/>
                          </a:solidFill>
                          <a:latin typeface="Calibri"/>
                        </a:rPr>
                        <a:t>0.7703</a:t>
                      </a:r>
                    </a:p>
                  </a:txBody>
                  <a:tcPr>
                    <a:solidFill>
                      <a:srgbClr val="FFFFFF"/>
                    </a:solidFill>
                  </a:tcPr>
                </a:tc>
                <a:tc>
                  <a:txBody>
                    <a:bodyPr/>
                    <a:lstStyle/>
                    <a:p>
                      <a:pPr algn="ctr"/>
                      <a:r>
                        <a:rPr sz="900" b="1" dirty="0">
                          <a:solidFill>
                            <a:srgbClr val="028090"/>
                          </a:solidFill>
                          <a:latin typeface="Calibri"/>
                        </a:rPr>
                        <a:t>0.9524</a:t>
                      </a:r>
                    </a:p>
                  </a:txBody>
                  <a:tcPr>
                    <a:solidFill>
                      <a:srgbClr val="FFFFFF"/>
                    </a:solidFill>
                  </a:tcPr>
                </a:tc>
                <a:extLst>
                  <a:ext uri="{0D108BD9-81ED-4DB2-BD59-A6C34878D82A}">
                    <a16:rowId xmlns:a16="http://schemas.microsoft.com/office/drawing/2014/main" val="10001"/>
                  </a:ext>
                </a:extLst>
              </a:tr>
              <a:tr h="338328">
                <a:tc>
                  <a:txBody>
                    <a:bodyPr/>
                    <a:lstStyle/>
                    <a:p>
                      <a:pPr algn="ctr"/>
                      <a:r>
                        <a:rPr sz="900">
                          <a:solidFill>
                            <a:srgbClr val="1B2A4A"/>
                          </a:solidFill>
                          <a:latin typeface="Calibri"/>
                        </a:rPr>
                        <a:t>NB</a:t>
                      </a:r>
                    </a:p>
                  </a:txBody>
                  <a:tcPr>
                    <a:solidFill>
                      <a:srgbClr val="EBF5FB"/>
                    </a:solidFill>
                  </a:tcPr>
                </a:tc>
                <a:tc>
                  <a:txBody>
                    <a:bodyPr/>
                    <a:lstStyle/>
                    <a:p>
                      <a:pPr algn="ctr"/>
                      <a:r>
                        <a:rPr sz="900">
                          <a:solidFill>
                            <a:srgbClr val="1B2A4A"/>
                          </a:solidFill>
                          <a:latin typeface="Calibri"/>
                        </a:rPr>
                        <a:t>0.7214</a:t>
                      </a:r>
                    </a:p>
                  </a:txBody>
                  <a:tcPr>
                    <a:solidFill>
                      <a:srgbClr val="EBF5FB"/>
                    </a:solidFill>
                  </a:tcPr>
                </a:tc>
                <a:tc>
                  <a:txBody>
                    <a:bodyPr/>
                    <a:lstStyle/>
                    <a:p>
                      <a:pPr algn="ctr"/>
                      <a:r>
                        <a:rPr sz="900">
                          <a:solidFill>
                            <a:srgbClr val="1B2A4A"/>
                          </a:solidFill>
                          <a:latin typeface="Calibri"/>
                        </a:rPr>
                        <a:t>0.7166</a:t>
                      </a:r>
                    </a:p>
                  </a:txBody>
                  <a:tcPr>
                    <a:solidFill>
                      <a:srgbClr val="EBF5FB"/>
                    </a:solidFill>
                  </a:tcPr>
                </a:tc>
                <a:tc>
                  <a:txBody>
                    <a:bodyPr/>
                    <a:lstStyle/>
                    <a:p>
                      <a:pPr algn="ctr"/>
                      <a:r>
                        <a:rPr sz="900">
                          <a:solidFill>
                            <a:srgbClr val="1B2A4A"/>
                          </a:solidFill>
                          <a:latin typeface="Calibri"/>
                        </a:rPr>
                        <a:t>0.6981</a:t>
                      </a:r>
                    </a:p>
                  </a:txBody>
                  <a:tcPr>
                    <a:solidFill>
                      <a:srgbClr val="EBF5FB"/>
                    </a:solidFill>
                  </a:tcPr>
                </a:tc>
                <a:tc>
                  <a:txBody>
                    <a:bodyPr/>
                    <a:lstStyle/>
                    <a:p>
                      <a:pPr algn="ctr"/>
                      <a:r>
                        <a:rPr sz="900">
                          <a:solidFill>
                            <a:srgbClr val="1B2A4A"/>
                          </a:solidFill>
                          <a:latin typeface="Calibri"/>
                        </a:rPr>
                        <a:t>0.9301</a:t>
                      </a:r>
                    </a:p>
                  </a:txBody>
                  <a:tcPr>
                    <a:solidFill>
                      <a:srgbClr val="EBF5FB"/>
                    </a:solidFill>
                  </a:tcPr>
                </a:tc>
                <a:extLst>
                  <a:ext uri="{0D108BD9-81ED-4DB2-BD59-A6C34878D82A}">
                    <a16:rowId xmlns:a16="http://schemas.microsoft.com/office/drawing/2014/main" val="10002"/>
                  </a:ext>
                </a:extLst>
              </a:tr>
              <a:tr h="338328">
                <a:tc>
                  <a:txBody>
                    <a:bodyPr/>
                    <a:lstStyle/>
                    <a:p>
                      <a:pPr algn="ctr"/>
                      <a:r>
                        <a:rPr sz="900">
                          <a:solidFill>
                            <a:srgbClr val="1B2A4A"/>
                          </a:solidFill>
                          <a:latin typeface="Calibri"/>
                        </a:rPr>
                        <a:t>SVM</a:t>
                      </a:r>
                    </a:p>
                  </a:txBody>
                  <a:tcPr>
                    <a:solidFill>
                      <a:srgbClr val="FFFFFF"/>
                    </a:solidFill>
                  </a:tcPr>
                </a:tc>
                <a:tc>
                  <a:txBody>
                    <a:bodyPr/>
                    <a:lstStyle/>
                    <a:p>
                      <a:pPr algn="ctr"/>
                      <a:r>
                        <a:rPr sz="900" b="1" dirty="0">
                          <a:solidFill>
                            <a:srgbClr val="028090"/>
                          </a:solidFill>
                          <a:latin typeface="Calibri"/>
                        </a:rPr>
                        <a:t>0.8050</a:t>
                      </a:r>
                    </a:p>
                  </a:txBody>
                  <a:tcPr>
                    <a:solidFill>
                      <a:srgbClr val="FFFFFF"/>
                    </a:solidFill>
                  </a:tcPr>
                </a:tc>
                <a:tc>
                  <a:txBody>
                    <a:bodyPr/>
                    <a:lstStyle/>
                    <a:p>
                      <a:pPr algn="ctr"/>
                      <a:r>
                        <a:rPr sz="900" b="1" dirty="0">
                          <a:solidFill>
                            <a:srgbClr val="028090"/>
                          </a:solidFill>
                          <a:latin typeface="Calibri"/>
                        </a:rPr>
                        <a:t>0.8011</a:t>
                      </a:r>
                    </a:p>
                  </a:txBody>
                  <a:tcPr>
                    <a:solidFill>
                      <a:srgbClr val="FFFFFF"/>
                    </a:solidFill>
                  </a:tcPr>
                </a:tc>
                <a:tc>
                  <a:txBody>
                    <a:bodyPr/>
                    <a:lstStyle/>
                    <a:p>
                      <a:pPr algn="ctr"/>
                      <a:r>
                        <a:rPr sz="900" b="1" dirty="0">
                          <a:solidFill>
                            <a:srgbClr val="028090"/>
                          </a:solidFill>
                          <a:latin typeface="Calibri"/>
                        </a:rPr>
                        <a:t>0.7715</a:t>
                      </a:r>
                    </a:p>
                  </a:txBody>
                  <a:tcPr>
                    <a:solidFill>
                      <a:srgbClr val="FFFFFF"/>
                    </a:solidFill>
                  </a:tcPr>
                </a:tc>
                <a:tc>
                  <a:txBody>
                    <a:bodyPr/>
                    <a:lstStyle/>
                    <a:p>
                      <a:pPr algn="ctr"/>
                      <a:r>
                        <a:rPr sz="900" dirty="0">
                          <a:solidFill>
                            <a:srgbClr val="1B2A4A"/>
                          </a:solidFill>
                          <a:latin typeface="Calibri"/>
                        </a:rPr>
                        <a:t>0.9450</a:t>
                      </a:r>
                    </a:p>
                  </a:txBody>
                  <a:tcPr>
                    <a:solidFill>
                      <a:srgbClr val="FFFFFF"/>
                    </a:solidFill>
                  </a:tcPr>
                </a:tc>
                <a:extLst>
                  <a:ext uri="{0D108BD9-81ED-4DB2-BD59-A6C34878D82A}">
                    <a16:rowId xmlns:a16="http://schemas.microsoft.com/office/drawing/2014/main" val="10003"/>
                  </a:ext>
                </a:extLst>
              </a:tr>
              <a:tr h="338328">
                <a:tc>
                  <a:txBody>
                    <a:bodyPr/>
                    <a:lstStyle/>
                    <a:p>
                      <a:pPr algn="ctr"/>
                      <a:r>
                        <a:rPr sz="900">
                          <a:solidFill>
                            <a:srgbClr val="1B2A4A"/>
                          </a:solidFill>
                          <a:latin typeface="Calibri"/>
                        </a:rPr>
                        <a:t>RF</a:t>
                      </a:r>
                    </a:p>
                  </a:txBody>
                  <a:tcPr>
                    <a:solidFill>
                      <a:srgbClr val="EBF5FB"/>
                    </a:solidFill>
                  </a:tcPr>
                </a:tc>
                <a:tc>
                  <a:txBody>
                    <a:bodyPr/>
                    <a:lstStyle/>
                    <a:p>
                      <a:pPr algn="ctr"/>
                      <a:r>
                        <a:rPr sz="900">
                          <a:solidFill>
                            <a:srgbClr val="1B2A4A"/>
                          </a:solidFill>
                          <a:latin typeface="Calibri"/>
                        </a:rPr>
                        <a:t>0.7791</a:t>
                      </a:r>
                    </a:p>
                  </a:txBody>
                  <a:tcPr>
                    <a:solidFill>
                      <a:srgbClr val="EBF5FB"/>
                    </a:solidFill>
                  </a:tcPr>
                </a:tc>
                <a:tc>
                  <a:txBody>
                    <a:bodyPr/>
                    <a:lstStyle/>
                    <a:p>
                      <a:pPr algn="ctr"/>
                      <a:r>
                        <a:rPr sz="900">
                          <a:solidFill>
                            <a:srgbClr val="1B2A4A"/>
                          </a:solidFill>
                          <a:latin typeface="Calibri"/>
                        </a:rPr>
                        <a:t>0.7721</a:t>
                      </a:r>
                    </a:p>
                  </a:txBody>
                  <a:tcPr>
                    <a:solidFill>
                      <a:srgbClr val="EBF5FB"/>
                    </a:solidFill>
                  </a:tcPr>
                </a:tc>
                <a:tc>
                  <a:txBody>
                    <a:bodyPr/>
                    <a:lstStyle/>
                    <a:p>
                      <a:pPr algn="ctr"/>
                      <a:r>
                        <a:rPr sz="900">
                          <a:solidFill>
                            <a:srgbClr val="1B2A4A"/>
                          </a:solidFill>
                          <a:latin typeface="Calibri"/>
                        </a:rPr>
                        <a:t>0.7310</a:t>
                      </a:r>
                    </a:p>
                  </a:txBody>
                  <a:tcPr>
                    <a:solidFill>
                      <a:srgbClr val="EBF5FB"/>
                    </a:solidFill>
                  </a:tcPr>
                </a:tc>
                <a:tc>
                  <a:txBody>
                    <a:bodyPr/>
                    <a:lstStyle/>
                    <a:p>
                      <a:pPr algn="ctr"/>
                      <a:r>
                        <a:rPr sz="900" dirty="0">
                          <a:solidFill>
                            <a:srgbClr val="1B2A4A"/>
                          </a:solidFill>
                          <a:latin typeface="Calibri"/>
                        </a:rPr>
                        <a:t>0.9387</a:t>
                      </a:r>
                    </a:p>
                  </a:txBody>
                  <a:tcPr>
                    <a:solidFill>
                      <a:srgbClr val="EBF5FB"/>
                    </a:solidFill>
                  </a:tcPr>
                </a:tc>
                <a:extLst>
                  <a:ext uri="{0D108BD9-81ED-4DB2-BD59-A6C34878D82A}">
                    <a16:rowId xmlns:a16="http://schemas.microsoft.com/office/drawing/2014/main" val="10004"/>
                  </a:ext>
                </a:extLst>
              </a:tr>
            </a:tbl>
          </a:graphicData>
        </a:graphic>
      </p:graphicFrame>
      <p:sp>
        <p:nvSpPr>
          <p:cNvPr id="13" name="Rectangle 12"/>
          <p:cNvSpPr/>
          <p:nvPr/>
        </p:nvSpPr>
        <p:spPr>
          <a:xfrm>
            <a:off x="6062472" y="822960"/>
            <a:ext cx="2743200" cy="274320"/>
          </a:xfrm>
          <a:prstGeom prst="rect">
            <a:avLst/>
          </a:prstGeom>
          <a:solidFill>
            <a:srgbClr val="028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062472" y="822960"/>
            <a:ext cx="2743200" cy="274320"/>
          </a:xfrm>
          <a:prstGeom prst="rect">
            <a:avLst/>
          </a:prstGeom>
          <a:noFill/>
        </p:spPr>
        <p:txBody>
          <a:bodyPr wrap="square">
            <a:spAutoFit/>
          </a:bodyPr>
          <a:lstStyle/>
          <a:p>
            <a:pPr algn="ctr"/>
            <a:r>
              <a:rPr sz="1100" b="1" i="0">
                <a:solidFill>
                  <a:srgbClr val="FFFFFF"/>
                </a:solidFill>
                <a:latin typeface="Calibri"/>
              </a:rPr>
              <a:t>UniTrigram (1,3)</a:t>
            </a:r>
          </a:p>
        </p:txBody>
      </p:sp>
      <p:graphicFrame>
        <p:nvGraphicFramePr>
          <p:cNvPr id="15" name="Table 14"/>
          <p:cNvGraphicFramePr>
            <a:graphicFrameLocks noGrp="1"/>
          </p:cNvGraphicFramePr>
          <p:nvPr/>
        </p:nvGraphicFramePr>
        <p:xfrm>
          <a:off x="6062472" y="1115568"/>
          <a:ext cx="2743200" cy="1719072"/>
        </p:xfrm>
        <a:graphic>
          <a:graphicData uri="http://schemas.openxmlformats.org/drawingml/2006/table">
            <a:tbl>
              <a:tblPr firstRow="1" bandRow="1">
                <a:tableStyleId>{5C22544A-7EE6-4342-B048-85BDC9FD1C3A}</a:tableStyleId>
              </a:tblPr>
              <a:tblGrid>
                <a:gridCol w="548640">
                  <a:extLst>
                    <a:ext uri="{9D8B030D-6E8A-4147-A177-3AD203B41FA5}">
                      <a16:colId xmlns:a16="http://schemas.microsoft.com/office/drawing/2014/main" val="20000"/>
                    </a:ext>
                  </a:extLst>
                </a:gridCol>
                <a:gridCol w="548640">
                  <a:extLst>
                    <a:ext uri="{9D8B030D-6E8A-4147-A177-3AD203B41FA5}">
                      <a16:colId xmlns:a16="http://schemas.microsoft.com/office/drawing/2014/main" val="20001"/>
                    </a:ext>
                  </a:extLst>
                </a:gridCol>
                <a:gridCol w="548640">
                  <a:extLst>
                    <a:ext uri="{9D8B030D-6E8A-4147-A177-3AD203B41FA5}">
                      <a16:colId xmlns:a16="http://schemas.microsoft.com/office/drawing/2014/main" val="20002"/>
                    </a:ext>
                  </a:extLst>
                </a:gridCol>
                <a:gridCol w="548640">
                  <a:extLst>
                    <a:ext uri="{9D8B030D-6E8A-4147-A177-3AD203B41FA5}">
                      <a16:colId xmlns:a16="http://schemas.microsoft.com/office/drawing/2014/main" val="20003"/>
                    </a:ext>
                  </a:extLst>
                </a:gridCol>
                <a:gridCol w="548640">
                  <a:extLst>
                    <a:ext uri="{9D8B030D-6E8A-4147-A177-3AD203B41FA5}">
                      <a16:colId xmlns:a16="http://schemas.microsoft.com/office/drawing/2014/main" val="20004"/>
                    </a:ext>
                  </a:extLst>
                </a:gridCol>
              </a:tblGrid>
              <a:tr h="338328">
                <a:tc>
                  <a:txBody>
                    <a:bodyPr/>
                    <a:lstStyle/>
                    <a:p>
                      <a:pPr algn="ctr"/>
                      <a:r>
                        <a:rPr sz="900" b="1">
                          <a:solidFill>
                            <a:srgbClr val="FFFFFF"/>
                          </a:solidFill>
                          <a:latin typeface="Calibri"/>
                        </a:rPr>
                        <a:t>Model</a:t>
                      </a:r>
                    </a:p>
                  </a:txBody>
                  <a:tcPr>
                    <a:solidFill>
                      <a:srgbClr val="028090"/>
                    </a:solidFill>
                  </a:tcPr>
                </a:tc>
                <a:tc>
                  <a:txBody>
                    <a:bodyPr/>
                    <a:lstStyle/>
                    <a:p>
                      <a:pPr algn="ctr"/>
                      <a:r>
                        <a:rPr sz="900" b="1">
                          <a:solidFill>
                            <a:srgbClr val="FFFFFF"/>
                          </a:solidFill>
                          <a:latin typeface="Calibri"/>
                        </a:rPr>
                        <a:t>Acc</a:t>
                      </a:r>
                    </a:p>
                  </a:txBody>
                  <a:tcPr>
                    <a:solidFill>
                      <a:srgbClr val="028090"/>
                    </a:solidFill>
                  </a:tcPr>
                </a:tc>
                <a:tc>
                  <a:txBody>
                    <a:bodyPr/>
                    <a:lstStyle/>
                    <a:p>
                      <a:pPr algn="ctr"/>
                      <a:r>
                        <a:rPr sz="900" b="1">
                          <a:solidFill>
                            <a:srgbClr val="FFFFFF"/>
                          </a:solidFill>
                          <a:latin typeface="Calibri"/>
                        </a:rPr>
                        <a:t>F1</a:t>
                      </a:r>
                    </a:p>
                  </a:txBody>
                  <a:tcPr>
                    <a:solidFill>
                      <a:srgbClr val="028090"/>
                    </a:solidFill>
                  </a:tcPr>
                </a:tc>
                <a:tc>
                  <a:txBody>
                    <a:bodyPr/>
                    <a:lstStyle/>
                    <a:p>
                      <a:pPr algn="ctr"/>
                      <a:r>
                        <a:rPr sz="900" b="1">
                          <a:solidFill>
                            <a:srgbClr val="FFFFFF"/>
                          </a:solidFill>
                          <a:latin typeface="Calibri"/>
                        </a:rPr>
                        <a:t>CV Acc</a:t>
                      </a:r>
                    </a:p>
                  </a:txBody>
                  <a:tcPr>
                    <a:solidFill>
                      <a:srgbClr val="028090"/>
                    </a:solidFill>
                  </a:tcPr>
                </a:tc>
                <a:tc>
                  <a:txBody>
                    <a:bodyPr/>
                    <a:lstStyle/>
                    <a:p>
                      <a:pPr algn="ctr"/>
                      <a:r>
                        <a:rPr sz="900" b="1">
                          <a:solidFill>
                            <a:srgbClr val="FFFFFF"/>
                          </a:solidFill>
                          <a:latin typeface="Calibri"/>
                        </a:rPr>
                        <a:t>AUC-ROC</a:t>
                      </a:r>
                    </a:p>
                  </a:txBody>
                  <a:tcPr>
                    <a:solidFill>
                      <a:srgbClr val="028090"/>
                    </a:solidFill>
                  </a:tcPr>
                </a:tc>
                <a:extLst>
                  <a:ext uri="{0D108BD9-81ED-4DB2-BD59-A6C34878D82A}">
                    <a16:rowId xmlns:a16="http://schemas.microsoft.com/office/drawing/2014/main" val="10000"/>
                  </a:ext>
                </a:extLst>
              </a:tr>
              <a:tr h="338328">
                <a:tc>
                  <a:txBody>
                    <a:bodyPr/>
                    <a:lstStyle/>
                    <a:p>
                      <a:pPr algn="ctr"/>
                      <a:r>
                        <a:rPr sz="900">
                          <a:solidFill>
                            <a:srgbClr val="1B2A4A"/>
                          </a:solidFill>
                          <a:latin typeface="Calibri"/>
                        </a:rPr>
                        <a:t>LR</a:t>
                      </a:r>
                    </a:p>
                  </a:txBody>
                  <a:tcPr>
                    <a:solidFill>
                      <a:srgbClr val="FFFFFF"/>
                    </a:solidFill>
                  </a:tcPr>
                </a:tc>
                <a:tc>
                  <a:txBody>
                    <a:bodyPr/>
                    <a:lstStyle/>
                    <a:p>
                      <a:pPr algn="ctr"/>
                      <a:r>
                        <a:rPr sz="900">
                          <a:solidFill>
                            <a:srgbClr val="1B2A4A"/>
                          </a:solidFill>
                          <a:latin typeface="Calibri"/>
                        </a:rPr>
                        <a:t>0.7970</a:t>
                      </a:r>
                    </a:p>
                  </a:txBody>
                  <a:tcPr>
                    <a:solidFill>
                      <a:srgbClr val="FFFFFF"/>
                    </a:solidFill>
                  </a:tcPr>
                </a:tc>
                <a:tc>
                  <a:txBody>
                    <a:bodyPr/>
                    <a:lstStyle/>
                    <a:p>
                      <a:pPr algn="ctr"/>
                      <a:r>
                        <a:rPr sz="900">
                          <a:solidFill>
                            <a:srgbClr val="1B2A4A"/>
                          </a:solidFill>
                          <a:latin typeface="Calibri"/>
                        </a:rPr>
                        <a:t>0.7966</a:t>
                      </a:r>
                    </a:p>
                  </a:txBody>
                  <a:tcPr>
                    <a:solidFill>
                      <a:srgbClr val="FFFFFF"/>
                    </a:solidFill>
                  </a:tcPr>
                </a:tc>
                <a:tc>
                  <a:txBody>
                    <a:bodyPr/>
                    <a:lstStyle/>
                    <a:p>
                      <a:pPr algn="ctr"/>
                      <a:r>
                        <a:rPr sz="900">
                          <a:solidFill>
                            <a:srgbClr val="1B2A4A"/>
                          </a:solidFill>
                          <a:latin typeface="Calibri"/>
                        </a:rPr>
                        <a:t>0.7684</a:t>
                      </a:r>
                    </a:p>
                  </a:txBody>
                  <a:tcPr>
                    <a:solidFill>
                      <a:srgbClr val="FFFFFF"/>
                    </a:solidFill>
                  </a:tcPr>
                </a:tc>
                <a:tc>
                  <a:txBody>
                    <a:bodyPr/>
                    <a:lstStyle/>
                    <a:p>
                      <a:pPr algn="ctr"/>
                      <a:r>
                        <a:rPr sz="900" b="1">
                          <a:solidFill>
                            <a:srgbClr val="028090"/>
                          </a:solidFill>
                          <a:latin typeface="Calibri"/>
                        </a:rPr>
                        <a:t>0.9524</a:t>
                      </a:r>
                    </a:p>
                  </a:txBody>
                  <a:tcPr>
                    <a:solidFill>
                      <a:srgbClr val="FFFFFF"/>
                    </a:solidFill>
                  </a:tcPr>
                </a:tc>
                <a:extLst>
                  <a:ext uri="{0D108BD9-81ED-4DB2-BD59-A6C34878D82A}">
                    <a16:rowId xmlns:a16="http://schemas.microsoft.com/office/drawing/2014/main" val="10001"/>
                  </a:ext>
                </a:extLst>
              </a:tr>
              <a:tr h="338328">
                <a:tc>
                  <a:txBody>
                    <a:bodyPr/>
                    <a:lstStyle/>
                    <a:p>
                      <a:pPr algn="ctr"/>
                      <a:r>
                        <a:rPr sz="900">
                          <a:solidFill>
                            <a:srgbClr val="1B2A4A"/>
                          </a:solidFill>
                          <a:latin typeface="Calibri"/>
                        </a:rPr>
                        <a:t>NB</a:t>
                      </a:r>
                    </a:p>
                  </a:txBody>
                  <a:tcPr>
                    <a:solidFill>
                      <a:srgbClr val="EBF5FB"/>
                    </a:solidFill>
                  </a:tcPr>
                </a:tc>
                <a:tc>
                  <a:txBody>
                    <a:bodyPr/>
                    <a:lstStyle/>
                    <a:p>
                      <a:pPr algn="ctr"/>
                      <a:r>
                        <a:rPr sz="900">
                          <a:solidFill>
                            <a:srgbClr val="1B2A4A"/>
                          </a:solidFill>
                          <a:latin typeface="Calibri"/>
                        </a:rPr>
                        <a:t>0.7189</a:t>
                      </a:r>
                    </a:p>
                  </a:txBody>
                  <a:tcPr>
                    <a:solidFill>
                      <a:srgbClr val="EBF5FB"/>
                    </a:solidFill>
                  </a:tcPr>
                </a:tc>
                <a:tc>
                  <a:txBody>
                    <a:bodyPr/>
                    <a:lstStyle/>
                    <a:p>
                      <a:pPr algn="ctr"/>
                      <a:r>
                        <a:rPr sz="900">
                          <a:solidFill>
                            <a:srgbClr val="1B2A4A"/>
                          </a:solidFill>
                          <a:latin typeface="Calibri"/>
                        </a:rPr>
                        <a:t>0.7140</a:t>
                      </a:r>
                    </a:p>
                  </a:txBody>
                  <a:tcPr>
                    <a:solidFill>
                      <a:srgbClr val="EBF5FB"/>
                    </a:solidFill>
                  </a:tcPr>
                </a:tc>
                <a:tc>
                  <a:txBody>
                    <a:bodyPr/>
                    <a:lstStyle/>
                    <a:p>
                      <a:pPr algn="ctr"/>
                      <a:r>
                        <a:rPr sz="900">
                          <a:solidFill>
                            <a:srgbClr val="1B2A4A"/>
                          </a:solidFill>
                          <a:latin typeface="Calibri"/>
                        </a:rPr>
                        <a:t>0.6979</a:t>
                      </a:r>
                    </a:p>
                  </a:txBody>
                  <a:tcPr>
                    <a:solidFill>
                      <a:srgbClr val="EBF5FB"/>
                    </a:solidFill>
                  </a:tcPr>
                </a:tc>
                <a:tc>
                  <a:txBody>
                    <a:bodyPr/>
                    <a:lstStyle/>
                    <a:p>
                      <a:pPr algn="ctr"/>
                      <a:r>
                        <a:rPr sz="900">
                          <a:solidFill>
                            <a:srgbClr val="1B2A4A"/>
                          </a:solidFill>
                          <a:latin typeface="Calibri"/>
                        </a:rPr>
                        <a:t>0.9296</a:t>
                      </a:r>
                    </a:p>
                  </a:txBody>
                  <a:tcPr>
                    <a:solidFill>
                      <a:srgbClr val="EBF5FB"/>
                    </a:solidFill>
                  </a:tcPr>
                </a:tc>
                <a:extLst>
                  <a:ext uri="{0D108BD9-81ED-4DB2-BD59-A6C34878D82A}">
                    <a16:rowId xmlns:a16="http://schemas.microsoft.com/office/drawing/2014/main" val="10002"/>
                  </a:ext>
                </a:extLst>
              </a:tr>
              <a:tr h="338328">
                <a:tc>
                  <a:txBody>
                    <a:bodyPr/>
                    <a:lstStyle/>
                    <a:p>
                      <a:pPr algn="ctr"/>
                      <a:r>
                        <a:rPr sz="900">
                          <a:solidFill>
                            <a:srgbClr val="1B2A4A"/>
                          </a:solidFill>
                          <a:latin typeface="Calibri"/>
                        </a:rPr>
                        <a:t>SVM</a:t>
                      </a:r>
                    </a:p>
                  </a:txBody>
                  <a:tcPr>
                    <a:solidFill>
                      <a:srgbClr val="FFFFFF"/>
                    </a:solidFill>
                  </a:tcPr>
                </a:tc>
                <a:tc>
                  <a:txBody>
                    <a:bodyPr/>
                    <a:lstStyle/>
                    <a:p>
                      <a:pPr algn="ctr"/>
                      <a:r>
                        <a:rPr sz="900" b="1">
                          <a:solidFill>
                            <a:srgbClr val="028090"/>
                          </a:solidFill>
                          <a:latin typeface="Calibri"/>
                        </a:rPr>
                        <a:t>0.8045</a:t>
                      </a:r>
                    </a:p>
                  </a:txBody>
                  <a:tcPr>
                    <a:solidFill>
                      <a:srgbClr val="FFFFFF"/>
                    </a:solidFill>
                  </a:tcPr>
                </a:tc>
                <a:tc>
                  <a:txBody>
                    <a:bodyPr/>
                    <a:lstStyle/>
                    <a:p>
                      <a:pPr algn="ctr"/>
                      <a:r>
                        <a:rPr sz="900" b="1">
                          <a:solidFill>
                            <a:srgbClr val="028090"/>
                          </a:solidFill>
                          <a:latin typeface="Calibri"/>
                        </a:rPr>
                        <a:t>0.8004</a:t>
                      </a:r>
                    </a:p>
                  </a:txBody>
                  <a:tcPr>
                    <a:solidFill>
                      <a:srgbClr val="FFFFFF"/>
                    </a:solidFill>
                  </a:tcPr>
                </a:tc>
                <a:tc>
                  <a:txBody>
                    <a:bodyPr/>
                    <a:lstStyle/>
                    <a:p>
                      <a:pPr algn="ctr"/>
                      <a:r>
                        <a:rPr sz="900" b="1">
                          <a:solidFill>
                            <a:srgbClr val="028090"/>
                          </a:solidFill>
                          <a:latin typeface="Calibri"/>
                        </a:rPr>
                        <a:t>0.7716</a:t>
                      </a:r>
                    </a:p>
                  </a:txBody>
                  <a:tcPr>
                    <a:solidFill>
                      <a:srgbClr val="FFFFFF"/>
                    </a:solidFill>
                  </a:tcPr>
                </a:tc>
                <a:tc>
                  <a:txBody>
                    <a:bodyPr/>
                    <a:lstStyle/>
                    <a:p>
                      <a:pPr algn="ctr"/>
                      <a:r>
                        <a:rPr sz="900">
                          <a:solidFill>
                            <a:srgbClr val="1B2A4A"/>
                          </a:solidFill>
                          <a:latin typeface="Calibri"/>
                        </a:rPr>
                        <a:t>0.9449</a:t>
                      </a:r>
                    </a:p>
                  </a:txBody>
                  <a:tcPr>
                    <a:solidFill>
                      <a:srgbClr val="FFFFFF"/>
                    </a:solidFill>
                  </a:tcPr>
                </a:tc>
                <a:extLst>
                  <a:ext uri="{0D108BD9-81ED-4DB2-BD59-A6C34878D82A}">
                    <a16:rowId xmlns:a16="http://schemas.microsoft.com/office/drawing/2014/main" val="10003"/>
                  </a:ext>
                </a:extLst>
              </a:tr>
              <a:tr h="338328">
                <a:tc>
                  <a:txBody>
                    <a:bodyPr/>
                    <a:lstStyle/>
                    <a:p>
                      <a:pPr algn="ctr"/>
                      <a:r>
                        <a:rPr sz="900">
                          <a:solidFill>
                            <a:srgbClr val="1B2A4A"/>
                          </a:solidFill>
                          <a:latin typeface="Calibri"/>
                        </a:rPr>
                        <a:t>RF</a:t>
                      </a:r>
                    </a:p>
                  </a:txBody>
                  <a:tcPr>
                    <a:solidFill>
                      <a:srgbClr val="EBF5FB"/>
                    </a:solidFill>
                  </a:tcPr>
                </a:tc>
                <a:tc>
                  <a:txBody>
                    <a:bodyPr/>
                    <a:lstStyle/>
                    <a:p>
                      <a:pPr algn="ctr"/>
                      <a:r>
                        <a:rPr sz="900">
                          <a:solidFill>
                            <a:srgbClr val="1B2A4A"/>
                          </a:solidFill>
                          <a:latin typeface="Calibri"/>
                        </a:rPr>
                        <a:t>0.7741</a:t>
                      </a:r>
                    </a:p>
                  </a:txBody>
                  <a:tcPr>
                    <a:solidFill>
                      <a:srgbClr val="EBF5FB"/>
                    </a:solidFill>
                  </a:tcPr>
                </a:tc>
                <a:tc>
                  <a:txBody>
                    <a:bodyPr/>
                    <a:lstStyle/>
                    <a:p>
                      <a:pPr algn="ctr"/>
                      <a:r>
                        <a:rPr sz="900">
                          <a:solidFill>
                            <a:srgbClr val="1B2A4A"/>
                          </a:solidFill>
                          <a:latin typeface="Calibri"/>
                        </a:rPr>
                        <a:t>0.7655</a:t>
                      </a:r>
                    </a:p>
                  </a:txBody>
                  <a:tcPr>
                    <a:solidFill>
                      <a:srgbClr val="EBF5FB"/>
                    </a:solidFill>
                  </a:tcPr>
                </a:tc>
                <a:tc>
                  <a:txBody>
                    <a:bodyPr/>
                    <a:lstStyle/>
                    <a:p>
                      <a:pPr algn="ctr"/>
                      <a:r>
                        <a:rPr sz="900">
                          <a:solidFill>
                            <a:srgbClr val="1B2A4A"/>
                          </a:solidFill>
                          <a:latin typeface="Calibri"/>
                        </a:rPr>
                        <a:t>0.7341</a:t>
                      </a:r>
                    </a:p>
                  </a:txBody>
                  <a:tcPr>
                    <a:solidFill>
                      <a:srgbClr val="EBF5FB"/>
                    </a:solidFill>
                  </a:tcPr>
                </a:tc>
                <a:tc>
                  <a:txBody>
                    <a:bodyPr/>
                    <a:lstStyle/>
                    <a:p>
                      <a:pPr algn="ctr"/>
                      <a:r>
                        <a:rPr sz="900" dirty="0">
                          <a:solidFill>
                            <a:srgbClr val="1B2A4A"/>
                          </a:solidFill>
                          <a:latin typeface="Calibri"/>
                        </a:rPr>
                        <a:t>0.9379</a:t>
                      </a:r>
                    </a:p>
                  </a:txBody>
                  <a:tcPr>
                    <a:solidFill>
                      <a:srgbClr val="EBF5FB"/>
                    </a:solidFill>
                  </a:tcPr>
                </a:tc>
                <a:extLst>
                  <a:ext uri="{0D108BD9-81ED-4DB2-BD59-A6C34878D82A}">
                    <a16:rowId xmlns:a16="http://schemas.microsoft.com/office/drawing/2014/main" val="10004"/>
                  </a:ext>
                </a:extLst>
              </a:tr>
            </a:tbl>
          </a:graphicData>
        </a:graphic>
      </p:graphicFrame>
      <p:sp>
        <p:nvSpPr>
          <p:cNvPr id="16" name="Rectangle 15"/>
          <p:cNvSpPr/>
          <p:nvPr/>
        </p:nvSpPr>
        <p:spPr>
          <a:xfrm>
            <a:off x="274320" y="2999232"/>
            <a:ext cx="8531352" cy="178308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57200" y="3163564"/>
            <a:ext cx="8229600" cy="369332"/>
          </a:xfrm>
          <a:prstGeom prst="rect">
            <a:avLst/>
          </a:prstGeom>
          <a:noFill/>
        </p:spPr>
        <p:txBody>
          <a:bodyPr wrap="square">
            <a:spAutoFit/>
          </a:bodyPr>
          <a:lstStyle/>
          <a:p>
            <a:pPr algn="l"/>
            <a:r>
              <a:rPr b="1" i="0" dirty="0">
                <a:solidFill>
                  <a:srgbClr val="028090"/>
                </a:solidFill>
                <a:latin typeface="Calibri"/>
              </a:rPr>
              <a:t>Key Observations</a:t>
            </a:r>
          </a:p>
        </p:txBody>
      </p:sp>
      <p:sp>
        <p:nvSpPr>
          <p:cNvPr id="18" name="TextBox 17"/>
          <p:cNvSpPr txBox="1"/>
          <p:nvPr/>
        </p:nvSpPr>
        <p:spPr>
          <a:xfrm>
            <a:off x="324680" y="3673234"/>
            <a:ext cx="1828800" cy="261610"/>
          </a:xfrm>
          <a:prstGeom prst="rect">
            <a:avLst/>
          </a:prstGeom>
          <a:noFill/>
        </p:spPr>
        <p:txBody>
          <a:bodyPr wrap="square">
            <a:spAutoFit/>
          </a:bodyPr>
          <a:lstStyle/>
          <a:p>
            <a:pPr algn="l"/>
            <a:r>
              <a:rPr sz="1100" b="1" i="0" dirty="0">
                <a:solidFill>
                  <a:srgbClr val="1B2A4A"/>
                </a:solidFill>
                <a:latin typeface="Calibri"/>
              </a:rPr>
              <a:t>• Best Accuracy:</a:t>
            </a:r>
          </a:p>
        </p:txBody>
      </p:sp>
      <p:sp>
        <p:nvSpPr>
          <p:cNvPr id="19" name="TextBox 18"/>
          <p:cNvSpPr txBox="1"/>
          <p:nvPr/>
        </p:nvSpPr>
        <p:spPr>
          <a:xfrm>
            <a:off x="2153480" y="3673234"/>
            <a:ext cx="2194560" cy="261610"/>
          </a:xfrm>
          <a:prstGeom prst="rect">
            <a:avLst/>
          </a:prstGeom>
          <a:noFill/>
        </p:spPr>
        <p:txBody>
          <a:bodyPr wrap="square">
            <a:spAutoFit/>
          </a:bodyPr>
          <a:lstStyle/>
          <a:p>
            <a:pPr algn="l"/>
            <a:r>
              <a:rPr sz="1100" b="0" i="0" dirty="0">
                <a:solidFill>
                  <a:srgbClr val="64748B"/>
                </a:solidFill>
                <a:latin typeface="Calibri"/>
              </a:rPr>
              <a:t>SVM </a:t>
            </a:r>
            <a:r>
              <a:rPr sz="1100" b="0" i="0" dirty="0" err="1">
                <a:solidFill>
                  <a:srgbClr val="64748B"/>
                </a:solidFill>
                <a:latin typeface="Calibri"/>
              </a:rPr>
              <a:t>UniBigram</a:t>
            </a:r>
            <a:r>
              <a:rPr sz="1100" b="0" i="0" dirty="0">
                <a:solidFill>
                  <a:srgbClr val="64748B"/>
                </a:solidFill>
                <a:latin typeface="Calibri"/>
              </a:rPr>
              <a:t> — 0.8050</a:t>
            </a:r>
          </a:p>
        </p:txBody>
      </p:sp>
      <p:sp>
        <p:nvSpPr>
          <p:cNvPr id="20" name="TextBox 19"/>
          <p:cNvSpPr txBox="1"/>
          <p:nvPr/>
        </p:nvSpPr>
        <p:spPr>
          <a:xfrm>
            <a:off x="324680" y="3974986"/>
            <a:ext cx="1828800" cy="261610"/>
          </a:xfrm>
          <a:prstGeom prst="rect">
            <a:avLst/>
          </a:prstGeom>
          <a:noFill/>
        </p:spPr>
        <p:txBody>
          <a:bodyPr wrap="square">
            <a:spAutoFit/>
          </a:bodyPr>
          <a:lstStyle/>
          <a:p>
            <a:pPr algn="l"/>
            <a:r>
              <a:rPr sz="1100" b="1" i="0">
                <a:solidFill>
                  <a:srgbClr val="1B2A4A"/>
                </a:solidFill>
                <a:latin typeface="Calibri"/>
              </a:rPr>
              <a:t>• Best F1 Score:</a:t>
            </a:r>
          </a:p>
        </p:txBody>
      </p:sp>
      <p:sp>
        <p:nvSpPr>
          <p:cNvPr id="21" name="TextBox 20"/>
          <p:cNvSpPr txBox="1"/>
          <p:nvPr/>
        </p:nvSpPr>
        <p:spPr>
          <a:xfrm>
            <a:off x="2153480" y="3974986"/>
            <a:ext cx="2194560" cy="261610"/>
          </a:xfrm>
          <a:prstGeom prst="rect">
            <a:avLst/>
          </a:prstGeom>
          <a:noFill/>
        </p:spPr>
        <p:txBody>
          <a:bodyPr wrap="square">
            <a:spAutoFit/>
          </a:bodyPr>
          <a:lstStyle/>
          <a:p>
            <a:pPr algn="l"/>
            <a:r>
              <a:rPr sz="1100" b="0" i="0" dirty="0">
                <a:solidFill>
                  <a:srgbClr val="64748B"/>
                </a:solidFill>
                <a:latin typeface="Calibri"/>
              </a:rPr>
              <a:t>SVM </a:t>
            </a:r>
            <a:r>
              <a:rPr sz="1100" b="0" i="0" dirty="0" err="1">
                <a:solidFill>
                  <a:srgbClr val="64748B"/>
                </a:solidFill>
                <a:latin typeface="Calibri"/>
              </a:rPr>
              <a:t>UniBigram</a:t>
            </a:r>
            <a:r>
              <a:rPr sz="1100" b="0" i="0" dirty="0">
                <a:solidFill>
                  <a:srgbClr val="64748B"/>
                </a:solidFill>
                <a:latin typeface="Calibri"/>
              </a:rPr>
              <a:t> — 0.8011</a:t>
            </a:r>
          </a:p>
        </p:txBody>
      </p:sp>
      <p:sp>
        <p:nvSpPr>
          <p:cNvPr id="22" name="TextBox 21"/>
          <p:cNvSpPr txBox="1"/>
          <p:nvPr/>
        </p:nvSpPr>
        <p:spPr>
          <a:xfrm>
            <a:off x="324680" y="4276738"/>
            <a:ext cx="1828800" cy="261610"/>
          </a:xfrm>
          <a:prstGeom prst="rect">
            <a:avLst/>
          </a:prstGeom>
          <a:noFill/>
        </p:spPr>
        <p:txBody>
          <a:bodyPr wrap="square">
            <a:spAutoFit/>
          </a:bodyPr>
          <a:lstStyle/>
          <a:p>
            <a:pPr algn="l"/>
            <a:r>
              <a:rPr sz="1100" b="1" i="0">
                <a:solidFill>
                  <a:srgbClr val="1B2A4A"/>
                </a:solidFill>
                <a:latin typeface="Calibri"/>
              </a:rPr>
              <a:t>• Best CV Accuracy:</a:t>
            </a:r>
          </a:p>
        </p:txBody>
      </p:sp>
      <p:sp>
        <p:nvSpPr>
          <p:cNvPr id="23" name="TextBox 22"/>
          <p:cNvSpPr txBox="1"/>
          <p:nvPr/>
        </p:nvSpPr>
        <p:spPr>
          <a:xfrm>
            <a:off x="2153480" y="4276738"/>
            <a:ext cx="2194560" cy="261610"/>
          </a:xfrm>
          <a:prstGeom prst="rect">
            <a:avLst/>
          </a:prstGeom>
          <a:noFill/>
        </p:spPr>
        <p:txBody>
          <a:bodyPr wrap="square">
            <a:spAutoFit/>
          </a:bodyPr>
          <a:lstStyle/>
          <a:p>
            <a:pPr algn="l"/>
            <a:r>
              <a:rPr sz="1100" b="0" i="0">
                <a:solidFill>
                  <a:srgbClr val="64748B"/>
                </a:solidFill>
                <a:latin typeface="Calibri"/>
              </a:rPr>
              <a:t>SVM UniTrigram — 0.7716</a:t>
            </a:r>
          </a:p>
        </p:txBody>
      </p:sp>
      <p:sp>
        <p:nvSpPr>
          <p:cNvPr id="24" name="TextBox 23"/>
          <p:cNvSpPr txBox="1"/>
          <p:nvPr/>
        </p:nvSpPr>
        <p:spPr>
          <a:xfrm>
            <a:off x="4439480" y="3673234"/>
            <a:ext cx="1828800" cy="261610"/>
          </a:xfrm>
          <a:prstGeom prst="rect">
            <a:avLst/>
          </a:prstGeom>
          <a:noFill/>
        </p:spPr>
        <p:txBody>
          <a:bodyPr wrap="square">
            <a:spAutoFit/>
          </a:bodyPr>
          <a:lstStyle/>
          <a:p>
            <a:pPr algn="l"/>
            <a:r>
              <a:rPr sz="1100" b="1" i="0">
                <a:solidFill>
                  <a:srgbClr val="1B2A4A"/>
                </a:solidFill>
                <a:latin typeface="Calibri"/>
              </a:rPr>
              <a:t>• Best AUC-ROC:</a:t>
            </a:r>
          </a:p>
        </p:txBody>
      </p:sp>
      <p:sp>
        <p:nvSpPr>
          <p:cNvPr id="25" name="TextBox 24"/>
          <p:cNvSpPr txBox="1"/>
          <p:nvPr/>
        </p:nvSpPr>
        <p:spPr>
          <a:xfrm>
            <a:off x="6262050" y="3660524"/>
            <a:ext cx="2679192" cy="261610"/>
          </a:xfrm>
          <a:prstGeom prst="rect">
            <a:avLst/>
          </a:prstGeom>
          <a:noFill/>
        </p:spPr>
        <p:txBody>
          <a:bodyPr wrap="square">
            <a:spAutoFit/>
          </a:bodyPr>
          <a:lstStyle/>
          <a:p>
            <a:pPr algn="l"/>
            <a:r>
              <a:rPr sz="1100" b="0" i="0" dirty="0">
                <a:solidFill>
                  <a:srgbClr val="64748B"/>
                </a:solidFill>
                <a:latin typeface="Calibri"/>
              </a:rPr>
              <a:t>LR </a:t>
            </a:r>
            <a:r>
              <a:rPr sz="1100" b="0" i="0" dirty="0" err="1">
                <a:solidFill>
                  <a:srgbClr val="64748B"/>
                </a:solidFill>
                <a:latin typeface="Calibri"/>
              </a:rPr>
              <a:t>UniBigram</a:t>
            </a:r>
            <a:r>
              <a:rPr sz="1100" b="0" i="0" dirty="0">
                <a:solidFill>
                  <a:srgbClr val="64748B"/>
                </a:solidFill>
                <a:latin typeface="Calibri"/>
              </a:rPr>
              <a:t> = LR </a:t>
            </a:r>
            <a:r>
              <a:rPr sz="1100" b="0" i="0" dirty="0" err="1">
                <a:solidFill>
                  <a:srgbClr val="64748B"/>
                </a:solidFill>
                <a:latin typeface="Calibri"/>
              </a:rPr>
              <a:t>UniTrigram</a:t>
            </a:r>
            <a:r>
              <a:rPr sz="1100" b="0" i="0" dirty="0">
                <a:solidFill>
                  <a:srgbClr val="64748B"/>
                </a:solidFill>
                <a:latin typeface="Calibri"/>
              </a:rPr>
              <a:t> — 0.9524</a:t>
            </a:r>
          </a:p>
        </p:txBody>
      </p:sp>
      <p:sp>
        <p:nvSpPr>
          <p:cNvPr id="26" name="TextBox 25"/>
          <p:cNvSpPr txBox="1"/>
          <p:nvPr/>
        </p:nvSpPr>
        <p:spPr>
          <a:xfrm>
            <a:off x="4439480" y="3974986"/>
            <a:ext cx="1828800" cy="261610"/>
          </a:xfrm>
          <a:prstGeom prst="rect">
            <a:avLst/>
          </a:prstGeom>
          <a:noFill/>
        </p:spPr>
        <p:txBody>
          <a:bodyPr wrap="square">
            <a:spAutoFit/>
          </a:bodyPr>
          <a:lstStyle/>
          <a:p>
            <a:pPr algn="l"/>
            <a:r>
              <a:rPr sz="1100" b="1" i="0">
                <a:solidFill>
                  <a:srgbClr val="1B2A4A"/>
                </a:solidFill>
                <a:latin typeface="Calibri"/>
              </a:rPr>
              <a:t>• Worst overall:</a:t>
            </a:r>
          </a:p>
        </p:txBody>
      </p:sp>
      <p:sp>
        <p:nvSpPr>
          <p:cNvPr id="27" name="TextBox 26"/>
          <p:cNvSpPr txBox="1"/>
          <p:nvPr/>
        </p:nvSpPr>
        <p:spPr>
          <a:xfrm>
            <a:off x="6268280" y="3974986"/>
            <a:ext cx="2194560" cy="261610"/>
          </a:xfrm>
          <a:prstGeom prst="rect">
            <a:avLst/>
          </a:prstGeom>
          <a:noFill/>
        </p:spPr>
        <p:txBody>
          <a:bodyPr wrap="square">
            <a:spAutoFit/>
          </a:bodyPr>
          <a:lstStyle/>
          <a:p>
            <a:pPr algn="l"/>
            <a:r>
              <a:rPr sz="1100" b="0" i="0">
                <a:solidFill>
                  <a:srgbClr val="64748B"/>
                </a:solidFill>
                <a:latin typeface="Calibri"/>
              </a:rPr>
              <a:t>Naive Bayes across all feature sets</a:t>
            </a:r>
          </a:p>
        </p:txBody>
      </p:sp>
      <p:sp>
        <p:nvSpPr>
          <p:cNvPr id="28" name="TextBox 27"/>
          <p:cNvSpPr txBox="1"/>
          <p:nvPr/>
        </p:nvSpPr>
        <p:spPr>
          <a:xfrm>
            <a:off x="4439480" y="4276738"/>
            <a:ext cx="1828800" cy="261610"/>
          </a:xfrm>
          <a:prstGeom prst="rect">
            <a:avLst/>
          </a:prstGeom>
          <a:noFill/>
        </p:spPr>
        <p:txBody>
          <a:bodyPr wrap="square">
            <a:spAutoFit/>
          </a:bodyPr>
          <a:lstStyle/>
          <a:p>
            <a:pPr algn="l"/>
            <a:r>
              <a:rPr sz="1100" b="1" i="0">
                <a:solidFill>
                  <a:srgbClr val="1B2A4A"/>
                </a:solidFill>
                <a:latin typeface="Calibri"/>
              </a:rPr>
              <a:t>• Combined features:</a:t>
            </a:r>
          </a:p>
        </p:txBody>
      </p:sp>
      <p:sp>
        <p:nvSpPr>
          <p:cNvPr id="29" name="TextBox 28"/>
          <p:cNvSpPr txBox="1"/>
          <p:nvPr/>
        </p:nvSpPr>
        <p:spPr>
          <a:xfrm>
            <a:off x="6268280" y="4276738"/>
            <a:ext cx="2194560" cy="430887"/>
          </a:xfrm>
          <a:prstGeom prst="rect">
            <a:avLst/>
          </a:prstGeom>
          <a:noFill/>
        </p:spPr>
        <p:txBody>
          <a:bodyPr wrap="square">
            <a:spAutoFit/>
          </a:bodyPr>
          <a:lstStyle/>
          <a:p>
            <a:pPr algn="l"/>
            <a:r>
              <a:rPr sz="1100" b="0" i="0">
                <a:solidFill>
                  <a:srgbClr val="64748B"/>
                </a:solidFill>
                <a:latin typeface="Calibri"/>
              </a:rPr>
              <a:t>Consistently outperform Unigram alone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73152"/>
          </a:xfrm>
          <a:prstGeom prst="rect">
            <a:avLst/>
          </a:prstGeom>
          <a:solidFill>
            <a:srgbClr val="028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5065776"/>
            <a:ext cx="9144000" cy="82296"/>
          </a:xfrm>
          <a:prstGeom prst="rect">
            <a:avLst/>
          </a:prstGeom>
          <a:solidFill>
            <a:srgbClr val="028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137160"/>
            <a:ext cx="8229600" cy="530352"/>
          </a:xfrm>
          <a:prstGeom prst="rect">
            <a:avLst/>
          </a:prstGeom>
          <a:noFill/>
        </p:spPr>
        <p:txBody>
          <a:bodyPr wrap="square">
            <a:spAutoFit/>
          </a:bodyPr>
          <a:lstStyle/>
          <a:p>
            <a:pPr algn="l"/>
            <a:r>
              <a:rPr sz="2400" b="1" i="0">
                <a:solidFill>
                  <a:srgbClr val="1B2A4A"/>
                </a:solidFill>
                <a:latin typeface="Calibri"/>
              </a:rPr>
              <a:t>Logistic Regression vs SVM — Head to Head</a:t>
            </a:r>
          </a:p>
        </p:txBody>
      </p:sp>
      <p:sp>
        <p:nvSpPr>
          <p:cNvPr id="7" name="Rectangle 6"/>
          <p:cNvSpPr/>
          <p:nvPr/>
        </p:nvSpPr>
        <p:spPr>
          <a:xfrm>
            <a:off x="274320" y="804672"/>
            <a:ext cx="4160520" cy="274320"/>
          </a:xfrm>
          <a:prstGeom prst="rect">
            <a:avLst/>
          </a:prstGeom>
          <a:solidFill>
            <a:srgbClr val="7EB3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74320" y="804672"/>
            <a:ext cx="4160520" cy="274320"/>
          </a:xfrm>
          <a:prstGeom prst="rect">
            <a:avLst/>
          </a:prstGeom>
          <a:noFill/>
        </p:spPr>
        <p:txBody>
          <a:bodyPr wrap="square">
            <a:spAutoFit/>
          </a:bodyPr>
          <a:lstStyle/>
          <a:p>
            <a:pPr algn="ctr"/>
            <a:r>
              <a:rPr sz="1100" b="1" i="0">
                <a:solidFill>
                  <a:srgbClr val="FFFFFF"/>
                </a:solidFill>
                <a:latin typeface="Calibri"/>
              </a:rPr>
              <a:t>Logistic Regression</a:t>
            </a:r>
          </a:p>
        </p:txBody>
      </p:sp>
      <p:sp>
        <p:nvSpPr>
          <p:cNvPr id="9" name="Rectangle 8"/>
          <p:cNvSpPr/>
          <p:nvPr/>
        </p:nvSpPr>
        <p:spPr>
          <a:xfrm>
            <a:off x="4709160" y="804672"/>
            <a:ext cx="4160520" cy="274320"/>
          </a:xfrm>
          <a:prstGeom prst="rect">
            <a:avLst/>
          </a:prstGeom>
          <a:solidFill>
            <a:srgbClr val="E88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709160" y="804672"/>
            <a:ext cx="4160520" cy="261610"/>
          </a:xfrm>
          <a:prstGeom prst="rect">
            <a:avLst/>
          </a:prstGeom>
          <a:noFill/>
        </p:spPr>
        <p:txBody>
          <a:bodyPr wrap="square">
            <a:spAutoFit/>
          </a:bodyPr>
          <a:lstStyle/>
          <a:p>
            <a:pPr algn="ctr"/>
            <a:r>
              <a:rPr sz="1100" b="1" i="0" dirty="0">
                <a:solidFill>
                  <a:srgbClr val="FFFFFF"/>
                </a:solidFill>
                <a:latin typeface="Calibri"/>
              </a:rPr>
              <a:t>SVM </a:t>
            </a:r>
          </a:p>
        </p:txBody>
      </p:sp>
      <p:graphicFrame>
        <p:nvGraphicFramePr>
          <p:cNvPr id="11" name="Table 10"/>
          <p:cNvGraphicFramePr>
            <a:graphicFrameLocks noGrp="1"/>
          </p:cNvGraphicFramePr>
          <p:nvPr>
            <p:extLst>
              <p:ext uri="{D42A27DB-BD31-4B8C-83A1-F6EECF244321}">
                <p14:modId xmlns:p14="http://schemas.microsoft.com/office/powerpoint/2010/main" val="1896234339"/>
              </p:ext>
            </p:extLst>
          </p:nvPr>
        </p:nvGraphicFramePr>
        <p:xfrm>
          <a:off x="274320" y="1143000"/>
          <a:ext cx="8595360" cy="2606040"/>
        </p:xfrm>
        <a:graphic>
          <a:graphicData uri="http://schemas.openxmlformats.org/drawingml/2006/table">
            <a:tbl>
              <a:tblPr firstRow="1" bandRow="1">
                <a:tableStyleId>{5C22544A-7EE6-4342-B048-85BDC9FD1C3A}</a:tableStyleId>
              </a:tblPr>
              <a:tblGrid>
                <a:gridCol w="1719071">
                  <a:extLst>
                    <a:ext uri="{9D8B030D-6E8A-4147-A177-3AD203B41FA5}">
                      <a16:colId xmlns:a16="http://schemas.microsoft.com/office/drawing/2014/main" val="20000"/>
                    </a:ext>
                  </a:extLst>
                </a:gridCol>
                <a:gridCol w="1719071">
                  <a:extLst>
                    <a:ext uri="{9D8B030D-6E8A-4147-A177-3AD203B41FA5}">
                      <a16:colId xmlns:a16="http://schemas.microsoft.com/office/drawing/2014/main" val="20003"/>
                    </a:ext>
                  </a:extLst>
                </a:gridCol>
                <a:gridCol w="1719071">
                  <a:extLst>
                    <a:ext uri="{9D8B030D-6E8A-4147-A177-3AD203B41FA5}">
                      <a16:colId xmlns:a16="http://schemas.microsoft.com/office/drawing/2014/main" val="20004"/>
                    </a:ext>
                  </a:extLst>
                </a:gridCol>
                <a:gridCol w="1719071">
                  <a:extLst>
                    <a:ext uri="{9D8B030D-6E8A-4147-A177-3AD203B41FA5}">
                      <a16:colId xmlns:a16="http://schemas.microsoft.com/office/drawing/2014/main" val="20005"/>
                    </a:ext>
                  </a:extLst>
                </a:gridCol>
                <a:gridCol w="1719076">
                  <a:extLst>
                    <a:ext uri="{9D8B030D-6E8A-4147-A177-3AD203B41FA5}">
                      <a16:colId xmlns:a16="http://schemas.microsoft.com/office/drawing/2014/main" val="20006"/>
                    </a:ext>
                  </a:extLst>
                </a:gridCol>
              </a:tblGrid>
              <a:tr h="325755">
                <a:tc>
                  <a:txBody>
                    <a:bodyPr/>
                    <a:lstStyle/>
                    <a:p>
                      <a:pPr algn="ctr"/>
                      <a:r>
                        <a:rPr sz="900" b="1">
                          <a:solidFill>
                            <a:srgbClr val="FFFFFF"/>
                          </a:solidFill>
                          <a:latin typeface="Calibri"/>
                        </a:rPr>
                        <a:t>Metric</a:t>
                      </a:r>
                    </a:p>
                  </a:txBody>
                  <a:tcPr>
                    <a:solidFill>
                      <a:srgbClr val="1B2A4A"/>
                    </a:solidFill>
                  </a:tcPr>
                </a:tc>
                <a:tc>
                  <a:txBody>
                    <a:bodyPr/>
                    <a:lstStyle/>
                    <a:p>
                      <a:pPr algn="ctr"/>
                      <a:r>
                        <a:rPr sz="900" b="1">
                          <a:solidFill>
                            <a:srgbClr val="FFFFFF"/>
                          </a:solidFill>
                          <a:latin typeface="Calibri"/>
                        </a:rPr>
                        <a:t>LR UniBigram</a:t>
                      </a:r>
                    </a:p>
                  </a:txBody>
                  <a:tcPr>
                    <a:solidFill>
                      <a:srgbClr val="7EB3D8"/>
                    </a:solidFill>
                  </a:tcPr>
                </a:tc>
                <a:tc>
                  <a:txBody>
                    <a:bodyPr/>
                    <a:lstStyle/>
                    <a:p>
                      <a:pPr algn="ctr"/>
                      <a:r>
                        <a:rPr sz="900" b="1">
                          <a:solidFill>
                            <a:srgbClr val="FFFFFF"/>
                          </a:solidFill>
                          <a:latin typeface="Calibri"/>
                        </a:rPr>
                        <a:t>SVM UniBigram</a:t>
                      </a:r>
                    </a:p>
                  </a:txBody>
                  <a:tcPr>
                    <a:solidFill>
                      <a:srgbClr val="E88080"/>
                    </a:solidFill>
                  </a:tcPr>
                </a:tc>
                <a:tc>
                  <a:txBody>
                    <a:bodyPr/>
                    <a:lstStyle/>
                    <a:p>
                      <a:pPr algn="ctr"/>
                      <a:r>
                        <a:rPr sz="900" b="1">
                          <a:solidFill>
                            <a:srgbClr val="FFFFFF"/>
                          </a:solidFill>
                          <a:latin typeface="Calibri"/>
                        </a:rPr>
                        <a:t>LR UniTrigram</a:t>
                      </a:r>
                    </a:p>
                  </a:txBody>
                  <a:tcPr>
                    <a:solidFill>
                      <a:srgbClr val="7EB3D8"/>
                    </a:solidFill>
                  </a:tcPr>
                </a:tc>
                <a:tc>
                  <a:txBody>
                    <a:bodyPr/>
                    <a:lstStyle/>
                    <a:p>
                      <a:pPr algn="ctr"/>
                      <a:r>
                        <a:rPr sz="900" b="1">
                          <a:solidFill>
                            <a:srgbClr val="FFFFFF"/>
                          </a:solidFill>
                          <a:latin typeface="Calibri"/>
                        </a:rPr>
                        <a:t>SVM UniTrigram</a:t>
                      </a:r>
                    </a:p>
                  </a:txBody>
                  <a:tcPr>
                    <a:solidFill>
                      <a:srgbClr val="E88080"/>
                    </a:solidFill>
                  </a:tcPr>
                </a:tc>
                <a:extLst>
                  <a:ext uri="{0D108BD9-81ED-4DB2-BD59-A6C34878D82A}">
                    <a16:rowId xmlns:a16="http://schemas.microsoft.com/office/drawing/2014/main" val="10000"/>
                  </a:ext>
                </a:extLst>
              </a:tr>
              <a:tr h="325755">
                <a:tc>
                  <a:txBody>
                    <a:bodyPr/>
                    <a:lstStyle/>
                    <a:p>
                      <a:pPr algn="ctr"/>
                      <a:r>
                        <a:rPr sz="950">
                          <a:solidFill>
                            <a:srgbClr val="1B2A4A"/>
                          </a:solidFill>
                          <a:latin typeface="Calibri"/>
                        </a:rPr>
                        <a:t>Accuracy</a:t>
                      </a:r>
                    </a:p>
                  </a:txBody>
                  <a:tcPr>
                    <a:solidFill>
                      <a:srgbClr val="FFFFFF"/>
                    </a:solidFill>
                  </a:tcPr>
                </a:tc>
                <a:tc>
                  <a:txBody>
                    <a:bodyPr/>
                    <a:lstStyle/>
                    <a:p>
                      <a:pPr algn="ctr"/>
                      <a:r>
                        <a:rPr sz="950">
                          <a:solidFill>
                            <a:srgbClr val="1B2A4A"/>
                          </a:solidFill>
                          <a:latin typeface="Calibri"/>
                        </a:rPr>
                        <a:t>0.7955</a:t>
                      </a:r>
                    </a:p>
                  </a:txBody>
                  <a:tcPr>
                    <a:solidFill>
                      <a:srgbClr val="FFFFFF"/>
                    </a:solidFill>
                  </a:tcPr>
                </a:tc>
                <a:tc>
                  <a:txBody>
                    <a:bodyPr/>
                    <a:lstStyle/>
                    <a:p>
                      <a:pPr algn="ctr"/>
                      <a:r>
                        <a:rPr sz="950" b="1">
                          <a:solidFill>
                            <a:srgbClr val="C0392B"/>
                          </a:solidFill>
                          <a:latin typeface="Calibri"/>
                        </a:rPr>
                        <a:t>0.8050</a:t>
                      </a:r>
                    </a:p>
                  </a:txBody>
                  <a:tcPr>
                    <a:solidFill>
                      <a:srgbClr val="FFFFFF"/>
                    </a:solidFill>
                  </a:tcPr>
                </a:tc>
                <a:tc>
                  <a:txBody>
                    <a:bodyPr/>
                    <a:lstStyle/>
                    <a:p>
                      <a:pPr algn="ctr"/>
                      <a:r>
                        <a:rPr sz="950">
                          <a:solidFill>
                            <a:srgbClr val="1B2A4A"/>
                          </a:solidFill>
                          <a:latin typeface="Calibri"/>
                        </a:rPr>
                        <a:t>0.7970</a:t>
                      </a:r>
                    </a:p>
                  </a:txBody>
                  <a:tcPr>
                    <a:solidFill>
                      <a:srgbClr val="FFFFFF"/>
                    </a:solidFill>
                  </a:tcPr>
                </a:tc>
                <a:tc>
                  <a:txBody>
                    <a:bodyPr/>
                    <a:lstStyle/>
                    <a:p>
                      <a:pPr algn="ctr"/>
                      <a:r>
                        <a:rPr sz="950" b="1" dirty="0">
                          <a:solidFill>
                            <a:srgbClr val="C0392B"/>
                          </a:solidFill>
                          <a:latin typeface="Calibri"/>
                        </a:rPr>
                        <a:t>0.8045</a:t>
                      </a:r>
                    </a:p>
                  </a:txBody>
                  <a:tcPr>
                    <a:solidFill>
                      <a:srgbClr val="FFFFFF"/>
                    </a:solidFill>
                  </a:tcPr>
                </a:tc>
                <a:extLst>
                  <a:ext uri="{0D108BD9-81ED-4DB2-BD59-A6C34878D82A}">
                    <a16:rowId xmlns:a16="http://schemas.microsoft.com/office/drawing/2014/main" val="10001"/>
                  </a:ext>
                </a:extLst>
              </a:tr>
              <a:tr h="325755">
                <a:tc>
                  <a:txBody>
                    <a:bodyPr/>
                    <a:lstStyle/>
                    <a:p>
                      <a:pPr algn="ctr"/>
                      <a:r>
                        <a:rPr sz="950">
                          <a:solidFill>
                            <a:srgbClr val="1B2A4A"/>
                          </a:solidFill>
                          <a:latin typeface="Calibri"/>
                        </a:rPr>
                        <a:t>Precision</a:t>
                      </a:r>
                    </a:p>
                  </a:txBody>
                  <a:tcPr>
                    <a:solidFill>
                      <a:srgbClr val="EBF5FB"/>
                    </a:solidFill>
                  </a:tcPr>
                </a:tc>
                <a:tc>
                  <a:txBody>
                    <a:bodyPr/>
                    <a:lstStyle/>
                    <a:p>
                      <a:pPr algn="ctr"/>
                      <a:r>
                        <a:rPr sz="950">
                          <a:solidFill>
                            <a:srgbClr val="1B2A4A"/>
                          </a:solidFill>
                          <a:latin typeface="Calibri"/>
                        </a:rPr>
                        <a:t>0.7959</a:t>
                      </a:r>
                    </a:p>
                  </a:txBody>
                  <a:tcPr>
                    <a:solidFill>
                      <a:srgbClr val="EBF5FB"/>
                    </a:solidFill>
                  </a:tcPr>
                </a:tc>
                <a:tc>
                  <a:txBody>
                    <a:bodyPr/>
                    <a:lstStyle/>
                    <a:p>
                      <a:pPr algn="ctr"/>
                      <a:r>
                        <a:rPr sz="950">
                          <a:solidFill>
                            <a:srgbClr val="1B2A4A"/>
                          </a:solidFill>
                          <a:latin typeface="Calibri"/>
                        </a:rPr>
                        <a:t>0.8044</a:t>
                      </a:r>
                    </a:p>
                  </a:txBody>
                  <a:tcPr>
                    <a:solidFill>
                      <a:srgbClr val="EBF5FB"/>
                    </a:solidFill>
                  </a:tcPr>
                </a:tc>
                <a:tc>
                  <a:txBody>
                    <a:bodyPr/>
                    <a:lstStyle/>
                    <a:p>
                      <a:pPr algn="ctr"/>
                      <a:r>
                        <a:rPr sz="950">
                          <a:solidFill>
                            <a:srgbClr val="1B2A4A"/>
                          </a:solidFill>
                          <a:latin typeface="Calibri"/>
                        </a:rPr>
                        <a:t>0.7979</a:t>
                      </a:r>
                    </a:p>
                  </a:txBody>
                  <a:tcPr>
                    <a:solidFill>
                      <a:srgbClr val="EBF5FB"/>
                    </a:solidFill>
                  </a:tcPr>
                </a:tc>
                <a:tc>
                  <a:txBody>
                    <a:bodyPr/>
                    <a:lstStyle/>
                    <a:p>
                      <a:pPr algn="ctr"/>
                      <a:r>
                        <a:rPr sz="950">
                          <a:solidFill>
                            <a:srgbClr val="1B2A4A"/>
                          </a:solidFill>
                          <a:latin typeface="Calibri"/>
                        </a:rPr>
                        <a:t>0.8039</a:t>
                      </a:r>
                    </a:p>
                  </a:txBody>
                  <a:tcPr>
                    <a:solidFill>
                      <a:srgbClr val="EBF5FB"/>
                    </a:solidFill>
                  </a:tcPr>
                </a:tc>
                <a:extLst>
                  <a:ext uri="{0D108BD9-81ED-4DB2-BD59-A6C34878D82A}">
                    <a16:rowId xmlns:a16="http://schemas.microsoft.com/office/drawing/2014/main" val="10002"/>
                  </a:ext>
                </a:extLst>
              </a:tr>
              <a:tr h="325755">
                <a:tc>
                  <a:txBody>
                    <a:bodyPr/>
                    <a:lstStyle/>
                    <a:p>
                      <a:pPr algn="ctr"/>
                      <a:r>
                        <a:rPr sz="950">
                          <a:solidFill>
                            <a:srgbClr val="1B2A4A"/>
                          </a:solidFill>
                          <a:latin typeface="Calibri"/>
                        </a:rPr>
                        <a:t>Recall</a:t>
                      </a:r>
                    </a:p>
                  </a:txBody>
                  <a:tcPr>
                    <a:solidFill>
                      <a:srgbClr val="FFFFFF"/>
                    </a:solidFill>
                  </a:tcPr>
                </a:tc>
                <a:tc>
                  <a:txBody>
                    <a:bodyPr/>
                    <a:lstStyle/>
                    <a:p>
                      <a:pPr algn="ctr"/>
                      <a:r>
                        <a:rPr sz="950">
                          <a:solidFill>
                            <a:srgbClr val="1B2A4A"/>
                          </a:solidFill>
                          <a:latin typeface="Calibri"/>
                        </a:rPr>
                        <a:t>0.7979</a:t>
                      </a:r>
                    </a:p>
                  </a:txBody>
                  <a:tcPr>
                    <a:solidFill>
                      <a:srgbClr val="FFFFFF"/>
                    </a:solidFill>
                  </a:tcPr>
                </a:tc>
                <a:tc>
                  <a:txBody>
                    <a:bodyPr/>
                    <a:lstStyle/>
                    <a:p>
                      <a:pPr algn="ctr"/>
                      <a:r>
                        <a:rPr sz="950">
                          <a:solidFill>
                            <a:srgbClr val="1B2A4A"/>
                          </a:solidFill>
                          <a:latin typeface="Calibri"/>
                        </a:rPr>
                        <a:t>0.8068</a:t>
                      </a:r>
                    </a:p>
                  </a:txBody>
                  <a:tcPr>
                    <a:solidFill>
                      <a:srgbClr val="FFFFFF"/>
                    </a:solidFill>
                  </a:tcPr>
                </a:tc>
                <a:tc>
                  <a:txBody>
                    <a:bodyPr/>
                    <a:lstStyle/>
                    <a:p>
                      <a:pPr algn="ctr"/>
                      <a:r>
                        <a:rPr sz="950">
                          <a:solidFill>
                            <a:srgbClr val="1B2A4A"/>
                          </a:solidFill>
                          <a:latin typeface="Calibri"/>
                        </a:rPr>
                        <a:t>0.7994</a:t>
                      </a:r>
                    </a:p>
                  </a:txBody>
                  <a:tcPr>
                    <a:solidFill>
                      <a:srgbClr val="FFFFFF"/>
                    </a:solidFill>
                  </a:tcPr>
                </a:tc>
                <a:tc>
                  <a:txBody>
                    <a:bodyPr/>
                    <a:lstStyle/>
                    <a:p>
                      <a:pPr algn="ctr"/>
                      <a:r>
                        <a:rPr sz="950">
                          <a:solidFill>
                            <a:srgbClr val="1B2A4A"/>
                          </a:solidFill>
                          <a:latin typeface="Calibri"/>
                        </a:rPr>
                        <a:t>0.8062</a:t>
                      </a:r>
                    </a:p>
                  </a:txBody>
                  <a:tcPr>
                    <a:solidFill>
                      <a:srgbClr val="FFFFFF"/>
                    </a:solidFill>
                  </a:tcPr>
                </a:tc>
                <a:extLst>
                  <a:ext uri="{0D108BD9-81ED-4DB2-BD59-A6C34878D82A}">
                    <a16:rowId xmlns:a16="http://schemas.microsoft.com/office/drawing/2014/main" val="10003"/>
                  </a:ext>
                </a:extLst>
              </a:tr>
              <a:tr h="325755">
                <a:tc>
                  <a:txBody>
                    <a:bodyPr/>
                    <a:lstStyle/>
                    <a:p>
                      <a:pPr algn="ctr"/>
                      <a:r>
                        <a:rPr sz="950">
                          <a:solidFill>
                            <a:srgbClr val="1B2A4A"/>
                          </a:solidFill>
                          <a:latin typeface="Calibri"/>
                        </a:rPr>
                        <a:t>F1 Score</a:t>
                      </a:r>
                    </a:p>
                  </a:txBody>
                  <a:tcPr>
                    <a:solidFill>
                      <a:srgbClr val="EBF5FB"/>
                    </a:solidFill>
                  </a:tcPr>
                </a:tc>
                <a:tc>
                  <a:txBody>
                    <a:bodyPr/>
                    <a:lstStyle/>
                    <a:p>
                      <a:pPr algn="ctr"/>
                      <a:r>
                        <a:rPr sz="950">
                          <a:solidFill>
                            <a:srgbClr val="1B2A4A"/>
                          </a:solidFill>
                          <a:latin typeface="Calibri"/>
                        </a:rPr>
                        <a:t>0.7949</a:t>
                      </a:r>
                    </a:p>
                  </a:txBody>
                  <a:tcPr>
                    <a:solidFill>
                      <a:srgbClr val="EBF5FB"/>
                    </a:solidFill>
                  </a:tcPr>
                </a:tc>
                <a:tc>
                  <a:txBody>
                    <a:bodyPr/>
                    <a:lstStyle/>
                    <a:p>
                      <a:pPr algn="ctr"/>
                      <a:r>
                        <a:rPr sz="950" b="1">
                          <a:solidFill>
                            <a:srgbClr val="C0392B"/>
                          </a:solidFill>
                          <a:latin typeface="Calibri"/>
                        </a:rPr>
                        <a:t>0.8011</a:t>
                      </a:r>
                    </a:p>
                  </a:txBody>
                  <a:tcPr>
                    <a:solidFill>
                      <a:srgbClr val="EBF5FB"/>
                    </a:solidFill>
                  </a:tcPr>
                </a:tc>
                <a:tc>
                  <a:txBody>
                    <a:bodyPr/>
                    <a:lstStyle/>
                    <a:p>
                      <a:pPr algn="ctr"/>
                      <a:r>
                        <a:rPr sz="950">
                          <a:solidFill>
                            <a:srgbClr val="1B2A4A"/>
                          </a:solidFill>
                          <a:latin typeface="Calibri"/>
                        </a:rPr>
                        <a:t>0.7966</a:t>
                      </a:r>
                    </a:p>
                  </a:txBody>
                  <a:tcPr>
                    <a:solidFill>
                      <a:srgbClr val="EBF5FB"/>
                    </a:solidFill>
                  </a:tcPr>
                </a:tc>
                <a:tc>
                  <a:txBody>
                    <a:bodyPr/>
                    <a:lstStyle/>
                    <a:p>
                      <a:pPr algn="ctr"/>
                      <a:r>
                        <a:rPr sz="950" b="1">
                          <a:solidFill>
                            <a:srgbClr val="C0392B"/>
                          </a:solidFill>
                          <a:latin typeface="Calibri"/>
                        </a:rPr>
                        <a:t>0.8004</a:t>
                      </a:r>
                    </a:p>
                  </a:txBody>
                  <a:tcPr>
                    <a:solidFill>
                      <a:srgbClr val="EBF5FB"/>
                    </a:solidFill>
                  </a:tcPr>
                </a:tc>
                <a:extLst>
                  <a:ext uri="{0D108BD9-81ED-4DB2-BD59-A6C34878D82A}">
                    <a16:rowId xmlns:a16="http://schemas.microsoft.com/office/drawing/2014/main" val="10004"/>
                  </a:ext>
                </a:extLst>
              </a:tr>
              <a:tr h="325755">
                <a:tc>
                  <a:txBody>
                    <a:bodyPr/>
                    <a:lstStyle/>
                    <a:p>
                      <a:pPr algn="ctr"/>
                      <a:r>
                        <a:rPr sz="950">
                          <a:solidFill>
                            <a:srgbClr val="1B2A4A"/>
                          </a:solidFill>
                          <a:latin typeface="Calibri"/>
                        </a:rPr>
                        <a:t>CV Accuracy</a:t>
                      </a:r>
                    </a:p>
                  </a:txBody>
                  <a:tcPr>
                    <a:solidFill>
                      <a:srgbClr val="FFFFFF"/>
                    </a:solidFill>
                  </a:tcPr>
                </a:tc>
                <a:tc>
                  <a:txBody>
                    <a:bodyPr/>
                    <a:lstStyle/>
                    <a:p>
                      <a:pPr algn="ctr"/>
                      <a:r>
                        <a:rPr sz="950">
                          <a:solidFill>
                            <a:srgbClr val="1B2A4A"/>
                          </a:solidFill>
                          <a:latin typeface="Calibri"/>
                        </a:rPr>
                        <a:t>0.7703</a:t>
                      </a:r>
                    </a:p>
                  </a:txBody>
                  <a:tcPr>
                    <a:solidFill>
                      <a:srgbClr val="FFFFFF"/>
                    </a:solidFill>
                  </a:tcPr>
                </a:tc>
                <a:tc>
                  <a:txBody>
                    <a:bodyPr/>
                    <a:lstStyle/>
                    <a:p>
                      <a:pPr algn="ctr"/>
                      <a:r>
                        <a:rPr sz="950" b="1">
                          <a:solidFill>
                            <a:srgbClr val="C0392B"/>
                          </a:solidFill>
                          <a:latin typeface="Calibri"/>
                        </a:rPr>
                        <a:t>0.7715</a:t>
                      </a:r>
                    </a:p>
                  </a:txBody>
                  <a:tcPr>
                    <a:solidFill>
                      <a:srgbClr val="FFFFFF"/>
                    </a:solidFill>
                  </a:tcPr>
                </a:tc>
                <a:tc>
                  <a:txBody>
                    <a:bodyPr/>
                    <a:lstStyle/>
                    <a:p>
                      <a:pPr algn="ctr"/>
                      <a:r>
                        <a:rPr sz="950">
                          <a:solidFill>
                            <a:srgbClr val="1B2A4A"/>
                          </a:solidFill>
                          <a:latin typeface="Calibri"/>
                        </a:rPr>
                        <a:t>0.7684</a:t>
                      </a:r>
                    </a:p>
                  </a:txBody>
                  <a:tcPr>
                    <a:solidFill>
                      <a:srgbClr val="FFFFFF"/>
                    </a:solidFill>
                  </a:tcPr>
                </a:tc>
                <a:tc>
                  <a:txBody>
                    <a:bodyPr/>
                    <a:lstStyle/>
                    <a:p>
                      <a:pPr algn="ctr"/>
                      <a:r>
                        <a:rPr sz="950" b="1">
                          <a:solidFill>
                            <a:srgbClr val="C0392B"/>
                          </a:solidFill>
                          <a:latin typeface="Calibri"/>
                        </a:rPr>
                        <a:t>0.7716</a:t>
                      </a:r>
                    </a:p>
                  </a:txBody>
                  <a:tcPr>
                    <a:solidFill>
                      <a:srgbClr val="FFFFFF"/>
                    </a:solidFill>
                  </a:tcPr>
                </a:tc>
                <a:extLst>
                  <a:ext uri="{0D108BD9-81ED-4DB2-BD59-A6C34878D82A}">
                    <a16:rowId xmlns:a16="http://schemas.microsoft.com/office/drawing/2014/main" val="10005"/>
                  </a:ext>
                </a:extLst>
              </a:tr>
              <a:tr h="325755">
                <a:tc>
                  <a:txBody>
                    <a:bodyPr/>
                    <a:lstStyle/>
                    <a:p>
                      <a:pPr algn="ctr"/>
                      <a:r>
                        <a:rPr sz="950">
                          <a:solidFill>
                            <a:srgbClr val="1B2A4A"/>
                          </a:solidFill>
                          <a:latin typeface="Calibri"/>
                        </a:rPr>
                        <a:t>AUC-ROC</a:t>
                      </a:r>
                    </a:p>
                  </a:txBody>
                  <a:tcPr>
                    <a:solidFill>
                      <a:srgbClr val="EBF5FB"/>
                    </a:solidFill>
                  </a:tcPr>
                </a:tc>
                <a:tc>
                  <a:txBody>
                    <a:bodyPr/>
                    <a:lstStyle/>
                    <a:p>
                      <a:pPr algn="ctr"/>
                      <a:r>
                        <a:rPr sz="950" b="1">
                          <a:solidFill>
                            <a:srgbClr val="028090"/>
                          </a:solidFill>
                          <a:latin typeface="Calibri"/>
                        </a:rPr>
                        <a:t>0.9524</a:t>
                      </a:r>
                    </a:p>
                  </a:txBody>
                  <a:tcPr>
                    <a:solidFill>
                      <a:srgbClr val="EBF5FB"/>
                    </a:solidFill>
                  </a:tcPr>
                </a:tc>
                <a:tc>
                  <a:txBody>
                    <a:bodyPr/>
                    <a:lstStyle/>
                    <a:p>
                      <a:pPr algn="ctr"/>
                      <a:r>
                        <a:rPr sz="950">
                          <a:solidFill>
                            <a:srgbClr val="1B2A4A"/>
                          </a:solidFill>
                          <a:latin typeface="Calibri"/>
                        </a:rPr>
                        <a:t>0.9450</a:t>
                      </a:r>
                    </a:p>
                  </a:txBody>
                  <a:tcPr>
                    <a:solidFill>
                      <a:srgbClr val="EBF5FB"/>
                    </a:solidFill>
                  </a:tcPr>
                </a:tc>
                <a:tc>
                  <a:txBody>
                    <a:bodyPr/>
                    <a:lstStyle/>
                    <a:p>
                      <a:pPr algn="ctr"/>
                      <a:r>
                        <a:rPr sz="950" b="1">
                          <a:solidFill>
                            <a:srgbClr val="028090"/>
                          </a:solidFill>
                          <a:latin typeface="Calibri"/>
                        </a:rPr>
                        <a:t>0.9524</a:t>
                      </a:r>
                    </a:p>
                  </a:txBody>
                  <a:tcPr>
                    <a:solidFill>
                      <a:srgbClr val="EBF5FB"/>
                    </a:solidFill>
                  </a:tcPr>
                </a:tc>
                <a:tc>
                  <a:txBody>
                    <a:bodyPr/>
                    <a:lstStyle/>
                    <a:p>
                      <a:pPr algn="ctr"/>
                      <a:r>
                        <a:rPr sz="950">
                          <a:solidFill>
                            <a:srgbClr val="1B2A4A"/>
                          </a:solidFill>
                          <a:latin typeface="Calibri"/>
                        </a:rPr>
                        <a:t>0.9449</a:t>
                      </a:r>
                    </a:p>
                  </a:txBody>
                  <a:tcPr>
                    <a:solidFill>
                      <a:srgbClr val="EBF5FB"/>
                    </a:solidFill>
                  </a:tcPr>
                </a:tc>
                <a:extLst>
                  <a:ext uri="{0D108BD9-81ED-4DB2-BD59-A6C34878D82A}">
                    <a16:rowId xmlns:a16="http://schemas.microsoft.com/office/drawing/2014/main" val="10006"/>
                  </a:ext>
                </a:extLst>
              </a:tr>
              <a:tr h="325755">
                <a:tc>
                  <a:txBody>
                    <a:bodyPr/>
                    <a:lstStyle/>
                    <a:p>
                      <a:pPr algn="ctr"/>
                      <a:r>
                        <a:rPr sz="950">
                          <a:solidFill>
                            <a:srgbClr val="1B2A4A"/>
                          </a:solidFill>
                          <a:latin typeface="Calibri"/>
                        </a:rPr>
                        <a:t>Interpretable</a:t>
                      </a:r>
                    </a:p>
                  </a:txBody>
                  <a:tcPr>
                    <a:solidFill>
                      <a:srgbClr val="FFFFFF"/>
                    </a:solidFill>
                  </a:tcPr>
                </a:tc>
                <a:tc>
                  <a:txBody>
                    <a:bodyPr/>
                    <a:lstStyle/>
                    <a:p>
                      <a:pPr algn="ctr"/>
                      <a:r>
                        <a:rPr sz="950" b="1" dirty="0">
                          <a:solidFill>
                            <a:srgbClr val="028090"/>
                          </a:solidFill>
                          <a:latin typeface="Calibri"/>
                        </a:rPr>
                        <a:t> Yes</a:t>
                      </a:r>
                    </a:p>
                  </a:txBody>
                  <a:tcPr>
                    <a:solidFill>
                      <a:srgbClr val="FFFFFF"/>
                    </a:solidFill>
                  </a:tcPr>
                </a:tc>
                <a:tc>
                  <a:txBody>
                    <a:bodyPr/>
                    <a:lstStyle/>
                    <a:p>
                      <a:pPr algn="ctr"/>
                      <a:r>
                        <a:rPr sz="950" dirty="0">
                          <a:solidFill>
                            <a:srgbClr val="C0392B"/>
                          </a:solidFill>
                          <a:latin typeface="Calibri"/>
                        </a:rPr>
                        <a:t> No</a:t>
                      </a:r>
                    </a:p>
                  </a:txBody>
                  <a:tcPr>
                    <a:solidFill>
                      <a:srgbClr val="FFFFFF"/>
                    </a:solidFill>
                  </a:tcPr>
                </a:tc>
                <a:tc>
                  <a:txBody>
                    <a:bodyPr/>
                    <a:lstStyle/>
                    <a:p>
                      <a:pPr algn="ctr"/>
                      <a:r>
                        <a:rPr sz="950" b="1" dirty="0">
                          <a:solidFill>
                            <a:srgbClr val="028090"/>
                          </a:solidFill>
                          <a:latin typeface="Calibri"/>
                        </a:rPr>
                        <a:t>Yes</a:t>
                      </a:r>
                    </a:p>
                  </a:txBody>
                  <a:tcPr>
                    <a:solidFill>
                      <a:srgbClr val="FFFFFF"/>
                    </a:solidFill>
                  </a:tcPr>
                </a:tc>
                <a:tc>
                  <a:txBody>
                    <a:bodyPr/>
                    <a:lstStyle/>
                    <a:p>
                      <a:pPr algn="ctr"/>
                      <a:r>
                        <a:rPr sz="950" dirty="0">
                          <a:solidFill>
                            <a:srgbClr val="C0392B"/>
                          </a:solidFill>
                          <a:latin typeface="Calibri"/>
                        </a:rPr>
                        <a:t> No</a:t>
                      </a:r>
                    </a:p>
                  </a:txBody>
                  <a:tcPr>
                    <a:solidFill>
                      <a:srgbClr val="FFFFFF"/>
                    </a:solidFill>
                  </a:tcPr>
                </a:tc>
                <a:extLst>
                  <a:ext uri="{0D108BD9-81ED-4DB2-BD59-A6C34878D82A}">
                    <a16:rowId xmlns:a16="http://schemas.microsoft.com/office/drawing/2014/main" val="10007"/>
                  </a:ext>
                </a:extLst>
              </a:tr>
            </a:tbl>
          </a:graphicData>
        </a:graphic>
      </p:graphicFrame>
      <p:sp>
        <p:nvSpPr>
          <p:cNvPr id="12" name="Rectangle 11"/>
          <p:cNvSpPr/>
          <p:nvPr/>
        </p:nvSpPr>
        <p:spPr>
          <a:xfrm>
            <a:off x="274320" y="3858768"/>
            <a:ext cx="2057400" cy="100584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274320" y="3858768"/>
            <a:ext cx="2057400" cy="274320"/>
          </a:xfrm>
          <a:prstGeom prst="rect">
            <a:avLst/>
          </a:prstGeom>
          <a:solidFill>
            <a:srgbClr val="E88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20040" y="3858768"/>
            <a:ext cx="1965960" cy="274320"/>
          </a:xfrm>
          <a:prstGeom prst="rect">
            <a:avLst/>
          </a:prstGeom>
          <a:noFill/>
        </p:spPr>
        <p:txBody>
          <a:bodyPr wrap="square">
            <a:spAutoFit/>
          </a:bodyPr>
          <a:lstStyle/>
          <a:p>
            <a:pPr algn="ctr"/>
            <a:r>
              <a:rPr sz="1000" b="1" i="0">
                <a:solidFill>
                  <a:srgbClr val="FFFFFF"/>
                </a:solidFill>
                <a:latin typeface="Calibri"/>
              </a:rPr>
              <a:t>SVM Wins</a:t>
            </a:r>
          </a:p>
        </p:txBody>
      </p:sp>
      <p:sp>
        <p:nvSpPr>
          <p:cNvPr id="15" name="TextBox 14"/>
          <p:cNvSpPr txBox="1"/>
          <p:nvPr/>
        </p:nvSpPr>
        <p:spPr>
          <a:xfrm>
            <a:off x="365760" y="4178808"/>
            <a:ext cx="1874519" cy="461665"/>
          </a:xfrm>
          <a:prstGeom prst="rect">
            <a:avLst/>
          </a:prstGeom>
          <a:noFill/>
        </p:spPr>
        <p:txBody>
          <a:bodyPr wrap="square">
            <a:spAutoFit/>
          </a:bodyPr>
          <a:lstStyle/>
          <a:p>
            <a:pPr algn="l"/>
            <a:r>
              <a:rPr sz="1200" b="0" i="0" dirty="0">
                <a:solidFill>
                  <a:srgbClr val="64748B"/>
                </a:solidFill>
                <a:latin typeface="Calibri"/>
              </a:rPr>
              <a:t>Accuracy, F1, Precision
Recall and CV Accuracy</a:t>
            </a:r>
          </a:p>
        </p:txBody>
      </p:sp>
      <p:sp>
        <p:nvSpPr>
          <p:cNvPr id="16" name="Rectangle 15"/>
          <p:cNvSpPr/>
          <p:nvPr/>
        </p:nvSpPr>
        <p:spPr>
          <a:xfrm>
            <a:off x="2487168" y="3858768"/>
            <a:ext cx="2057400" cy="100584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2487168" y="3858768"/>
            <a:ext cx="2057400" cy="274320"/>
          </a:xfrm>
          <a:prstGeom prst="rect">
            <a:avLst/>
          </a:prstGeom>
          <a:solidFill>
            <a:srgbClr val="028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532887" y="3858768"/>
            <a:ext cx="1965960" cy="274320"/>
          </a:xfrm>
          <a:prstGeom prst="rect">
            <a:avLst/>
          </a:prstGeom>
          <a:noFill/>
        </p:spPr>
        <p:txBody>
          <a:bodyPr wrap="square">
            <a:spAutoFit/>
          </a:bodyPr>
          <a:lstStyle/>
          <a:p>
            <a:pPr algn="ctr"/>
            <a:r>
              <a:rPr sz="1000" b="1" i="0">
                <a:solidFill>
                  <a:srgbClr val="FFFFFF"/>
                </a:solidFill>
                <a:latin typeface="Calibri"/>
              </a:rPr>
              <a:t>LR Wins</a:t>
            </a:r>
          </a:p>
        </p:txBody>
      </p:sp>
      <p:sp>
        <p:nvSpPr>
          <p:cNvPr id="19" name="TextBox 18"/>
          <p:cNvSpPr txBox="1"/>
          <p:nvPr/>
        </p:nvSpPr>
        <p:spPr>
          <a:xfrm>
            <a:off x="2578608" y="4178808"/>
            <a:ext cx="1874519" cy="461665"/>
          </a:xfrm>
          <a:prstGeom prst="rect">
            <a:avLst/>
          </a:prstGeom>
          <a:noFill/>
        </p:spPr>
        <p:txBody>
          <a:bodyPr wrap="square">
            <a:spAutoFit/>
          </a:bodyPr>
          <a:lstStyle/>
          <a:p>
            <a:pPr algn="l"/>
            <a:r>
              <a:rPr sz="1200" b="0" i="0" dirty="0">
                <a:solidFill>
                  <a:srgbClr val="64748B"/>
                </a:solidFill>
                <a:latin typeface="Calibri"/>
              </a:rPr>
              <a:t>AUC-ROC across ALL
feature sets </a:t>
            </a:r>
            <a:r>
              <a:rPr lang="en-US" sz="1200" b="0" i="0" dirty="0">
                <a:solidFill>
                  <a:srgbClr val="64748B"/>
                </a:solidFill>
                <a:latin typeface="Calibri"/>
              </a:rPr>
              <a:t>-</a:t>
            </a:r>
            <a:r>
              <a:rPr sz="1200" b="0" i="0" dirty="0">
                <a:solidFill>
                  <a:srgbClr val="64748B"/>
                </a:solidFill>
                <a:latin typeface="Calibri"/>
              </a:rPr>
              <a:t> 0.9524</a:t>
            </a:r>
          </a:p>
        </p:txBody>
      </p:sp>
      <p:sp>
        <p:nvSpPr>
          <p:cNvPr id="20" name="Rectangle 19"/>
          <p:cNvSpPr/>
          <p:nvPr/>
        </p:nvSpPr>
        <p:spPr>
          <a:xfrm>
            <a:off x="4700016" y="3858768"/>
            <a:ext cx="2057400" cy="100584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700016" y="3858768"/>
            <a:ext cx="2057400" cy="274320"/>
          </a:xfrm>
          <a:prstGeom prst="rect">
            <a:avLst/>
          </a:prstGeom>
          <a:solidFill>
            <a:srgbClr val="7EB3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745736" y="3858768"/>
            <a:ext cx="1965960" cy="274320"/>
          </a:xfrm>
          <a:prstGeom prst="rect">
            <a:avLst/>
          </a:prstGeom>
          <a:noFill/>
        </p:spPr>
        <p:txBody>
          <a:bodyPr wrap="square">
            <a:spAutoFit/>
          </a:bodyPr>
          <a:lstStyle/>
          <a:p>
            <a:pPr algn="ctr"/>
            <a:r>
              <a:rPr sz="1000" b="1" i="0">
                <a:solidFill>
                  <a:srgbClr val="FFFFFF"/>
                </a:solidFill>
                <a:latin typeface="Calibri"/>
              </a:rPr>
              <a:t>Gap Is Minimal</a:t>
            </a:r>
          </a:p>
        </p:txBody>
      </p:sp>
      <p:sp>
        <p:nvSpPr>
          <p:cNvPr id="23" name="TextBox 22"/>
          <p:cNvSpPr txBox="1"/>
          <p:nvPr/>
        </p:nvSpPr>
        <p:spPr>
          <a:xfrm>
            <a:off x="4791455" y="4178808"/>
            <a:ext cx="1874519" cy="461665"/>
          </a:xfrm>
          <a:prstGeom prst="rect">
            <a:avLst/>
          </a:prstGeom>
          <a:noFill/>
        </p:spPr>
        <p:txBody>
          <a:bodyPr wrap="square">
            <a:spAutoFit/>
          </a:bodyPr>
          <a:lstStyle/>
          <a:p>
            <a:pPr algn="l"/>
            <a:r>
              <a:rPr sz="1200" b="0" i="0">
                <a:solidFill>
                  <a:srgbClr val="64748B"/>
                </a:solidFill>
                <a:latin typeface="Calibri"/>
              </a:rPr>
              <a:t>Accuracy gap &lt; 1%
CV gap &lt; 0.2%</a:t>
            </a:r>
          </a:p>
        </p:txBody>
      </p:sp>
      <p:sp>
        <p:nvSpPr>
          <p:cNvPr id="24" name="Rectangle 23"/>
          <p:cNvSpPr/>
          <p:nvPr/>
        </p:nvSpPr>
        <p:spPr>
          <a:xfrm>
            <a:off x="6912864" y="3858768"/>
            <a:ext cx="2057400" cy="100584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6912864" y="3858768"/>
            <a:ext cx="2057400" cy="274320"/>
          </a:xfrm>
          <a:prstGeom prst="rect">
            <a:avLst/>
          </a:prstGeom>
          <a:solidFill>
            <a:srgbClr val="80C9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958583" y="3858768"/>
            <a:ext cx="1965960" cy="274320"/>
          </a:xfrm>
          <a:prstGeom prst="rect">
            <a:avLst/>
          </a:prstGeom>
          <a:noFill/>
        </p:spPr>
        <p:txBody>
          <a:bodyPr wrap="square">
            <a:spAutoFit/>
          </a:bodyPr>
          <a:lstStyle/>
          <a:p>
            <a:pPr algn="ctr"/>
            <a:r>
              <a:rPr sz="1000" b="1" i="0">
                <a:solidFill>
                  <a:srgbClr val="FFFFFF"/>
                </a:solidFill>
                <a:latin typeface="Calibri"/>
              </a:rPr>
              <a:t>LR Recommended</a:t>
            </a:r>
          </a:p>
        </p:txBody>
      </p:sp>
      <p:sp>
        <p:nvSpPr>
          <p:cNvPr id="27" name="TextBox 26"/>
          <p:cNvSpPr txBox="1"/>
          <p:nvPr/>
        </p:nvSpPr>
        <p:spPr>
          <a:xfrm>
            <a:off x="7004303" y="4178808"/>
            <a:ext cx="1874519" cy="461665"/>
          </a:xfrm>
          <a:prstGeom prst="rect">
            <a:avLst/>
          </a:prstGeom>
          <a:noFill/>
        </p:spPr>
        <p:txBody>
          <a:bodyPr wrap="square">
            <a:spAutoFit/>
          </a:bodyPr>
          <a:lstStyle/>
          <a:p>
            <a:pPr algn="l"/>
            <a:r>
              <a:rPr sz="1200" b="0" i="0">
                <a:solidFill>
                  <a:srgbClr val="64748B"/>
                </a:solidFill>
                <a:latin typeface="Calibri"/>
              </a:rPr>
              <a:t>Highest AUC-ROC +
Full interpretability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1"/>
          <p:cNvSpPr/>
          <p:nvPr/>
        </p:nvSpPr>
        <p:spPr>
          <a:xfrm>
            <a:off x="0" y="0"/>
            <a:ext cx="9121140" cy="109728"/>
          </a:xfrm>
          <a:prstGeom prst="rect">
            <a:avLst/>
          </a:prstGeom>
          <a:solidFill>
            <a:srgbClr val="1A7A8A"/>
          </a:solidFill>
          <a:ln/>
        </p:spPr>
      </p:sp>
      <p:sp>
        <p:nvSpPr>
          <p:cNvPr id="4" name="Shape 2"/>
          <p:cNvSpPr/>
          <p:nvPr/>
        </p:nvSpPr>
        <p:spPr>
          <a:xfrm>
            <a:off x="0" y="5033772"/>
            <a:ext cx="9121140" cy="109728"/>
          </a:xfrm>
          <a:prstGeom prst="rect">
            <a:avLst/>
          </a:prstGeom>
          <a:solidFill>
            <a:srgbClr val="1A7A8A"/>
          </a:solidFill>
          <a:ln/>
        </p:spPr>
      </p:sp>
      <p:sp>
        <p:nvSpPr>
          <p:cNvPr id="5" name="Text 3"/>
          <p:cNvSpPr/>
          <p:nvPr/>
        </p:nvSpPr>
        <p:spPr>
          <a:xfrm>
            <a:off x="480060" y="286104"/>
            <a:ext cx="6172200" cy="461665"/>
          </a:xfrm>
          <a:prstGeom prst="rect">
            <a:avLst/>
          </a:prstGeom>
          <a:noFill/>
        </p:spPr>
        <p:txBody>
          <a:bodyPr wrap="square">
            <a:spAutoFit/>
          </a:bodyPr>
          <a:lstStyle/>
          <a:p>
            <a:r>
              <a:rPr lang="en-US" sz="2400" b="1" dirty="0">
                <a:solidFill>
                  <a:schemeClr val="accent3">
                    <a:lumMod val="75000"/>
                  </a:schemeClr>
                </a:solidFill>
                <a:latin typeface="Calibri"/>
              </a:rPr>
              <a:t>Future Work &amp; Limitations</a:t>
            </a:r>
          </a:p>
        </p:txBody>
      </p:sp>
      <p:sp>
        <p:nvSpPr>
          <p:cNvPr id="6" name="Text 4"/>
          <p:cNvSpPr/>
          <p:nvPr/>
        </p:nvSpPr>
        <p:spPr>
          <a:xfrm>
            <a:off x="468631" y="795776"/>
            <a:ext cx="7886700" cy="274320"/>
          </a:xfrm>
          <a:prstGeom prst="rect">
            <a:avLst/>
          </a:prstGeom>
          <a:noFill/>
          <a:ln/>
        </p:spPr>
        <p:txBody>
          <a:bodyPr wrap="square" lIns="0" tIns="0" rIns="0" bIns="0" rtlCol="0" anchor="ctr"/>
          <a:lstStyle/>
          <a:p>
            <a:r>
              <a:rPr lang="en-US" sz="1125" i="1" dirty="0">
                <a:solidFill>
                  <a:srgbClr val="5C6B77"/>
                </a:solidFill>
                <a:latin typeface="Calibri" pitchFamily="34" charset="0"/>
                <a:ea typeface="Calibri" pitchFamily="34" charset="-122"/>
                <a:cs typeface="Calibri" pitchFamily="34" charset="-120"/>
              </a:rPr>
              <a:t>Where this study could go next, and what constrained it this time</a:t>
            </a:r>
            <a:endParaRPr lang="en-US" sz="1125" dirty="0"/>
          </a:p>
        </p:txBody>
      </p:sp>
      <p:sp>
        <p:nvSpPr>
          <p:cNvPr id="7" name="Text 5"/>
          <p:cNvSpPr/>
          <p:nvPr/>
        </p:nvSpPr>
        <p:spPr>
          <a:xfrm>
            <a:off x="480060" y="1151682"/>
            <a:ext cx="3909060" cy="219456"/>
          </a:xfrm>
          <a:prstGeom prst="rect">
            <a:avLst/>
          </a:prstGeom>
          <a:noFill/>
          <a:ln/>
        </p:spPr>
        <p:txBody>
          <a:bodyPr wrap="square" lIns="0" tIns="0" rIns="0" bIns="0" rtlCol="0" anchor="ctr"/>
          <a:lstStyle/>
          <a:p>
            <a:r>
              <a:rPr lang="en-US" sz="1200" b="1" kern="0" spc="113" dirty="0">
                <a:solidFill>
                  <a:srgbClr val="1A7A8A"/>
                </a:solidFill>
                <a:latin typeface="Calibri" pitchFamily="34" charset="0"/>
                <a:ea typeface="Calibri" pitchFamily="34" charset="-122"/>
                <a:cs typeface="Calibri" pitchFamily="34" charset="-120"/>
              </a:rPr>
              <a:t>FUTURE WORK</a:t>
            </a:r>
            <a:endParaRPr lang="en-US" sz="1200" dirty="0"/>
          </a:p>
        </p:txBody>
      </p:sp>
      <p:sp>
        <p:nvSpPr>
          <p:cNvPr id="8" name="Text 6"/>
          <p:cNvSpPr/>
          <p:nvPr/>
        </p:nvSpPr>
        <p:spPr>
          <a:xfrm>
            <a:off x="4732020" y="1055427"/>
            <a:ext cx="3909060" cy="219456"/>
          </a:xfrm>
          <a:prstGeom prst="rect">
            <a:avLst/>
          </a:prstGeom>
          <a:noFill/>
          <a:ln/>
        </p:spPr>
        <p:txBody>
          <a:bodyPr wrap="square" lIns="0" tIns="0" rIns="0" bIns="0" rtlCol="0" anchor="ctr"/>
          <a:lstStyle/>
          <a:p>
            <a:r>
              <a:rPr lang="en-US" sz="1200" b="1" kern="0" spc="113" dirty="0">
                <a:solidFill>
                  <a:srgbClr val="C9832E"/>
                </a:solidFill>
                <a:latin typeface="Calibri" pitchFamily="34" charset="0"/>
                <a:ea typeface="Calibri" pitchFamily="34" charset="-122"/>
                <a:cs typeface="Calibri" pitchFamily="34" charset="-120"/>
              </a:rPr>
              <a:t>LIMITATIONS</a:t>
            </a:r>
            <a:endParaRPr lang="en-US" sz="1200" dirty="0"/>
          </a:p>
        </p:txBody>
      </p:sp>
      <p:sp>
        <p:nvSpPr>
          <p:cNvPr id="9" name="Shape 7"/>
          <p:cNvSpPr/>
          <p:nvPr/>
        </p:nvSpPr>
        <p:spPr>
          <a:xfrm>
            <a:off x="328809" y="1494582"/>
            <a:ext cx="397764" cy="397764"/>
          </a:xfrm>
          <a:prstGeom prst="ellipse">
            <a:avLst/>
          </a:prstGeom>
          <a:solidFill>
            <a:srgbClr val="E4F1F3"/>
          </a:solidFill>
          <a:ln/>
        </p:spPr>
      </p:sp>
      <p:pic>
        <p:nvPicPr>
          <p:cNvPr id="10" name="Image 0" descr="preencoded.png"/>
          <p:cNvPicPr>
            <a:picLocks noChangeAspect="1"/>
          </p:cNvPicPr>
          <p:nvPr/>
        </p:nvPicPr>
        <p:blipFill>
          <a:blip r:embed="rId3"/>
          <a:stretch>
            <a:fillRect/>
          </a:stretch>
        </p:blipFill>
        <p:spPr>
          <a:xfrm>
            <a:off x="417943" y="1590594"/>
            <a:ext cx="205740" cy="205740"/>
          </a:xfrm>
          <a:prstGeom prst="rect">
            <a:avLst/>
          </a:prstGeom>
        </p:spPr>
      </p:pic>
      <p:sp>
        <p:nvSpPr>
          <p:cNvPr id="11" name="Text 8"/>
          <p:cNvSpPr/>
          <p:nvPr/>
        </p:nvSpPr>
        <p:spPr>
          <a:xfrm>
            <a:off x="898003" y="1494582"/>
            <a:ext cx="3513978" cy="617220"/>
          </a:xfrm>
          <a:prstGeom prst="rect">
            <a:avLst/>
          </a:prstGeom>
          <a:noFill/>
          <a:ln/>
        </p:spPr>
        <p:txBody>
          <a:bodyPr wrap="square" lIns="0" tIns="0" rIns="0" bIns="0" rtlCol="0" anchor="t"/>
          <a:lstStyle/>
          <a:p>
            <a:pPr>
              <a:lnSpc>
                <a:spcPct val="115000"/>
              </a:lnSpc>
            </a:pPr>
            <a:r>
              <a:rPr lang="en-US" sz="1200" b="1" dirty="0">
                <a:solidFill>
                  <a:srgbClr val="1B3A5C"/>
                </a:solidFill>
                <a:latin typeface="Calibri" pitchFamily="34" charset="0"/>
                <a:ea typeface="Calibri" pitchFamily="34" charset="-122"/>
                <a:cs typeface="Calibri" pitchFamily="34" charset="-120"/>
              </a:rPr>
              <a:t>Deep Learning — </a:t>
            </a:r>
            <a:r>
              <a:rPr lang="en-US" sz="1200" dirty="0">
                <a:solidFill>
                  <a:srgbClr val="2A2A2A"/>
                </a:solidFill>
                <a:latin typeface="Calibri" pitchFamily="34" charset="0"/>
                <a:ea typeface="Calibri" pitchFamily="34" charset="-122"/>
                <a:cs typeface="Calibri" pitchFamily="34" charset="-120"/>
              </a:rPr>
              <a:t>LSTMs, CNN-BiLSTM for sequential dependency modelling.</a:t>
            </a:r>
            <a:endParaRPr lang="en-US" sz="1200" dirty="0"/>
          </a:p>
        </p:txBody>
      </p:sp>
      <p:sp>
        <p:nvSpPr>
          <p:cNvPr id="12" name="Shape 9"/>
          <p:cNvSpPr/>
          <p:nvPr/>
        </p:nvSpPr>
        <p:spPr>
          <a:xfrm>
            <a:off x="321931" y="2180382"/>
            <a:ext cx="397764" cy="397764"/>
          </a:xfrm>
          <a:prstGeom prst="ellipse">
            <a:avLst/>
          </a:prstGeom>
          <a:solidFill>
            <a:srgbClr val="E4F1F3"/>
          </a:solidFill>
          <a:ln/>
        </p:spPr>
      </p:sp>
      <p:pic>
        <p:nvPicPr>
          <p:cNvPr id="13" name="Image 1" descr="preencoded.png"/>
          <p:cNvPicPr>
            <a:picLocks noChangeAspect="1"/>
          </p:cNvPicPr>
          <p:nvPr/>
        </p:nvPicPr>
        <p:blipFill>
          <a:blip r:embed="rId4"/>
          <a:stretch>
            <a:fillRect/>
          </a:stretch>
        </p:blipFill>
        <p:spPr>
          <a:xfrm>
            <a:off x="417943" y="2276394"/>
            <a:ext cx="205740" cy="205740"/>
          </a:xfrm>
          <a:prstGeom prst="rect">
            <a:avLst/>
          </a:prstGeom>
        </p:spPr>
      </p:pic>
      <p:sp>
        <p:nvSpPr>
          <p:cNvPr id="14" name="Text 10"/>
          <p:cNvSpPr/>
          <p:nvPr/>
        </p:nvSpPr>
        <p:spPr>
          <a:xfrm>
            <a:off x="898003" y="2159482"/>
            <a:ext cx="3513978" cy="617220"/>
          </a:xfrm>
          <a:prstGeom prst="rect">
            <a:avLst/>
          </a:prstGeom>
          <a:noFill/>
          <a:ln/>
        </p:spPr>
        <p:txBody>
          <a:bodyPr wrap="square" lIns="0" tIns="0" rIns="0" bIns="0" rtlCol="0" anchor="t"/>
          <a:lstStyle/>
          <a:p>
            <a:pPr>
              <a:lnSpc>
                <a:spcPct val="115000"/>
              </a:lnSpc>
            </a:pPr>
            <a:r>
              <a:rPr lang="en-US" sz="1200" b="1" dirty="0">
                <a:solidFill>
                  <a:srgbClr val="1B3A5C"/>
                </a:solidFill>
                <a:latin typeface="Calibri" pitchFamily="34" charset="0"/>
                <a:ea typeface="Calibri" pitchFamily="34" charset="-122"/>
                <a:cs typeface="Calibri" pitchFamily="34" charset="-120"/>
              </a:rPr>
              <a:t>BERT — </a:t>
            </a:r>
            <a:r>
              <a:rPr lang="en-US" sz="1200" dirty="0">
                <a:solidFill>
                  <a:srgbClr val="2A2A2A"/>
                </a:solidFill>
                <a:latin typeface="Calibri" pitchFamily="34" charset="0"/>
                <a:ea typeface="Calibri" pitchFamily="34" charset="-122"/>
                <a:cs typeface="Calibri" pitchFamily="34" charset="-120"/>
              </a:rPr>
              <a:t>domain-specific transformer for mental health text.</a:t>
            </a:r>
            <a:endParaRPr lang="en-US" sz="1200" dirty="0"/>
          </a:p>
        </p:txBody>
      </p:sp>
      <p:sp>
        <p:nvSpPr>
          <p:cNvPr id="15" name="Shape 11"/>
          <p:cNvSpPr/>
          <p:nvPr/>
        </p:nvSpPr>
        <p:spPr>
          <a:xfrm>
            <a:off x="321931" y="2859307"/>
            <a:ext cx="397764" cy="397764"/>
          </a:xfrm>
          <a:prstGeom prst="ellipse">
            <a:avLst/>
          </a:prstGeom>
          <a:solidFill>
            <a:srgbClr val="E4F1F3"/>
          </a:solidFill>
          <a:ln/>
        </p:spPr>
      </p:sp>
      <p:pic>
        <p:nvPicPr>
          <p:cNvPr id="16" name="Image 2" descr="preencoded.png"/>
          <p:cNvPicPr>
            <a:picLocks noChangeAspect="1"/>
          </p:cNvPicPr>
          <p:nvPr/>
        </p:nvPicPr>
        <p:blipFill>
          <a:blip r:embed="rId5"/>
          <a:stretch>
            <a:fillRect/>
          </a:stretch>
        </p:blipFill>
        <p:spPr>
          <a:xfrm>
            <a:off x="417943" y="2955319"/>
            <a:ext cx="205740" cy="205740"/>
          </a:xfrm>
          <a:prstGeom prst="rect">
            <a:avLst/>
          </a:prstGeom>
        </p:spPr>
      </p:pic>
      <p:sp>
        <p:nvSpPr>
          <p:cNvPr id="17" name="Text 12"/>
          <p:cNvSpPr/>
          <p:nvPr/>
        </p:nvSpPr>
        <p:spPr>
          <a:xfrm>
            <a:off x="875142" y="2927836"/>
            <a:ext cx="3513978" cy="617220"/>
          </a:xfrm>
          <a:prstGeom prst="rect">
            <a:avLst/>
          </a:prstGeom>
          <a:noFill/>
          <a:ln/>
        </p:spPr>
        <p:txBody>
          <a:bodyPr wrap="square" lIns="0" tIns="0" rIns="0" bIns="0" rtlCol="0" anchor="t"/>
          <a:lstStyle/>
          <a:p>
            <a:pPr>
              <a:lnSpc>
                <a:spcPct val="115000"/>
              </a:lnSpc>
            </a:pPr>
            <a:r>
              <a:rPr lang="en-US" sz="1200" b="1" dirty="0">
                <a:solidFill>
                  <a:srgbClr val="1B3A5C"/>
                </a:solidFill>
                <a:latin typeface="Calibri" pitchFamily="34" charset="0"/>
                <a:ea typeface="Calibri" pitchFamily="34" charset="-122"/>
                <a:cs typeface="Calibri" pitchFamily="34" charset="-120"/>
              </a:rPr>
              <a:t>MentalBERT — </a:t>
            </a:r>
            <a:r>
              <a:rPr lang="en-US" sz="1200" dirty="0">
                <a:solidFill>
                  <a:srgbClr val="2A2A2A"/>
                </a:solidFill>
                <a:latin typeface="Calibri" pitchFamily="34" charset="0"/>
                <a:ea typeface="Calibri" pitchFamily="34" charset="-122"/>
                <a:cs typeface="Calibri" pitchFamily="34" charset="-120"/>
              </a:rPr>
              <a:t>pre-trained on mental health corpora.</a:t>
            </a:r>
            <a:endParaRPr lang="en-US" sz="1200" dirty="0"/>
          </a:p>
        </p:txBody>
      </p:sp>
      <p:sp>
        <p:nvSpPr>
          <p:cNvPr id="18" name="Shape 13"/>
          <p:cNvSpPr/>
          <p:nvPr/>
        </p:nvSpPr>
        <p:spPr>
          <a:xfrm>
            <a:off x="321931" y="3551982"/>
            <a:ext cx="397764" cy="397764"/>
          </a:xfrm>
          <a:prstGeom prst="ellipse">
            <a:avLst/>
          </a:prstGeom>
          <a:solidFill>
            <a:srgbClr val="E4F1F3"/>
          </a:solidFill>
          <a:ln/>
        </p:spPr>
      </p:sp>
      <p:pic>
        <p:nvPicPr>
          <p:cNvPr id="19" name="Image 3" descr="preencoded.png"/>
          <p:cNvPicPr>
            <a:picLocks noChangeAspect="1"/>
          </p:cNvPicPr>
          <p:nvPr/>
        </p:nvPicPr>
        <p:blipFill>
          <a:blip r:embed="rId6"/>
          <a:stretch>
            <a:fillRect/>
          </a:stretch>
        </p:blipFill>
        <p:spPr>
          <a:xfrm>
            <a:off x="417943" y="3647994"/>
            <a:ext cx="205740" cy="205740"/>
          </a:xfrm>
          <a:prstGeom prst="rect">
            <a:avLst/>
          </a:prstGeom>
        </p:spPr>
      </p:pic>
      <p:sp>
        <p:nvSpPr>
          <p:cNvPr id="20" name="Text 14"/>
          <p:cNvSpPr/>
          <p:nvPr/>
        </p:nvSpPr>
        <p:spPr>
          <a:xfrm>
            <a:off x="875142" y="3560007"/>
            <a:ext cx="3513978" cy="617220"/>
          </a:xfrm>
          <a:prstGeom prst="rect">
            <a:avLst/>
          </a:prstGeom>
          <a:noFill/>
          <a:ln/>
        </p:spPr>
        <p:txBody>
          <a:bodyPr wrap="square" lIns="0" tIns="0" rIns="0" bIns="0" rtlCol="0" anchor="t"/>
          <a:lstStyle/>
          <a:p>
            <a:pPr>
              <a:lnSpc>
                <a:spcPct val="115000"/>
              </a:lnSpc>
            </a:pPr>
            <a:r>
              <a:rPr lang="en-US" sz="1200" b="1" dirty="0">
                <a:solidFill>
                  <a:srgbClr val="1B3A5C"/>
                </a:solidFill>
                <a:latin typeface="Calibri" pitchFamily="34" charset="0"/>
                <a:ea typeface="Calibri" pitchFamily="34" charset="-122"/>
                <a:cs typeface="Calibri" pitchFamily="34" charset="-120"/>
              </a:rPr>
              <a:t>LLaMA — </a:t>
            </a:r>
            <a:r>
              <a:rPr lang="en-US" sz="1200" dirty="0">
                <a:solidFill>
                  <a:srgbClr val="2A2A2A"/>
                </a:solidFill>
                <a:latin typeface="Calibri" pitchFamily="34" charset="0"/>
                <a:ea typeface="Calibri" pitchFamily="34" charset="-122"/>
                <a:cs typeface="Calibri" pitchFamily="34" charset="-120"/>
              </a:rPr>
              <a:t>large language model fine-tuning and comparison.</a:t>
            </a:r>
            <a:endParaRPr lang="en-US" sz="1200" dirty="0"/>
          </a:p>
        </p:txBody>
      </p:sp>
      <p:sp>
        <p:nvSpPr>
          <p:cNvPr id="21" name="Shape 15"/>
          <p:cNvSpPr/>
          <p:nvPr/>
        </p:nvSpPr>
        <p:spPr>
          <a:xfrm>
            <a:off x="321931" y="4237782"/>
            <a:ext cx="397764" cy="397764"/>
          </a:xfrm>
          <a:prstGeom prst="ellipse">
            <a:avLst/>
          </a:prstGeom>
          <a:solidFill>
            <a:srgbClr val="E4F1F3"/>
          </a:solidFill>
          <a:ln/>
        </p:spPr>
      </p:sp>
      <p:pic>
        <p:nvPicPr>
          <p:cNvPr id="22" name="Image 4" descr="preencoded.png"/>
          <p:cNvPicPr>
            <a:picLocks noChangeAspect="1"/>
          </p:cNvPicPr>
          <p:nvPr/>
        </p:nvPicPr>
        <p:blipFill>
          <a:blip r:embed="rId7"/>
          <a:stretch>
            <a:fillRect/>
          </a:stretch>
        </p:blipFill>
        <p:spPr>
          <a:xfrm>
            <a:off x="417943" y="4333794"/>
            <a:ext cx="205740" cy="205740"/>
          </a:xfrm>
          <a:prstGeom prst="rect">
            <a:avLst/>
          </a:prstGeom>
        </p:spPr>
      </p:pic>
      <p:sp>
        <p:nvSpPr>
          <p:cNvPr id="23" name="Text 16"/>
          <p:cNvSpPr/>
          <p:nvPr/>
        </p:nvSpPr>
        <p:spPr>
          <a:xfrm>
            <a:off x="875142" y="4343402"/>
            <a:ext cx="3513978" cy="312718"/>
          </a:xfrm>
          <a:prstGeom prst="rect">
            <a:avLst/>
          </a:prstGeom>
          <a:noFill/>
          <a:ln/>
        </p:spPr>
        <p:txBody>
          <a:bodyPr wrap="square" lIns="0" tIns="0" rIns="0" bIns="0" rtlCol="0" anchor="t"/>
          <a:lstStyle/>
          <a:p>
            <a:pPr>
              <a:lnSpc>
                <a:spcPct val="115000"/>
              </a:lnSpc>
            </a:pPr>
            <a:r>
              <a:rPr lang="en-US" sz="1200" b="1" dirty="0">
                <a:solidFill>
                  <a:srgbClr val="1B3A5C"/>
                </a:solidFill>
                <a:latin typeface="Calibri" pitchFamily="34" charset="0"/>
                <a:ea typeface="Calibri" pitchFamily="34" charset="-122"/>
                <a:cs typeface="Calibri" pitchFamily="34" charset="-120"/>
              </a:rPr>
              <a:t>Multilingual — </a:t>
            </a:r>
            <a:r>
              <a:rPr lang="en-US" sz="1200" dirty="0">
                <a:solidFill>
                  <a:srgbClr val="2A2A2A"/>
                </a:solidFill>
                <a:latin typeface="Calibri" pitchFamily="34" charset="0"/>
                <a:ea typeface="Calibri" pitchFamily="34" charset="-122"/>
                <a:cs typeface="Calibri" pitchFamily="34" charset="-120"/>
              </a:rPr>
              <a:t>extend beyond English-language posts.</a:t>
            </a:r>
            <a:endParaRPr lang="en-US" sz="1200" dirty="0"/>
          </a:p>
        </p:txBody>
      </p:sp>
      <p:sp>
        <p:nvSpPr>
          <p:cNvPr id="27" name="Shape 19"/>
          <p:cNvSpPr/>
          <p:nvPr/>
        </p:nvSpPr>
        <p:spPr>
          <a:xfrm>
            <a:off x="4732020" y="1382427"/>
            <a:ext cx="397764" cy="397764"/>
          </a:xfrm>
          <a:prstGeom prst="ellipse">
            <a:avLst/>
          </a:prstGeom>
          <a:solidFill>
            <a:srgbClr val="FBEEDD"/>
          </a:solidFill>
          <a:ln/>
        </p:spPr>
      </p:sp>
      <p:pic>
        <p:nvPicPr>
          <p:cNvPr id="28" name="Image 6" descr="preencoded.png"/>
          <p:cNvPicPr>
            <a:picLocks noChangeAspect="1"/>
          </p:cNvPicPr>
          <p:nvPr/>
        </p:nvPicPr>
        <p:blipFill>
          <a:blip r:embed="rId8"/>
          <a:stretch>
            <a:fillRect/>
          </a:stretch>
        </p:blipFill>
        <p:spPr>
          <a:xfrm>
            <a:off x="4828032" y="1478439"/>
            <a:ext cx="205740" cy="205740"/>
          </a:xfrm>
          <a:prstGeom prst="rect">
            <a:avLst/>
          </a:prstGeom>
        </p:spPr>
      </p:pic>
      <p:sp>
        <p:nvSpPr>
          <p:cNvPr id="29" name="Text 20"/>
          <p:cNvSpPr/>
          <p:nvPr/>
        </p:nvSpPr>
        <p:spPr>
          <a:xfrm>
            <a:off x="5301234" y="1348137"/>
            <a:ext cx="3339846" cy="617220"/>
          </a:xfrm>
          <a:prstGeom prst="rect">
            <a:avLst/>
          </a:prstGeom>
          <a:noFill/>
          <a:ln/>
        </p:spPr>
        <p:txBody>
          <a:bodyPr wrap="square" lIns="0" tIns="0" rIns="0" bIns="0" rtlCol="0" anchor="t"/>
          <a:lstStyle/>
          <a:p>
            <a:pPr>
              <a:lnSpc>
                <a:spcPct val="115000"/>
              </a:lnSpc>
            </a:pPr>
            <a:r>
              <a:rPr lang="en-US" sz="1200" b="1" dirty="0">
                <a:solidFill>
                  <a:srgbClr val="8A5A1E"/>
                </a:solidFill>
                <a:latin typeface="Calibri" pitchFamily="34" charset="0"/>
                <a:ea typeface="Calibri" pitchFamily="34" charset="-122"/>
                <a:cs typeface="Calibri" pitchFamily="34" charset="-120"/>
              </a:rPr>
              <a:t>English-only — </a:t>
            </a:r>
            <a:r>
              <a:rPr lang="en-US" sz="1200" dirty="0">
                <a:solidFill>
                  <a:srgbClr val="2A2A2A"/>
                </a:solidFill>
                <a:latin typeface="Calibri" pitchFamily="34" charset="0"/>
                <a:ea typeface="Calibri" pitchFamily="34" charset="-122"/>
                <a:cs typeface="Calibri" pitchFamily="34" charset="-120"/>
              </a:rPr>
              <a:t>dataset limited to English posts, affecting generalisability.</a:t>
            </a:r>
            <a:endParaRPr lang="en-US" sz="1200" dirty="0"/>
          </a:p>
        </p:txBody>
      </p:sp>
      <p:sp>
        <p:nvSpPr>
          <p:cNvPr id="30" name="Shape 21"/>
          <p:cNvSpPr/>
          <p:nvPr/>
        </p:nvSpPr>
        <p:spPr>
          <a:xfrm>
            <a:off x="4732020" y="2040300"/>
            <a:ext cx="397764" cy="397764"/>
          </a:xfrm>
          <a:prstGeom prst="ellipse">
            <a:avLst/>
          </a:prstGeom>
          <a:solidFill>
            <a:srgbClr val="FBEEDD"/>
          </a:solidFill>
          <a:ln/>
        </p:spPr>
      </p:sp>
      <p:pic>
        <p:nvPicPr>
          <p:cNvPr id="31" name="Image 7" descr="preencoded.png"/>
          <p:cNvPicPr>
            <a:picLocks noChangeAspect="1"/>
          </p:cNvPicPr>
          <p:nvPr/>
        </p:nvPicPr>
        <p:blipFill>
          <a:blip r:embed="rId9"/>
          <a:stretch>
            <a:fillRect/>
          </a:stretch>
        </p:blipFill>
        <p:spPr>
          <a:xfrm>
            <a:off x="4828032" y="2136312"/>
            <a:ext cx="205740" cy="205740"/>
          </a:xfrm>
          <a:prstGeom prst="rect">
            <a:avLst/>
          </a:prstGeom>
        </p:spPr>
      </p:pic>
      <p:sp>
        <p:nvSpPr>
          <p:cNvPr id="32" name="Text 22"/>
          <p:cNvSpPr/>
          <p:nvPr/>
        </p:nvSpPr>
        <p:spPr>
          <a:xfrm>
            <a:off x="5301234" y="2006010"/>
            <a:ext cx="3339846" cy="617220"/>
          </a:xfrm>
          <a:prstGeom prst="rect">
            <a:avLst/>
          </a:prstGeom>
          <a:noFill/>
          <a:ln/>
        </p:spPr>
        <p:txBody>
          <a:bodyPr wrap="square" lIns="0" tIns="0" rIns="0" bIns="0" rtlCol="0" anchor="t"/>
          <a:lstStyle/>
          <a:p>
            <a:pPr>
              <a:lnSpc>
                <a:spcPct val="115000"/>
              </a:lnSpc>
            </a:pPr>
            <a:r>
              <a:rPr lang="en-US" sz="1200" b="1" dirty="0">
                <a:solidFill>
                  <a:srgbClr val="8A5A1E"/>
                </a:solidFill>
                <a:latin typeface="Calibri" pitchFamily="34" charset="0"/>
                <a:ea typeface="Calibri" pitchFamily="34" charset="-122"/>
                <a:cs typeface="Calibri" pitchFamily="34" charset="-120"/>
              </a:rPr>
              <a:t>Clinical complexity — </a:t>
            </a:r>
            <a:r>
              <a:rPr lang="en-US" sz="1200" dirty="0">
                <a:solidFill>
                  <a:srgbClr val="2A2A2A"/>
                </a:solidFill>
                <a:latin typeface="Calibri" pitchFamily="34" charset="0"/>
                <a:ea typeface="Calibri" pitchFamily="34" charset="-122"/>
                <a:cs typeface="Calibri" pitchFamily="34" charset="-120"/>
              </a:rPr>
              <a:t>social media posts may not fully reflect clinical presentations.</a:t>
            </a:r>
            <a:endParaRPr lang="en-US" sz="1200" dirty="0"/>
          </a:p>
        </p:txBody>
      </p:sp>
      <p:sp>
        <p:nvSpPr>
          <p:cNvPr id="33" name="Shape 21">
            <a:extLst>
              <a:ext uri="{FF2B5EF4-FFF2-40B4-BE49-F238E27FC236}">
                <a16:creationId xmlns:a16="http://schemas.microsoft.com/office/drawing/2014/main" id="{237E75F5-EB18-1901-469F-0CBBD4B3CCDB}"/>
              </a:ext>
            </a:extLst>
          </p:cNvPr>
          <p:cNvSpPr/>
          <p:nvPr/>
        </p:nvSpPr>
        <p:spPr>
          <a:xfrm>
            <a:off x="4742970" y="2640734"/>
            <a:ext cx="397764" cy="397764"/>
          </a:xfrm>
          <a:prstGeom prst="ellipse">
            <a:avLst/>
          </a:prstGeom>
          <a:solidFill>
            <a:srgbClr val="FBEEDD"/>
          </a:solidFill>
          <a:ln/>
        </p:spPr>
      </p:sp>
      <p:sp>
        <p:nvSpPr>
          <p:cNvPr id="40" name="Text 22">
            <a:extLst>
              <a:ext uri="{FF2B5EF4-FFF2-40B4-BE49-F238E27FC236}">
                <a16:creationId xmlns:a16="http://schemas.microsoft.com/office/drawing/2014/main" id="{D28FB6A1-986A-D9B8-C946-D0DC92879DFD}"/>
              </a:ext>
            </a:extLst>
          </p:cNvPr>
          <p:cNvSpPr/>
          <p:nvPr/>
        </p:nvSpPr>
        <p:spPr>
          <a:xfrm>
            <a:off x="5324094" y="2673915"/>
            <a:ext cx="3339846" cy="617220"/>
          </a:xfrm>
          <a:prstGeom prst="rect">
            <a:avLst/>
          </a:prstGeom>
          <a:noFill/>
          <a:ln/>
        </p:spPr>
        <p:txBody>
          <a:bodyPr wrap="square" lIns="0" tIns="0" rIns="0" bIns="0" rtlCol="0" anchor="t"/>
          <a:lstStyle/>
          <a:p>
            <a:pPr>
              <a:lnSpc>
                <a:spcPct val="115000"/>
              </a:lnSpc>
            </a:pPr>
            <a:r>
              <a:rPr lang="en-US" sz="1200" b="1" dirty="0">
                <a:solidFill>
                  <a:srgbClr val="8A5A1E"/>
                </a:solidFill>
                <a:latin typeface="Calibri" pitchFamily="34" charset="0"/>
                <a:ea typeface="Calibri" pitchFamily="34" charset="-122"/>
                <a:cs typeface="Calibri" pitchFamily="34" charset="-120"/>
              </a:rPr>
              <a:t>Analytical Scope — </a:t>
            </a:r>
            <a:r>
              <a:rPr lang="en-US" sz="1200" dirty="0">
                <a:latin typeface="Calibri" pitchFamily="34" charset="0"/>
                <a:ea typeface="Calibri" pitchFamily="34" charset="-122"/>
                <a:cs typeface="Calibri" pitchFamily="34" charset="-120"/>
              </a:rPr>
              <a:t>Study is purely analytical, real world deployment requires clinical validation and regulatory approval.</a:t>
            </a:r>
            <a:endParaRPr lang="en-US" sz="1200" dirty="0"/>
          </a:p>
        </p:txBody>
      </p:sp>
      <p:pic>
        <p:nvPicPr>
          <p:cNvPr id="42" name="Graphic 41" descr="Statistics">
            <a:extLst>
              <a:ext uri="{FF2B5EF4-FFF2-40B4-BE49-F238E27FC236}">
                <a16:creationId xmlns:a16="http://schemas.microsoft.com/office/drawing/2014/main" id="{BDBA8028-ABA3-5941-4DBD-7DF272313DF0}"/>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4769079" y="2673915"/>
            <a:ext cx="330924" cy="330924"/>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73152"/>
          </a:xfrm>
          <a:prstGeom prst="rect">
            <a:avLst/>
          </a:prstGeom>
          <a:solidFill>
            <a:srgbClr val="028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5065776"/>
            <a:ext cx="9144000" cy="82296"/>
          </a:xfrm>
          <a:prstGeom prst="rect">
            <a:avLst/>
          </a:prstGeom>
          <a:solidFill>
            <a:srgbClr val="028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137160"/>
            <a:ext cx="8229600" cy="461665"/>
          </a:xfrm>
          <a:prstGeom prst="rect">
            <a:avLst/>
          </a:prstGeom>
          <a:noFill/>
        </p:spPr>
        <p:txBody>
          <a:bodyPr wrap="square">
            <a:spAutoFit/>
          </a:bodyPr>
          <a:lstStyle/>
          <a:p>
            <a:pPr algn="l"/>
            <a:r>
              <a:rPr sz="2400" b="1" i="0" dirty="0">
                <a:solidFill>
                  <a:schemeClr val="accent3">
                    <a:lumMod val="75000"/>
                  </a:schemeClr>
                </a:solidFill>
                <a:latin typeface="Calibri"/>
              </a:rPr>
              <a:t>Conclusion</a:t>
            </a:r>
          </a:p>
        </p:txBody>
      </p:sp>
      <p:sp>
        <p:nvSpPr>
          <p:cNvPr id="7" name="Rectangle 6"/>
          <p:cNvSpPr/>
          <p:nvPr/>
        </p:nvSpPr>
        <p:spPr>
          <a:xfrm>
            <a:off x="274320" y="721180"/>
            <a:ext cx="8595360" cy="658368"/>
          </a:xfrm>
          <a:prstGeom prst="rect">
            <a:avLst/>
          </a:prstGeom>
          <a:solidFill>
            <a:srgbClr val="028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74320" y="757756"/>
            <a:ext cx="8595360" cy="320040"/>
          </a:xfrm>
          <a:prstGeom prst="rect">
            <a:avLst/>
          </a:prstGeom>
          <a:noFill/>
        </p:spPr>
        <p:txBody>
          <a:bodyPr wrap="square">
            <a:spAutoFit/>
          </a:bodyPr>
          <a:lstStyle/>
          <a:p>
            <a:pPr algn="ctr"/>
            <a:r>
              <a:rPr sz="1600" b="1" i="0">
                <a:solidFill>
                  <a:srgbClr val="FFFFFF"/>
                </a:solidFill>
                <a:latin typeface="Calibri"/>
              </a:rPr>
              <a:t>Recommended Model: Logistic Regression + UniTrigram TF-IDF</a:t>
            </a:r>
          </a:p>
        </p:txBody>
      </p:sp>
      <p:sp>
        <p:nvSpPr>
          <p:cNvPr id="9" name="TextBox 8"/>
          <p:cNvSpPr txBox="1"/>
          <p:nvPr/>
        </p:nvSpPr>
        <p:spPr>
          <a:xfrm>
            <a:off x="274320" y="1086940"/>
            <a:ext cx="8595360" cy="256032"/>
          </a:xfrm>
          <a:prstGeom prst="rect">
            <a:avLst/>
          </a:prstGeom>
          <a:noFill/>
        </p:spPr>
        <p:txBody>
          <a:bodyPr wrap="square">
            <a:spAutoFit/>
          </a:bodyPr>
          <a:lstStyle/>
          <a:p>
            <a:pPr algn="ctr"/>
            <a:r>
              <a:rPr sz="1000" b="0" i="0">
                <a:solidFill>
                  <a:srgbClr val="CADCFC"/>
                </a:solidFill>
                <a:latin typeface="Calibri"/>
              </a:rPr>
              <a:t>Accuracy: 0.7970  |  F1: 0.7966  |  CV Accuracy: 0.7684  |  AUC-ROC: 0.9524  |  Fully Interpretable</a:t>
            </a:r>
          </a:p>
        </p:txBody>
      </p:sp>
      <p:sp>
        <p:nvSpPr>
          <p:cNvPr id="10" name="Rectangle 9"/>
          <p:cNvSpPr/>
          <p:nvPr/>
        </p:nvSpPr>
        <p:spPr>
          <a:xfrm>
            <a:off x="274319" y="1608794"/>
            <a:ext cx="8595359" cy="3018207"/>
          </a:xfrm>
          <a:prstGeom prst="rect">
            <a:avLst/>
          </a:prstGeom>
          <a:solidFill>
            <a:schemeClr val="accent3">
              <a:lumMod val="20000"/>
              <a:lumOff val="80000"/>
            </a:schemeClr>
          </a:solidFill>
          <a:ln w="6350">
            <a:solidFill>
              <a:srgbClr val="3A507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accent3">
                  <a:lumMod val="75000"/>
                </a:schemeClr>
              </a:solidFill>
            </a:endParaRPr>
          </a:p>
        </p:txBody>
      </p:sp>
      <p:sp>
        <p:nvSpPr>
          <p:cNvPr id="11" name="TextBox 10"/>
          <p:cNvSpPr txBox="1"/>
          <p:nvPr/>
        </p:nvSpPr>
        <p:spPr>
          <a:xfrm>
            <a:off x="411479" y="1909369"/>
            <a:ext cx="8123087" cy="369332"/>
          </a:xfrm>
          <a:prstGeom prst="rect">
            <a:avLst/>
          </a:prstGeom>
          <a:noFill/>
        </p:spPr>
        <p:txBody>
          <a:bodyPr wrap="square">
            <a:spAutoFit/>
          </a:bodyPr>
          <a:lstStyle/>
          <a:p>
            <a:pPr algn="l"/>
            <a:r>
              <a:rPr b="1" i="0" dirty="0">
                <a:solidFill>
                  <a:schemeClr val="accent3">
                    <a:lumMod val="75000"/>
                  </a:schemeClr>
                </a:solidFill>
                <a:latin typeface="Calibri"/>
              </a:rPr>
              <a:t>Key Findings</a:t>
            </a:r>
          </a:p>
        </p:txBody>
      </p:sp>
      <p:sp>
        <p:nvSpPr>
          <p:cNvPr id="12" name="TextBox 11"/>
          <p:cNvSpPr txBox="1"/>
          <p:nvPr/>
        </p:nvSpPr>
        <p:spPr>
          <a:xfrm>
            <a:off x="411480" y="2822802"/>
            <a:ext cx="8028632" cy="292388"/>
          </a:xfrm>
          <a:prstGeom prst="rect">
            <a:avLst/>
          </a:prstGeom>
          <a:noFill/>
        </p:spPr>
        <p:txBody>
          <a:bodyPr wrap="square">
            <a:spAutoFit/>
          </a:bodyPr>
          <a:lstStyle>
            <a:defPPr>
              <a:defRPr lang="en-US"/>
            </a:defPPr>
            <a:lvl1pPr marL="171450" indent="-171450">
              <a:buSzPct val="124000"/>
              <a:buFont typeface="Arial" panose="020B0604020202020204" pitchFamily="34" charset="0"/>
              <a:buChar char="•"/>
              <a:defRPr sz="1200" b="1" i="0">
                <a:solidFill>
                  <a:schemeClr val="accent3">
                    <a:lumMod val="75000"/>
                  </a:schemeClr>
                </a:solidFill>
                <a:latin typeface="Calibri"/>
              </a:defRPr>
            </a:lvl1pPr>
          </a:lstStyle>
          <a:p>
            <a:r>
              <a:rPr lang="en-US" sz="1300" b="0" dirty="0"/>
              <a:t>TF-IDF with n-gram representations improved classification performance by capturing contextual information.</a:t>
            </a:r>
            <a:endParaRPr sz="1300" b="0" dirty="0"/>
          </a:p>
        </p:txBody>
      </p:sp>
      <p:sp>
        <p:nvSpPr>
          <p:cNvPr id="13" name="TextBox 12"/>
          <p:cNvSpPr txBox="1"/>
          <p:nvPr/>
        </p:nvSpPr>
        <p:spPr>
          <a:xfrm>
            <a:off x="411480" y="3135904"/>
            <a:ext cx="8028632" cy="292388"/>
          </a:xfrm>
          <a:prstGeom prst="rect">
            <a:avLst/>
          </a:prstGeom>
          <a:noFill/>
        </p:spPr>
        <p:txBody>
          <a:bodyPr wrap="square">
            <a:spAutoFit/>
          </a:bodyPr>
          <a:lstStyle>
            <a:defPPr>
              <a:defRPr lang="en-US"/>
            </a:defPPr>
            <a:lvl1pPr marL="171450" indent="-171450">
              <a:buSzPct val="124000"/>
              <a:buFont typeface="Arial" panose="020B0604020202020204" pitchFamily="34" charset="0"/>
              <a:buChar char="•"/>
              <a:defRPr sz="1200" b="1" i="0">
                <a:solidFill>
                  <a:schemeClr val="accent3">
                    <a:lumMod val="75000"/>
                  </a:schemeClr>
                </a:solidFill>
                <a:latin typeface="Calibri"/>
              </a:defRPr>
            </a:lvl1pPr>
          </a:lstStyle>
          <a:p>
            <a:r>
              <a:rPr lang="en-US" sz="1300" dirty="0"/>
              <a:t>SVM (</a:t>
            </a:r>
            <a:r>
              <a:rPr lang="en-US" sz="1300" dirty="0" err="1"/>
              <a:t>UniBigram</a:t>
            </a:r>
            <a:r>
              <a:rPr lang="en-US" sz="1300" dirty="0"/>
              <a:t>) </a:t>
            </a:r>
            <a:r>
              <a:rPr lang="en-US" sz="1300" b="0" dirty="0"/>
              <a:t>achieved the highest predictive performance</a:t>
            </a:r>
            <a:r>
              <a:rPr lang="en-US" sz="1300" dirty="0"/>
              <a:t> (Accuracy = 0.8050, F1-score = 0.8011).</a:t>
            </a:r>
            <a:endParaRPr sz="1300" dirty="0"/>
          </a:p>
        </p:txBody>
      </p:sp>
      <p:sp>
        <p:nvSpPr>
          <p:cNvPr id="14" name="TextBox 13"/>
          <p:cNvSpPr txBox="1"/>
          <p:nvPr/>
        </p:nvSpPr>
        <p:spPr>
          <a:xfrm>
            <a:off x="411480" y="3750337"/>
            <a:ext cx="8028632" cy="492443"/>
          </a:xfrm>
          <a:prstGeom prst="rect">
            <a:avLst/>
          </a:prstGeom>
          <a:noFill/>
        </p:spPr>
        <p:txBody>
          <a:bodyPr wrap="square">
            <a:spAutoFit/>
          </a:bodyPr>
          <a:lstStyle>
            <a:defPPr>
              <a:defRPr lang="en-US"/>
            </a:defPPr>
            <a:lvl1pPr>
              <a:defRPr sz="1200" b="0" i="0">
                <a:solidFill>
                  <a:schemeClr val="accent3">
                    <a:lumMod val="75000"/>
                  </a:schemeClr>
                </a:solidFill>
                <a:latin typeface="Calibri"/>
              </a:defRPr>
            </a:lvl1pPr>
          </a:lstStyle>
          <a:p>
            <a:pPr marL="171450" indent="-171450">
              <a:buSzPct val="124000"/>
              <a:buFont typeface="Arial" panose="020B0604020202020204" pitchFamily="34" charset="0"/>
              <a:buChar char="•"/>
            </a:pPr>
            <a:r>
              <a:rPr lang="en-US" sz="1300" b="1" dirty="0"/>
              <a:t>Logistic Regression (</a:t>
            </a:r>
            <a:r>
              <a:rPr lang="en-US" sz="1300" b="1" dirty="0" err="1"/>
              <a:t>UniTrigram</a:t>
            </a:r>
            <a:r>
              <a:rPr lang="en-US" sz="1300" b="1" dirty="0"/>
              <a:t>) </a:t>
            </a:r>
            <a:r>
              <a:rPr lang="en-US" sz="1300" dirty="0"/>
              <a:t>was selected as the recommended model due to its competitive performance, highest AUC-ROC (0.9524), and greater interpretability.</a:t>
            </a:r>
            <a:endParaRPr sz="1300" dirty="0"/>
          </a:p>
        </p:txBody>
      </p:sp>
      <p:sp>
        <p:nvSpPr>
          <p:cNvPr id="15" name="TextBox 14"/>
          <p:cNvSpPr txBox="1"/>
          <p:nvPr/>
        </p:nvSpPr>
        <p:spPr>
          <a:xfrm>
            <a:off x="411480" y="3452713"/>
            <a:ext cx="8028632" cy="292388"/>
          </a:xfrm>
          <a:prstGeom prst="rect">
            <a:avLst/>
          </a:prstGeom>
          <a:noFill/>
        </p:spPr>
        <p:txBody>
          <a:bodyPr wrap="square">
            <a:spAutoFit/>
          </a:bodyPr>
          <a:lstStyle>
            <a:defPPr>
              <a:defRPr lang="en-US"/>
            </a:defPPr>
            <a:lvl1pPr marL="171450" indent="-171450">
              <a:buSzPct val="124000"/>
              <a:buFont typeface="Arial" panose="020B0604020202020204" pitchFamily="34" charset="0"/>
              <a:buChar char="•"/>
              <a:defRPr sz="1200" b="1" i="0">
                <a:solidFill>
                  <a:schemeClr val="accent3">
                    <a:lumMod val="75000"/>
                  </a:schemeClr>
                </a:solidFill>
                <a:latin typeface="Calibri"/>
              </a:defRPr>
            </a:lvl1pPr>
          </a:lstStyle>
          <a:p>
            <a:r>
              <a:rPr sz="1300" dirty="0"/>
              <a:t>Performance gap between LR and SVM &lt; 1%</a:t>
            </a:r>
          </a:p>
        </p:txBody>
      </p:sp>
      <p:sp>
        <p:nvSpPr>
          <p:cNvPr id="2" name="TextBox 1">
            <a:extLst>
              <a:ext uri="{FF2B5EF4-FFF2-40B4-BE49-F238E27FC236}">
                <a16:creationId xmlns:a16="http://schemas.microsoft.com/office/drawing/2014/main" id="{BC963499-B3D0-5091-07A8-3DC29E2E0228}"/>
              </a:ext>
            </a:extLst>
          </p:cNvPr>
          <p:cNvSpPr txBox="1"/>
          <p:nvPr/>
        </p:nvSpPr>
        <p:spPr>
          <a:xfrm>
            <a:off x="411480" y="2349239"/>
            <a:ext cx="8028632" cy="492443"/>
          </a:xfrm>
          <a:prstGeom prst="rect">
            <a:avLst/>
          </a:prstGeom>
          <a:noFill/>
        </p:spPr>
        <p:txBody>
          <a:bodyPr wrap="square">
            <a:spAutoFit/>
          </a:bodyPr>
          <a:lstStyle>
            <a:defPPr>
              <a:defRPr lang="en-US"/>
            </a:defPPr>
            <a:lvl1pPr marL="171450" indent="-171450">
              <a:buSzPct val="124000"/>
              <a:buFont typeface="Arial" panose="020B0604020202020204" pitchFamily="34" charset="0"/>
              <a:buChar char="•"/>
              <a:defRPr sz="1200" b="1" i="0">
                <a:solidFill>
                  <a:schemeClr val="accent3">
                    <a:lumMod val="75000"/>
                  </a:schemeClr>
                </a:solidFill>
                <a:latin typeface="Calibri"/>
              </a:defRPr>
            </a:lvl1pPr>
          </a:lstStyle>
          <a:p>
            <a:r>
              <a:rPr lang="en-US" sz="1300" b="0" dirty="0"/>
              <a:t>Traditional machine learning models effectively classified five psychological distress categories from social media text.</a:t>
            </a:r>
            <a:endParaRPr sz="1300" b="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48E40A-C147-A0D8-AB95-083F57C136E8}"/>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411A5FDA-592D-E7C8-78D3-179BCE91DC7F}"/>
              </a:ext>
            </a:extLst>
          </p:cNvPr>
          <p:cNvSpPr/>
          <p:nvPr/>
        </p:nvSpPr>
        <p:spPr>
          <a:xfrm>
            <a:off x="0" y="0"/>
            <a:ext cx="9144000" cy="73152"/>
          </a:xfrm>
          <a:prstGeom prst="rect">
            <a:avLst/>
          </a:prstGeom>
          <a:solidFill>
            <a:srgbClr val="028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a:extLst>
              <a:ext uri="{FF2B5EF4-FFF2-40B4-BE49-F238E27FC236}">
                <a16:creationId xmlns:a16="http://schemas.microsoft.com/office/drawing/2014/main" id="{ADFE2106-9D24-EFFF-F494-9731D0924990}"/>
              </a:ext>
            </a:extLst>
          </p:cNvPr>
          <p:cNvSpPr/>
          <p:nvPr/>
        </p:nvSpPr>
        <p:spPr>
          <a:xfrm>
            <a:off x="0" y="5065776"/>
            <a:ext cx="9144000" cy="82296"/>
          </a:xfrm>
          <a:prstGeom prst="rect">
            <a:avLst/>
          </a:prstGeom>
          <a:solidFill>
            <a:srgbClr val="028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C7113430-E711-273F-CAC3-A22977096E31}"/>
              </a:ext>
            </a:extLst>
          </p:cNvPr>
          <p:cNvSpPr txBox="1"/>
          <p:nvPr/>
        </p:nvSpPr>
        <p:spPr>
          <a:xfrm>
            <a:off x="274320" y="1879253"/>
            <a:ext cx="8595360" cy="707886"/>
          </a:xfrm>
          <a:prstGeom prst="rect">
            <a:avLst/>
          </a:prstGeom>
          <a:noFill/>
        </p:spPr>
        <p:txBody>
          <a:bodyPr wrap="square">
            <a:spAutoFit/>
          </a:bodyPr>
          <a:lstStyle/>
          <a:p>
            <a:pPr algn="ctr"/>
            <a:r>
              <a:rPr lang="en-US" sz="4000" b="1" dirty="0">
                <a:solidFill>
                  <a:schemeClr val="accent3">
                    <a:lumMod val="75000"/>
                  </a:schemeClr>
                </a:solidFill>
                <a:latin typeface="Calibri"/>
              </a:rPr>
              <a:t>Thank you for your attention.</a:t>
            </a:r>
            <a:endParaRPr sz="4000" b="1" i="0" dirty="0">
              <a:solidFill>
                <a:schemeClr val="accent3">
                  <a:lumMod val="75000"/>
                </a:schemeClr>
              </a:solidFill>
              <a:latin typeface="Calibri"/>
            </a:endParaRPr>
          </a:p>
        </p:txBody>
      </p:sp>
    </p:spTree>
    <p:extLst>
      <p:ext uri="{BB962C8B-B14F-4D97-AF65-F5344CB8AC3E}">
        <p14:creationId xmlns:p14="http://schemas.microsoft.com/office/powerpoint/2010/main" val="178781842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AE6F2518-B084-4896-AF52-66CC2144AA2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469</TotalTime>
  <Words>1130</Words>
  <Application>Microsoft Office PowerPoint</Application>
  <PresentationFormat>On-screen Show (16:9)</PresentationFormat>
  <Paragraphs>294</Paragraphs>
  <Slides>14</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Calibri Light</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May Hnin Khaing</cp:lastModifiedBy>
  <cp:revision>13</cp:revision>
  <dcterms:created xsi:type="dcterms:W3CDTF">2026-07-08T09:28:18Z</dcterms:created>
  <dcterms:modified xsi:type="dcterms:W3CDTF">2026-07-24T19:45:24Z</dcterms:modified>
</cp:coreProperties>
</file>